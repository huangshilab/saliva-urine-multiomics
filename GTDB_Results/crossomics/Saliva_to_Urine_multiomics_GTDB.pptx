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072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FD0C4"/>
                </a:solidFill>
                <a:latin typeface="PingFang SC"/>
                <a:ea typeface="PingFang SC"/>
                <a:cs typeface="PingFang SC"/>
              </a:rPr>
              <a:t>跨体液多组学整合  ·  Cross‑body‑site Multi‑omics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88136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唾液 → 尿液 跨位点关联分析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8FC1DF"/>
                </a:solidFill>
                <a:latin typeface="PingFang SC"/>
                <a:ea typeface="PingFang SC"/>
                <a:cs typeface="PingFang SC"/>
              </a:rPr>
              <a:t>微生物组 </a:t>
            </a:r>
            <a:r>
              <a:rPr sz="300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与 </a:t>
            </a:r>
            <a:r>
              <a:rPr sz="3000" b="1" i="0">
                <a:solidFill>
                  <a:srgbClr val="7FE3D6"/>
                </a:solidFill>
                <a:latin typeface="PingFang SC"/>
                <a:ea typeface="PingFang SC"/>
                <a:cs typeface="PingFang SC"/>
              </a:rPr>
              <a:t>代谢组 </a:t>
            </a:r>
            <a:r>
              <a:rPr sz="300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的跨体液互作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384048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CFE3E6"/>
                </a:solidFill>
                <a:latin typeface="PingFang SC"/>
                <a:ea typeface="PingFang SC"/>
                <a:cs typeface="PingFang SC"/>
              </a:rPr>
              <a:t>方法参照 Zhang et al., Microbiome 2026 (口腔–肠道–代谢物轴)  ·  GTDB 物种注释  ·  101 例四层配对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4663440"/>
            <a:ext cx="3383280" cy="1051560"/>
          </a:xfrm>
          <a:prstGeom prst="roundRect">
            <a:avLst/>
          </a:prstGeom>
          <a:solidFill>
            <a:srgbClr val="104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7" y="4809744"/>
            <a:ext cx="30175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1B998B"/>
                </a:solidFill>
                <a:latin typeface="PingFang SC"/>
                <a:ea typeface="PingFang SC"/>
                <a:cs typeface="PingFang SC"/>
              </a:rPr>
              <a:t>101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5" y="5340096"/>
            <a:ext cx="2971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6DBDE"/>
                </a:solidFill>
                <a:latin typeface="PingFang SC"/>
                <a:ea typeface="PingFang SC"/>
                <a:cs typeface="PingFang SC"/>
              </a:rPr>
              <a:t>受试者 × 4 数据层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61688" y="4663440"/>
            <a:ext cx="3383280" cy="1051560"/>
          </a:xfrm>
          <a:prstGeom prst="roundRect">
            <a:avLst/>
          </a:prstGeom>
          <a:solidFill>
            <a:srgbClr val="104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0288" y="4809744"/>
            <a:ext cx="30175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2E6F95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08576" y="5340096"/>
            <a:ext cx="2971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6DBDE"/>
                </a:solidFill>
                <a:latin typeface="PingFang SC"/>
                <a:ea typeface="PingFang SC"/>
                <a:cs typeface="PingFang SC"/>
              </a:rPr>
              <a:t>跨层关系  +  1 中介链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73568" y="4663440"/>
            <a:ext cx="3383280" cy="1051560"/>
          </a:xfrm>
          <a:prstGeom prst="roundRect">
            <a:avLst/>
          </a:prstGeom>
          <a:solidFill>
            <a:srgbClr val="104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2168" y="4809744"/>
            <a:ext cx="30175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D9A441"/>
                </a:solidFill>
                <a:latin typeface="PingFang SC"/>
                <a:ea typeface="PingFang SC"/>
                <a:cs typeface="PingFang SC"/>
              </a:rPr>
              <a:t>0.17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0456" y="5340096"/>
            <a:ext cx="2971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6DBDE"/>
                </a:solidFill>
                <a:latin typeface="PingFang SC"/>
                <a:ea typeface="PingFang SC"/>
                <a:cs typeface="PingFang SC"/>
              </a:rPr>
              <a:t>代谢→代谢 dbRDA R² (最强轴)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437376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9FBABE"/>
                </a:solidFill>
                <a:latin typeface="PingFang SC"/>
                <a:ea typeface="PingFang SC"/>
                <a:cs typeface="PingFang SC"/>
              </a:rPr>
              <a:t>同一批受试者,唾液(口腔)→尿液(系统)方向的多组学跨层关联  ·  2026-06-07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6304"/>
            <a:ext cx="182880" cy="914400"/>
          </a:xfrm>
          <a:prstGeom prst="rect">
            <a:avLst/>
          </a:prstGeom>
          <a:solidFill>
            <a:srgbClr val="2E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B998B"/>
                </a:solidFill>
                <a:latin typeface="PingFang SC"/>
                <a:ea typeface="PingFang SC"/>
                <a:cs typeface="PingFang SC"/>
              </a:rPr>
              <a:t>Zhang et al., Microbiome 2026 · 跨体位微生物–代谢组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0B3B47"/>
                </a:solidFill>
                <a:latin typeface="PingFang SC"/>
                <a:ea typeface="PingFang SC"/>
                <a:cs typeface="PingFang SC"/>
              </a:rPr>
              <a:t>方法学来源：我们借鉴的原始研究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1908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B7A82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325880"/>
            <a:ext cx="5623560" cy="4160520"/>
          </a:xfrm>
          <a:prstGeom prst="roundRect">
            <a:avLst/>
          </a:prstGeom>
          <a:solidFill>
            <a:srgbClr val="EE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527048"/>
            <a:ext cx="5074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E6F95"/>
                </a:solidFill>
                <a:latin typeface="PingFang SC"/>
                <a:ea typeface="PingFang SC"/>
                <a:cs typeface="PingFang SC"/>
              </a:rPr>
              <a:t>研究做了什么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2057400"/>
            <a:ext cx="5038344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E6F95"/>
                </a:solidFill>
                <a:latin typeface="PingFang SC"/>
                <a:ea typeface="PingFang SC"/>
                <a:cs typeface="PingFang SC"/>
              </a:rPr>
              <a:t>对象  </a:t>
            </a:r>
            <a:r>
              <a:rPr sz="120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3 个独立队列 n=435;4 个体位菌群(肠 / 口腔 / 皮肤 / 鼻)+ 血浆代谢组(814 代谢物)。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200"/>
              </a:spcAft>
            </a:pPr>
            <a:r>
              <a:rPr sz="50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/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E6F95"/>
                </a:solidFill>
                <a:latin typeface="PingFang SC"/>
                <a:ea typeface="PingFang SC"/>
                <a:cs typeface="PingFang SC"/>
              </a:rPr>
              <a:t>问题  </a:t>
            </a:r>
            <a:r>
              <a:rPr sz="120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多体位菌群如何共同塑造血浆代谢组?体位之间有没有互作?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200"/>
              </a:spcAft>
            </a:pPr>
            <a:r>
              <a:rPr sz="50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/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E6F95"/>
                </a:solidFill>
                <a:latin typeface="PingFang SC"/>
                <a:ea typeface="PingFang SC"/>
                <a:cs typeface="PingFang SC"/>
              </a:rPr>
              <a:t>方法  </a:t>
            </a:r>
            <a:r>
              <a:rPr sz="120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PERMANOVA 方差解释 · GBDT 机器学习预测(R²) · Spearman 相关网络 · 双向中介分析 · 体位交互项模型。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1325880"/>
            <a:ext cx="5349240" cy="41605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C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1517904"/>
            <a:ext cx="4800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1B998B"/>
                </a:solidFill>
                <a:latin typeface="PingFang SC"/>
                <a:ea typeface="PingFang SC"/>
                <a:cs typeface="PingFang SC"/>
              </a:rPr>
              <a:t>主要结论</a:t>
            </a:r>
          </a:p>
        </p:txBody>
      </p:sp>
      <p:sp>
        <p:nvSpPr>
          <p:cNvPr id="13" name="Oval 12"/>
          <p:cNvSpPr/>
          <p:nvPr/>
        </p:nvSpPr>
        <p:spPr>
          <a:xfrm>
            <a:off x="6647688" y="2093976"/>
            <a:ext cx="109728" cy="109728"/>
          </a:xfrm>
          <a:prstGeom prst="ellipse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03720" y="2002536"/>
            <a:ext cx="4480559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各体位菌群共解释血浆代谢 30.1%;肠 18.4% &gt; 口腔 14.7% &gt; 皮肤 11.5% &gt; 鼻 5.9%。</a:t>
            </a:r>
          </a:p>
        </p:txBody>
      </p:sp>
      <p:sp>
        <p:nvSpPr>
          <p:cNvPr id="15" name="Oval 14"/>
          <p:cNvSpPr/>
          <p:nvPr/>
        </p:nvSpPr>
        <p:spPr>
          <a:xfrm>
            <a:off x="6647688" y="2766060"/>
            <a:ext cx="109728" cy="109728"/>
          </a:xfrm>
          <a:prstGeom prst="ellipse">
            <a:avLst/>
          </a:prstGeom>
          <a:solidFill>
            <a:srgbClr val="2E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03720" y="2674620"/>
            <a:ext cx="4480559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组成 ≠ 功能:口腔与肠道菌群组成迥异,却与代谢物关联相似。</a:t>
            </a:r>
          </a:p>
        </p:txBody>
      </p:sp>
      <p:sp>
        <p:nvSpPr>
          <p:cNvPr id="17" name="Oval 16"/>
          <p:cNvSpPr/>
          <p:nvPr/>
        </p:nvSpPr>
        <p:spPr>
          <a:xfrm>
            <a:off x="6647688" y="3438144"/>
            <a:ext cx="109728" cy="109728"/>
          </a:xfrm>
          <a:prstGeom prst="ellipse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03720" y="3346704"/>
            <a:ext cx="4480559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口腔–肠道轴:广泛的协同 / 增效互作;过半代谢物受多体位共同影响。</a:t>
            </a:r>
          </a:p>
        </p:txBody>
      </p:sp>
      <p:sp>
        <p:nvSpPr>
          <p:cNvPr id="19" name="Oval 18"/>
          <p:cNvSpPr/>
          <p:nvPr/>
        </p:nvSpPr>
        <p:spPr>
          <a:xfrm>
            <a:off x="6647688" y="4110228"/>
            <a:ext cx="109728" cy="109728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03720" y="4018787"/>
            <a:ext cx="4480559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中介:口腔→肠道→代谢物 的方向性中介(调控吲哚类、羧酸类等)。</a:t>
            </a:r>
          </a:p>
        </p:txBody>
      </p:sp>
      <p:sp>
        <p:nvSpPr>
          <p:cNvPr id="21" name="Oval 20"/>
          <p:cNvSpPr/>
          <p:nvPr/>
        </p:nvSpPr>
        <p:spPr>
          <a:xfrm>
            <a:off x="6647688" y="4782312"/>
            <a:ext cx="109728" cy="109728"/>
          </a:xfrm>
          <a:prstGeom prst="ellipse">
            <a:avLst/>
          </a:prstGeom>
          <a:solidFill>
            <a:srgbClr val="6A3D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03720" y="4690872"/>
            <a:ext cx="4480559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胰岛素抵抗(IR)人群该轴更活跃 → 把微生物协同与代谢失调联系起来。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5650992"/>
            <a:ext cx="11247120" cy="676656"/>
          </a:xfrm>
          <a:prstGeom prst="roundRect">
            <a:avLst/>
          </a:prstGeom>
          <a:solidFill>
            <a:srgbClr val="0B3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5733288"/>
            <a:ext cx="1097280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D9A441"/>
                </a:solidFill>
                <a:latin typeface="PingFang SC"/>
                <a:ea typeface="PingFang SC"/>
                <a:cs typeface="PingFang SC"/>
              </a:rPr>
              <a:t>我们的迁移  </a:t>
            </a:r>
            <a:r>
              <a:rPr sz="1200" b="0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论文「口腔→肠道→血浆代谢物」 ⇒ 本研究「唾液(口腔,近端)→尿液(系统,远端)」,同测微生物组+代谢组,沿用其方差解释 / 网络 / 中介框架。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6304"/>
            <a:ext cx="182880" cy="914400"/>
          </a:xfrm>
          <a:prstGeom prst="rect">
            <a:avLst/>
          </a:prstGeom>
          <a:solidFill>
            <a:srgbClr val="2E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B998B"/>
                </a:solidFill>
                <a:latin typeface="PingFang SC"/>
                <a:ea typeface="PingFang SC"/>
                <a:cs typeface="PingFang SC"/>
              </a:rPr>
              <a:t>为什么做唾液→尿液跨层分析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0B3B47"/>
                </a:solidFill>
                <a:latin typeface="PingFang SC"/>
                <a:ea typeface="PingFang SC"/>
                <a:cs typeface="PingFang SC"/>
              </a:rPr>
              <a:t>研究设计与分析框架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1908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B7A82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325880"/>
            <a:ext cx="5669280" cy="4526280"/>
          </a:xfrm>
          <a:prstGeom prst="roundRect">
            <a:avLst/>
          </a:prstGeom>
          <a:solidFill>
            <a:srgbClr val="EE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527048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E6F95"/>
                </a:solidFill>
                <a:latin typeface="PingFang SC"/>
                <a:ea typeface="PingFang SC"/>
                <a:cs typeface="PingFang SC"/>
              </a:rPr>
              <a:t>思路（迁移自论文）</a:t>
            </a:r>
          </a:p>
        </p:txBody>
      </p:sp>
      <p:sp>
        <p:nvSpPr>
          <p:cNvPr id="10" name="Oval 9"/>
          <p:cNvSpPr/>
          <p:nvPr/>
        </p:nvSpPr>
        <p:spPr>
          <a:xfrm>
            <a:off x="795528" y="2167127"/>
            <a:ext cx="109728" cy="109728"/>
          </a:xfrm>
          <a:prstGeom prst="ellipse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075688"/>
            <a:ext cx="4800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论文研究 口腔→肠道→血浆代谢物 的跨体位微生物–代谢互作。</a:t>
            </a:r>
          </a:p>
        </p:txBody>
      </p:sp>
      <p:sp>
        <p:nvSpPr>
          <p:cNvPr id="12" name="Oval 11"/>
          <p:cNvSpPr/>
          <p:nvPr/>
        </p:nvSpPr>
        <p:spPr>
          <a:xfrm>
            <a:off x="795528" y="2916935"/>
            <a:ext cx="109728" cy="109728"/>
          </a:xfrm>
          <a:prstGeom prst="ellipse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2825496"/>
            <a:ext cx="4800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本队列迁移为 唾液(口腔,近端) → 尿液(系统,远端) 方向。</a:t>
            </a:r>
          </a:p>
        </p:txBody>
      </p:sp>
      <p:sp>
        <p:nvSpPr>
          <p:cNvPr id="14" name="Oval 13"/>
          <p:cNvSpPr/>
          <p:nvPr/>
        </p:nvSpPr>
        <p:spPr>
          <a:xfrm>
            <a:off x="795528" y="3666744"/>
            <a:ext cx="109728" cy="109728"/>
          </a:xfrm>
          <a:prstGeom prst="ellipse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3575303"/>
            <a:ext cx="4800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每受试者同时有两体液的 微生物组(GTDB) 与 代谢组(LC-MS)。</a:t>
            </a:r>
          </a:p>
        </p:txBody>
      </p:sp>
      <p:sp>
        <p:nvSpPr>
          <p:cNvPr id="16" name="Oval 15"/>
          <p:cNvSpPr/>
          <p:nvPr/>
        </p:nvSpPr>
        <p:spPr>
          <a:xfrm>
            <a:off x="795528" y="4416552"/>
            <a:ext cx="109728" cy="109728"/>
          </a:xfrm>
          <a:prstGeom prst="ellipse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4325112"/>
            <a:ext cx="4800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101 受试者四层完全配对 → 可做跨层关联与中介分析。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46520" y="1325880"/>
            <a:ext cx="5257800" cy="4526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C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20840" y="1517904"/>
            <a:ext cx="4709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E6F95"/>
                </a:solidFill>
                <a:latin typeface="PingFang SC"/>
                <a:ea typeface="PingFang SC"/>
                <a:cs typeface="PingFang SC"/>
              </a:rPr>
              <a:t>四项分析（均为 唾液→尿液 方向）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6702552" y="2011680"/>
          <a:ext cx="4709160" cy="230428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57200"/>
                <a:gridCol w="2743200"/>
                <a:gridCol w="1508760"/>
              </a:tblGrid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#</a:t>
                      </a:r>
                    </a:p>
                  </a:txBody>
                  <a:tcPr anchor="ctr" marL="73152" marR="54864" marT="18288" marB="18288">
                    <a:solidFill>
                      <a:srgbClr val="0B3B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暴露 X (唾液)</a:t>
                      </a:r>
                    </a:p>
                  </a:txBody>
                  <a:tcPr anchor="ctr" marL="73152" marR="54864" marT="18288" marB="18288">
                    <a:solidFill>
                      <a:srgbClr val="0B3B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结局 Y (尿液)</a:t>
                      </a:r>
                    </a:p>
                  </a:txBody>
                  <a:tcPr anchor="ctr" marL="73152" marR="54864" marT="18288" marB="18288">
                    <a:solidFill>
                      <a:srgbClr val="0B3B47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C0392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①</a:t>
                      </a:r>
                    </a:p>
                  </a:txBody>
                  <a:tcPr anchor="ctr" marL="73152" marR="54864" marT="18288" marB="18288">
                    <a:solidFill>
                      <a:srgbClr val="EEF4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微生物组</a:t>
                      </a:r>
                    </a:p>
                  </a:txBody>
                  <a:tcPr anchor="ctr" marL="73152" marR="54864" marT="18288" marB="18288">
                    <a:solidFill>
                      <a:srgbClr val="EEF4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微生物组</a:t>
                      </a:r>
                    </a:p>
                  </a:txBody>
                  <a:tcPr anchor="ctr" marL="73152" marR="54864" marT="18288" marB="18288">
                    <a:solidFill>
                      <a:srgbClr val="EEF4F5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C0392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②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微生物组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代谢组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C0392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③</a:t>
                      </a:r>
                    </a:p>
                  </a:txBody>
                  <a:tcPr anchor="ctr" marL="73152" marR="54864" marT="18288" marB="18288">
                    <a:solidFill>
                      <a:srgbClr val="EEF4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代谢组</a:t>
                      </a:r>
                    </a:p>
                  </a:txBody>
                  <a:tcPr anchor="ctr" marL="73152" marR="54864" marT="18288" marB="18288">
                    <a:solidFill>
                      <a:srgbClr val="EEF4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代谢组</a:t>
                      </a:r>
                    </a:p>
                  </a:txBody>
                  <a:tcPr anchor="ctr" marL="73152" marR="54864" marT="18288" marB="18288">
                    <a:solidFill>
                      <a:srgbClr val="EEF4F5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C0392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④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物种→尿物种→尿代谢物 (中介)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三层链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6720840" y="4754880"/>
            <a:ext cx="47091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E6F95"/>
                </a:solidFill>
                <a:latin typeface="PingFang SC"/>
                <a:ea typeface="PingFang SC"/>
                <a:cs typeface="PingFang SC"/>
              </a:rPr>
              <a:t>每个组合统一执行：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Mantel + Procrustes 一致性 · dbRDA 方差解释 · Spearman 相关网络(|r|≥0.3,P&lt;0.05) · RandomForest 预测 R²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5989320"/>
            <a:ext cx="82296" cy="548640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4088" y="5989320"/>
            <a:ext cx="109728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B998B"/>
                </a:solidFill>
                <a:latin typeface="PingFang SC"/>
                <a:ea typeface="PingFang SC"/>
                <a:cs typeface="PingFang SC"/>
              </a:rPr>
              <a:t>结论  </a:t>
            </a:r>
            <a:r>
              <a:rPr sz="130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唯一不变的是“唾液→尿液”方向;沿微生物组与代谢组两个层面，系统刻画跨体液耦合强度。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6304"/>
            <a:ext cx="182880" cy="914400"/>
          </a:xfrm>
          <a:prstGeom prst="rect">
            <a:avLst/>
          </a:prstGeom>
          <a:solidFill>
            <a:srgbClr val="2E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B998B"/>
                </a:solidFill>
                <a:latin typeface="PingFang SC"/>
                <a:ea typeface="PingFang SC"/>
                <a:cs typeface="PingFang SC"/>
              </a:rPr>
              <a:t>Mantel · Procrustes · PERMANOVA · dbRDA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0B3B47"/>
                </a:solidFill>
                <a:latin typeface="PingFang SC"/>
                <a:ea typeface="PingFang SC"/>
                <a:cs typeface="PingFang SC"/>
              </a:rPr>
              <a:t>四种评价方法：特点与正确解读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1908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B7A82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371600"/>
          <a:ext cx="11247120" cy="37856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8800"/>
                <a:gridCol w="1920240"/>
                <a:gridCol w="2194560"/>
                <a:gridCol w="5303520"/>
              </a:tblGrid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方法</a:t>
                      </a:r>
                    </a:p>
                  </a:txBody>
                  <a:tcPr anchor="ctr" marL="73152" marR="54864" marT="18288" marB="18288">
                    <a:solidFill>
                      <a:srgbClr val="0B3B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类型 / 方向</a:t>
                      </a:r>
                    </a:p>
                  </a:txBody>
                  <a:tcPr anchor="ctr" marL="73152" marR="54864" marT="18288" marB="18288">
                    <a:solidFill>
                      <a:srgbClr val="0B3B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关键输出</a:t>
                      </a:r>
                    </a:p>
                  </a:txBody>
                  <a:tcPr anchor="ctr" marL="73152" marR="54864" marT="18288" marB="18288">
                    <a:solidFill>
                      <a:srgbClr val="0B3B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解读要点</a:t>
                      </a:r>
                    </a:p>
                  </a:txBody>
                  <a:tcPr anchor="ctr" marL="73152" marR="54864" marT="18288" marB="18288">
                    <a:solidFill>
                      <a:srgbClr val="0B3B47"/>
                    </a:solidFill>
                  </a:tcPr>
                </a:tc>
              </a:tr>
              <a:tr h="841248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2E6F9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Mantel test</a:t>
                      </a:r>
                    </a:p>
                  </a:txBody>
                  <a:tcPr anchor="ctr" marL="73152" marR="54864" marT="18288" marB="18288">
                    <a:solidFill>
                      <a:srgbClr val="EEF4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矩阵相关 · 对称</a:t>
                      </a:r>
                    </a:p>
                  </a:txBody>
                  <a:tcPr anchor="ctr" marL="73152" marR="54864" marT="18288" marB="18288">
                    <a:solidFill>
                      <a:srgbClr val="EEF4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Mantel r, P</a:t>
                      </a:r>
                    </a:p>
                  </a:txBody>
                  <a:tcPr anchor="ctr" marL="73152" marR="54864" marT="18288" marB="18288">
                    <a:solidFill>
                      <a:srgbClr val="EEF4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r&gt;0 且 P&lt;0.05 = 整体协同变异;r 绝对值天然偏小(勿套 Pearson 经验),功效低、易低估</a:t>
                      </a:r>
                    </a:p>
                  </a:txBody>
                  <a:tcPr anchor="ctr" marL="73152" marR="54864" marT="18288" marB="18288">
                    <a:solidFill>
                      <a:srgbClr val="EEF4F5"/>
                    </a:solidFill>
                  </a:tcPr>
                </a:tc>
              </a:tr>
              <a:tr h="841248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2E6F9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Procrustes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构型叠合 · 对称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r, m², P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比 Mantel 更稳、功效更高;可逐样本看残差(叠合图);依赖保留排序维度数 k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2E6F9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PERMANOVA</a:t>
                      </a:r>
                    </a:p>
                  </a:txBody>
                  <a:tcPr anchor="ctr" marL="73152" marR="54864" marT="18288" marB="18288">
                    <a:solidFill>
                      <a:srgbClr val="EEF4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方差分解 · Y~X</a:t>
                      </a:r>
                    </a:p>
                  </a:txBody>
                  <a:tcPr anchor="ctr" marL="73152" marR="54864" marT="18288" marB="18288">
                    <a:solidFill>
                      <a:srgbClr val="EEF4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pseudo-F, R², P</a:t>
                      </a:r>
                    </a:p>
                  </a:txBody>
                  <a:tcPr anchor="ctr" marL="73152" marR="54864" marT="18288" marB="18288">
                    <a:solidFill>
                      <a:srgbClr val="EEF4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R² = Y 被 X 解释的方差比例;对组内离散度(dispersion)敏感;R² 随预测变量数虚高</a:t>
                      </a:r>
                    </a:p>
                  </a:txBody>
                  <a:tcPr anchor="ctr" marL="73152" marR="54864" marT="18288" marB="18288">
                    <a:solidFill>
                      <a:srgbClr val="EEF4F5"/>
                    </a:solidFill>
                  </a:tcPr>
                </a:tc>
              </a:tr>
              <a:tr h="841248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2E6F9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dbRDA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约束排序 · Y~X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约束 R², F, P, 轴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与 PERMANOVA 同一模型,另给可视化约束轴;支持偏分析控制协变量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02920" y="5074920"/>
            <a:ext cx="11247120" cy="1280160"/>
          </a:xfrm>
          <a:prstGeom prst="roundRect">
            <a:avLst/>
          </a:prstGeom>
          <a:solidFill>
            <a:srgbClr val="0B3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75504"/>
            <a:ext cx="106984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D9A441"/>
                </a:solidFill>
                <a:latin typeface="PingFang SC"/>
                <a:ea typeface="PingFang SC"/>
                <a:cs typeface="PingFang SC"/>
              </a:rPr>
              <a:t>关键  </a:t>
            </a:r>
            <a:r>
              <a:rPr sz="130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四法 = 两类问题 × 各两种实现：</a:t>
            </a:r>
            <a:r>
              <a:rPr sz="1250" b="1" i="0">
                <a:solidFill>
                  <a:srgbClr val="8FC1DF"/>
                </a:solidFill>
                <a:latin typeface="PingFang SC"/>
                <a:ea typeface="PingFang SC"/>
                <a:cs typeface="PingFang SC"/>
              </a:rPr>
              <a:t>对称一致性</a:t>
            </a:r>
            <a:r>
              <a:rPr sz="1200" b="0" i="0">
                <a:solidFill>
                  <a:srgbClr val="CFE3E6"/>
                </a:solidFill>
                <a:latin typeface="PingFang SC"/>
                <a:ea typeface="PingFang SC"/>
                <a:cs typeface="PingFang SC"/>
              </a:rPr>
              <a:t>[Mantel↔Procrustes]  vs  </a:t>
            </a:r>
            <a:r>
              <a:rPr sz="1250" b="1" i="0">
                <a:solidFill>
                  <a:srgbClr val="7FE3D6"/>
                </a:solidFill>
                <a:latin typeface="PingFang SC"/>
                <a:ea typeface="PingFang SC"/>
                <a:cs typeface="PingFang SC"/>
              </a:rPr>
              <a:t>非对称方差解释</a:t>
            </a:r>
            <a:r>
              <a:rPr sz="1200" b="0" i="0">
                <a:solidFill>
                  <a:srgbClr val="CFE3E6"/>
                </a:solidFill>
                <a:latin typeface="PingFang SC"/>
                <a:ea typeface="PingFang SC"/>
                <a:cs typeface="PingFang SC"/>
              </a:rPr>
              <a:t>[PERMANOVA↔dbRDA]。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DFEAEC"/>
                </a:solidFill>
                <a:latin typeface="PingFang SC"/>
                <a:ea typeface="PingFang SC"/>
                <a:cs typeface="PingFang SC"/>
              </a:rPr>
              <a:t>PERMANOVA 与 dbRDA 是同一模型(R²/F/P 必然基本一致),不算两份独立佐证;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DFEAEC"/>
                </a:solidFill>
                <a:latin typeface="PingFang SC"/>
                <a:ea typeface="PingFang SC"/>
                <a:cs typeface="PingFang SC"/>
              </a:rPr>
              <a:t>若仅非对称法显著、对称法不显著 → 少数强相关特征驱动了可解释方差,但整体构型并不一致。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6304"/>
            <a:ext cx="182880" cy="914400"/>
          </a:xfrm>
          <a:prstGeom prst="rect">
            <a:avLst/>
          </a:prstGeom>
          <a:solidFill>
            <a:srgbClr val="2E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B998B"/>
                </a:solidFill>
                <a:latin typeface="PingFang SC"/>
                <a:ea typeface="PingFang SC"/>
                <a:cs typeface="PingFang SC"/>
              </a:rPr>
              <a:t>一图看全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0B3B47"/>
                </a:solidFill>
                <a:latin typeface="PingFang SC"/>
                <a:ea typeface="PingFang SC"/>
                <a:cs typeface="PingFang SC"/>
              </a:rPr>
              <a:t>结果速览：三类跨层关系的耦合强度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1908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B7A82"/>
                </a:solidFill>
                <a:latin typeface="PingFang SC"/>
                <a:ea typeface="PingFang SC"/>
                <a:cs typeface="PingFang SC"/>
              </a:rPr>
              <a:t>5</a:t>
            </a:r>
          </a:p>
        </p:txBody>
      </p:sp>
      <p:pic>
        <p:nvPicPr>
          <p:cNvPr id="8" name="Picture 7" descr="synthesis_coupl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17320"/>
            <a:ext cx="6126480" cy="3958648"/>
          </a:xfrm>
          <a:prstGeom prst="rect">
            <a:avLst/>
          </a:prstGeom>
        </p:spPr>
      </p:pic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903720" y="1554480"/>
          <a:ext cx="5074920" cy="21579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8800"/>
                <a:gridCol w="868680"/>
                <a:gridCol w="868680"/>
                <a:gridCol w="731520"/>
                <a:gridCol w="77724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关系</a:t>
                      </a:r>
                    </a:p>
                  </a:txBody>
                  <a:tcPr anchor="ctr" marL="73152" marR="54864" marT="18288" marB="18288">
                    <a:solidFill>
                      <a:srgbClr val="0B3B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Mantel r</a:t>
                      </a:r>
                    </a:p>
                  </a:txBody>
                  <a:tcPr anchor="ctr" marL="73152" marR="54864" marT="18288" marB="18288">
                    <a:solidFill>
                      <a:srgbClr val="0B3B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dbRDA R²</a:t>
                      </a:r>
                    </a:p>
                  </a:txBody>
                  <a:tcPr anchor="ctr" marL="73152" marR="54864" marT="18288" marB="18288">
                    <a:solidFill>
                      <a:srgbClr val="0B3B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显著对</a:t>
                      </a:r>
                    </a:p>
                  </a:txBody>
                  <a:tcPr anchor="ctr" marL="73152" marR="54864" marT="18288" marB="18288">
                    <a:solidFill>
                      <a:srgbClr val="0B3B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RF R²</a:t>
                      </a:r>
                    </a:p>
                  </a:txBody>
                  <a:tcPr anchor="ctr" marL="73152" marR="54864" marT="18288" marB="18288">
                    <a:solidFill>
                      <a:srgbClr val="0B3B47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① 微生物→微生物</a:t>
                      </a:r>
                    </a:p>
                  </a:txBody>
                  <a:tcPr anchor="ctr" marL="73152" marR="54864" marT="18288" marB="18288">
                    <a:solidFill>
                      <a:srgbClr val="EEF4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0.002</a:t>
                      </a:r>
                    </a:p>
                  </a:txBody>
                  <a:tcPr anchor="ctr" marL="73152" marR="54864" marT="18288" marB="18288">
                    <a:solidFill>
                      <a:srgbClr val="EEF4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0.079</a:t>
                      </a:r>
                    </a:p>
                  </a:txBody>
                  <a:tcPr anchor="ctr" marL="73152" marR="54864" marT="18288" marB="18288">
                    <a:solidFill>
                      <a:srgbClr val="EEF4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792</a:t>
                      </a:r>
                    </a:p>
                  </a:txBody>
                  <a:tcPr anchor="ctr" marL="73152" marR="54864" marT="18288" marB="18288">
                    <a:solidFill>
                      <a:srgbClr val="EEF4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-0.059</a:t>
                      </a:r>
                    </a:p>
                  </a:txBody>
                  <a:tcPr anchor="ctr" marL="73152" marR="54864" marT="18288" marB="18288">
                    <a:solidFill>
                      <a:srgbClr val="EEF4F5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② 微生物→代谢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-0.059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0.103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2373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-0.074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③ 代谢→代谢</a:t>
                      </a:r>
                    </a:p>
                  </a:txBody>
                  <a:tcPr anchor="ctr" marL="73152" marR="54864" marT="18288" marB="18288">
                    <a:solidFill>
                      <a:srgbClr val="EEF4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0.290</a:t>
                      </a:r>
                    </a:p>
                  </a:txBody>
                  <a:tcPr anchor="ctr" marL="73152" marR="54864" marT="18288" marB="18288">
                    <a:solidFill>
                      <a:srgbClr val="EEF4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0.173</a:t>
                      </a:r>
                    </a:p>
                  </a:txBody>
                  <a:tcPr anchor="ctr" marL="73152" marR="54864" marT="18288" marB="18288">
                    <a:solidFill>
                      <a:srgbClr val="EEF4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44336</a:t>
                      </a:r>
                    </a:p>
                  </a:txBody>
                  <a:tcPr anchor="ctr" marL="73152" marR="54864" marT="18288" marB="18288">
                    <a:solidFill>
                      <a:srgbClr val="EEF4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0.080</a:t>
                      </a:r>
                    </a:p>
                  </a:txBody>
                  <a:tcPr anchor="ctr" marL="73152" marR="54864" marT="18288" marB="18288">
                    <a:solidFill>
                      <a:srgbClr val="EEF4F5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903720" y="3977639"/>
            <a:ext cx="4846320" cy="1783080"/>
          </a:xfrm>
          <a:prstGeom prst="roundRect">
            <a:avLst/>
          </a:prstGeom>
          <a:solidFill>
            <a:srgbClr val="EE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0" y="4114800"/>
            <a:ext cx="438912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E6F95"/>
                </a:solidFill>
                <a:latin typeface="PingFang SC"/>
                <a:ea typeface="PingFang SC"/>
                <a:cs typeface="PingFang SC"/>
              </a:rPr>
              <a:t>耦合强度排序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B998B"/>
                </a:solidFill>
                <a:latin typeface="PingFang SC"/>
                <a:ea typeface="PingFang SC"/>
                <a:cs typeface="PingFang SC"/>
              </a:rPr>
              <a:t>代谢组→代谢组  </a:t>
            </a:r>
            <a:r>
              <a:rPr sz="1250" b="1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≫  </a:t>
            </a:r>
            <a:r>
              <a:rPr sz="1250" b="1" i="0">
                <a:solidFill>
                  <a:srgbClr val="D9A441"/>
                </a:solidFill>
                <a:latin typeface="PingFang SC"/>
                <a:ea typeface="PingFang SC"/>
                <a:cs typeface="PingFang SC"/>
              </a:rPr>
              <a:t>微生物→代谢  </a:t>
            </a:r>
            <a:r>
              <a:rPr sz="1250" b="1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&gt;  </a:t>
            </a:r>
            <a:r>
              <a:rPr sz="1250" b="1" i="0">
                <a:solidFill>
                  <a:srgbClr val="2E6F95"/>
                </a:solidFill>
                <a:latin typeface="PingFang SC"/>
                <a:ea typeface="PingFang SC"/>
                <a:cs typeface="PingFang SC"/>
              </a:rPr>
              <a:t>微生物→微生物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跨体液信号主要存在于 代谢层面，而非微生物组成层面。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5897880"/>
            <a:ext cx="82296" cy="640080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4088" y="5897880"/>
            <a:ext cx="10972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B998B"/>
                </a:solidFill>
                <a:latin typeface="PingFang SC"/>
                <a:ea typeface="PingFang SC"/>
                <a:cs typeface="PingFang SC"/>
              </a:rPr>
              <a:t>结论  </a:t>
            </a:r>
            <a:r>
              <a:rPr sz="130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唾液与尿液的代谢组高度耦合;微生物组跨体液耦合弱 → 两体液是相对独立的微生态。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6304"/>
            <a:ext cx="182880" cy="914400"/>
          </a:xfrm>
          <a:prstGeom prst="rect">
            <a:avLst/>
          </a:prstGeom>
          <a:solidFill>
            <a:srgbClr val="2E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B998B"/>
                </a:solidFill>
                <a:latin typeface="PingFang SC"/>
                <a:ea typeface="PingFang SC"/>
                <a:cs typeface="PingFang SC"/>
              </a:rPr>
              <a:t>物种 × 物种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0B3B47"/>
                </a:solidFill>
                <a:latin typeface="PingFang SC"/>
                <a:ea typeface="PingFang SC"/>
                <a:cs typeface="PingFang SC"/>
              </a:rPr>
              <a:t>分析一：唾液微生物组 → 尿液微生物组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1908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B7A82"/>
                </a:solidFill>
                <a:latin typeface="PingFang SC"/>
                <a:ea typeface="PingFang SC"/>
                <a:cs typeface="PingFang SC"/>
              </a:rPr>
              <a:t>6</a:t>
            </a:r>
          </a:p>
        </p:txBody>
      </p:sp>
      <p:pic>
        <p:nvPicPr>
          <p:cNvPr id="8" name="Picture 7" descr="P1_procrus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5212080" cy="3367805"/>
          </a:xfrm>
          <a:prstGeom prst="rect">
            <a:avLst/>
          </a:prstGeom>
        </p:spPr>
      </p:pic>
      <p:pic>
        <p:nvPicPr>
          <p:cNvPr id="9" name="Picture 8" descr="P1_netwo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0" y="1371600"/>
            <a:ext cx="5627076" cy="36576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02920" y="4892040"/>
            <a:ext cx="11247120" cy="731520"/>
          </a:xfrm>
          <a:prstGeom prst="roundRect">
            <a:avLst/>
          </a:prstGeom>
          <a:solidFill>
            <a:srgbClr val="EE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4983479"/>
            <a:ext cx="25374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E6F95"/>
                </a:solidFill>
                <a:latin typeface="PingFang SC"/>
                <a:ea typeface="PingFang SC"/>
                <a:cs typeface="PingFang SC"/>
              </a:rPr>
              <a:t>0.002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6B7A82"/>
                </a:solidFill>
                <a:latin typeface="PingFang SC"/>
                <a:ea typeface="PingFang SC"/>
                <a:cs typeface="PingFang SC"/>
              </a:rPr>
              <a:t>Mantel r (P=0.480)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97580" y="4983479"/>
            <a:ext cx="25374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E6F95"/>
                </a:solidFill>
                <a:latin typeface="PingFang SC"/>
                <a:ea typeface="PingFang SC"/>
                <a:cs typeface="PingFang SC"/>
              </a:rPr>
              <a:t>0.182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6B7A82"/>
                </a:solidFill>
                <a:latin typeface="PingFang SC"/>
                <a:ea typeface="PingFang SC"/>
                <a:cs typeface="PingFang SC"/>
              </a:rPr>
              <a:t>Procrustes r (P=0.400)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4983479"/>
            <a:ext cx="25374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00A087"/>
                </a:solidFill>
                <a:latin typeface="PingFang SC"/>
                <a:ea typeface="PingFang SC"/>
                <a:cs typeface="PingFang SC"/>
              </a:rPr>
              <a:t>0.079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6B7A82"/>
                </a:solidFill>
                <a:latin typeface="PingFang SC"/>
                <a:ea typeface="PingFang SC"/>
                <a:cs typeface="PingFang SC"/>
              </a:rPr>
              <a:t>PERMANOVA R² (P=0.510)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21140" y="4983479"/>
            <a:ext cx="25374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00A087"/>
                </a:solidFill>
                <a:latin typeface="PingFang SC"/>
                <a:ea typeface="PingFang SC"/>
                <a:cs typeface="PingFang SC"/>
              </a:rPr>
              <a:t>0.079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6B7A82"/>
                </a:solidFill>
                <a:latin typeface="PingFang SC"/>
                <a:ea typeface="PingFang SC"/>
                <a:cs typeface="PingFang SC"/>
              </a:rPr>
              <a:t>dbRDA R² (P=0.510)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5806440"/>
            <a:ext cx="82296" cy="640080"/>
          </a:xfrm>
          <a:prstGeom prst="rect">
            <a:avLst/>
          </a:prstGeom>
          <a:solidFill>
            <a:srgbClr val="2E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4088" y="5806440"/>
            <a:ext cx="10972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E6F95"/>
                </a:solidFill>
                <a:latin typeface="PingFang SC"/>
                <a:ea typeface="PingFang SC"/>
                <a:cs typeface="PingFang SC"/>
              </a:rPr>
              <a:t>结论  </a:t>
            </a:r>
            <a:r>
              <a:rPr sz="130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四法一致:对称的 Mantel/Procrustes 不显著、非对称的 PERMANOVA≈dbRDA(R²=0.079)亦不显著;仅 792 对物种弱关联、RF R²&lt;0 → 口腔与泌尿道是独立生态系统。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6304"/>
            <a:ext cx="182880" cy="914400"/>
          </a:xfrm>
          <a:prstGeom prst="rect">
            <a:avLst/>
          </a:prstGeom>
          <a:solidFill>
            <a:srgbClr val="2E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B998B"/>
                </a:solidFill>
                <a:latin typeface="PingFang SC"/>
                <a:ea typeface="PingFang SC"/>
                <a:cs typeface="PingFang SC"/>
              </a:rPr>
              <a:t>物种 × 代谢物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0B3B47"/>
                </a:solidFill>
                <a:latin typeface="PingFang SC"/>
                <a:ea typeface="PingFang SC"/>
                <a:cs typeface="PingFang SC"/>
              </a:rPr>
              <a:t>分析二：唾液微生物组 → 尿液代谢组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1908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B7A82"/>
                </a:solidFill>
                <a:latin typeface="PingFang SC"/>
                <a:ea typeface="PingFang SC"/>
                <a:cs typeface="PingFang SC"/>
              </a:rPr>
              <a:t>7</a:t>
            </a:r>
          </a:p>
        </p:txBody>
      </p:sp>
      <p:pic>
        <p:nvPicPr>
          <p:cNvPr id="8" name="Picture 7" descr="P2_procrus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5212080" cy="3367805"/>
          </a:xfrm>
          <a:prstGeom prst="rect">
            <a:avLst/>
          </a:prstGeom>
        </p:spPr>
      </p:pic>
      <p:pic>
        <p:nvPicPr>
          <p:cNvPr id="9" name="Picture 8" descr="P2_netwo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0" y="1371600"/>
            <a:ext cx="5627076" cy="36576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02920" y="4892040"/>
            <a:ext cx="11247120" cy="731520"/>
          </a:xfrm>
          <a:prstGeom prst="roundRect">
            <a:avLst/>
          </a:prstGeom>
          <a:solidFill>
            <a:srgbClr val="EE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4983479"/>
            <a:ext cx="25374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E6F95"/>
                </a:solidFill>
                <a:latin typeface="PingFang SC"/>
                <a:ea typeface="PingFang SC"/>
                <a:cs typeface="PingFang SC"/>
              </a:rPr>
              <a:t>-0.059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6B7A82"/>
                </a:solidFill>
                <a:latin typeface="PingFang SC"/>
                <a:ea typeface="PingFang SC"/>
                <a:cs typeface="PingFang SC"/>
              </a:rPr>
              <a:t>Mantel r (P=0.860)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97580" y="4983479"/>
            <a:ext cx="25374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E6F95"/>
                </a:solidFill>
                <a:latin typeface="PingFang SC"/>
                <a:ea typeface="PingFang SC"/>
                <a:cs typeface="PingFang SC"/>
              </a:rPr>
              <a:t>0.151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6B7A82"/>
                </a:solidFill>
                <a:latin typeface="PingFang SC"/>
                <a:ea typeface="PingFang SC"/>
                <a:cs typeface="PingFang SC"/>
              </a:rPr>
              <a:t>Procrustes r (P=0.740)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4983479"/>
            <a:ext cx="25374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00A087"/>
                </a:solidFill>
                <a:latin typeface="PingFang SC"/>
                <a:ea typeface="PingFang SC"/>
                <a:cs typeface="PingFang SC"/>
              </a:rPr>
              <a:t>0.103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6B7A82"/>
                </a:solidFill>
                <a:latin typeface="PingFang SC"/>
                <a:ea typeface="PingFang SC"/>
                <a:cs typeface="PingFang SC"/>
              </a:rPr>
              <a:t>PERMANOVA R² (P=0.040)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21140" y="4983479"/>
            <a:ext cx="25374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00A087"/>
                </a:solidFill>
                <a:latin typeface="PingFang SC"/>
                <a:ea typeface="PingFang SC"/>
                <a:cs typeface="PingFang SC"/>
              </a:rPr>
              <a:t>0.103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6B7A82"/>
                </a:solidFill>
                <a:latin typeface="PingFang SC"/>
                <a:ea typeface="PingFang SC"/>
                <a:cs typeface="PingFang SC"/>
              </a:rPr>
              <a:t>dbRDA R² (P=0.040)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5806440"/>
            <a:ext cx="82296" cy="64008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4088" y="5806440"/>
            <a:ext cx="10972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D9A441"/>
                </a:solidFill>
                <a:latin typeface="PingFang SC"/>
                <a:ea typeface="PingFang SC"/>
                <a:cs typeface="PingFang SC"/>
              </a:rPr>
              <a:t>结论  </a:t>
            </a:r>
            <a:r>
              <a:rPr sz="130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对称法不显著、但 PERMANOVA≈dbRDA R²=0.103(P=0.040)→ 少数强相关特征驱动了可解释方差;显著对(2373)远多于物种→物种,印证“组成≠功能”。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6304"/>
            <a:ext cx="182880" cy="914400"/>
          </a:xfrm>
          <a:prstGeom prst="rect">
            <a:avLst/>
          </a:prstGeom>
          <a:solidFill>
            <a:srgbClr val="2E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B998B"/>
                </a:solidFill>
                <a:latin typeface="PingFang SC"/>
                <a:ea typeface="PingFang SC"/>
                <a:cs typeface="PingFang SC"/>
              </a:rPr>
              <a:t>最强的跨体液轴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0B3B47"/>
                </a:solidFill>
                <a:latin typeface="PingFang SC"/>
                <a:ea typeface="PingFang SC"/>
                <a:cs typeface="PingFang SC"/>
              </a:rPr>
              <a:t>分析三：唾液代谢组 → 尿液代谢组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1908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B7A82"/>
                </a:solidFill>
                <a:latin typeface="PingFang SC"/>
                <a:ea typeface="PingFang SC"/>
                <a:cs typeface="PingFang SC"/>
              </a:rPr>
              <a:t>8</a:t>
            </a:r>
          </a:p>
        </p:txBody>
      </p:sp>
      <p:pic>
        <p:nvPicPr>
          <p:cNvPr id="8" name="Picture 7" descr="P3_procrus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4663440" cy="3013299"/>
          </a:xfrm>
          <a:prstGeom prst="rect">
            <a:avLst/>
          </a:prstGeom>
        </p:spPr>
      </p:pic>
      <p:pic>
        <p:nvPicPr>
          <p:cNvPr id="9" name="Picture 8" descr="P3_netwo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1325880"/>
            <a:ext cx="4206240" cy="2734056"/>
          </a:xfrm>
          <a:prstGeom prst="rect">
            <a:avLst/>
          </a:prstGeom>
        </p:spPr>
      </p:pic>
      <p:pic>
        <p:nvPicPr>
          <p:cNvPr id="10" name="Picture 9" descr="P3_rf_R2his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9720" y="1554480"/>
            <a:ext cx="2788920" cy="1673351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502920" y="4892040"/>
            <a:ext cx="11247120" cy="731520"/>
          </a:xfrm>
          <a:prstGeom prst="roundRect">
            <a:avLst/>
          </a:prstGeom>
          <a:solidFill>
            <a:srgbClr val="EE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4983479"/>
            <a:ext cx="25374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1B998B"/>
                </a:solidFill>
                <a:latin typeface="PingFang SC"/>
                <a:ea typeface="PingFang SC"/>
                <a:cs typeface="PingFang SC"/>
              </a:rPr>
              <a:t>0.290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6B7A82"/>
                </a:solidFill>
                <a:latin typeface="PingFang SC"/>
                <a:ea typeface="PingFang SC"/>
                <a:cs typeface="PingFang SC"/>
              </a:rPr>
              <a:t>Mantel r (P=0.001)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97580" y="4983479"/>
            <a:ext cx="25374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1B998B"/>
                </a:solidFill>
                <a:latin typeface="PingFang SC"/>
                <a:ea typeface="PingFang SC"/>
                <a:cs typeface="PingFang SC"/>
              </a:rPr>
              <a:t>0.353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6B7A82"/>
                </a:solidFill>
                <a:latin typeface="PingFang SC"/>
                <a:ea typeface="PingFang SC"/>
                <a:cs typeface="PingFang SC"/>
              </a:rPr>
              <a:t>Procrustes r (P=0.001)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4983479"/>
            <a:ext cx="25374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00A087"/>
                </a:solidFill>
                <a:latin typeface="PingFang SC"/>
                <a:ea typeface="PingFang SC"/>
                <a:cs typeface="PingFang SC"/>
              </a:rPr>
              <a:t>0.173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6B7A82"/>
                </a:solidFill>
                <a:latin typeface="PingFang SC"/>
                <a:ea typeface="PingFang SC"/>
                <a:cs typeface="PingFang SC"/>
              </a:rPr>
              <a:t>PERMANOVA R² (P=0.001)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21140" y="4983479"/>
            <a:ext cx="25374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00A087"/>
                </a:solidFill>
                <a:latin typeface="PingFang SC"/>
                <a:ea typeface="PingFang SC"/>
                <a:cs typeface="PingFang SC"/>
              </a:rPr>
              <a:t>0.173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6B7A82"/>
                </a:solidFill>
                <a:latin typeface="PingFang SC"/>
                <a:ea typeface="PingFang SC"/>
                <a:cs typeface="PingFang SC"/>
              </a:rPr>
              <a:t>dbRDA R² (P=0.001)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5806440"/>
            <a:ext cx="82296" cy="640080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" y="5806440"/>
            <a:ext cx="10972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B998B"/>
                </a:solidFill>
                <a:latin typeface="PingFang SC"/>
                <a:ea typeface="PingFang SC"/>
                <a:cs typeface="PingFang SC"/>
              </a:rPr>
              <a:t>结论  </a:t>
            </a:r>
            <a:r>
              <a:rPr sz="130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四法全部显著(Mantel/Procrustes 一致 + PERMANOVA≈dbRDA R²=0.173);RF 可预测 50% 尿液代谢物 → 两体液共享系统循环代谢物。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6304"/>
            <a:ext cx="182880" cy="914400"/>
          </a:xfrm>
          <a:prstGeom prst="rect">
            <a:avLst/>
          </a:prstGeom>
          <a:solidFill>
            <a:srgbClr val="2E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B998B"/>
                </a:solidFill>
                <a:latin typeface="PingFang SC"/>
                <a:ea typeface="PingFang SC"/>
                <a:cs typeface="PingFang SC"/>
              </a:rPr>
              <a:t>mediation (校正年龄/性别/疾病组)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0B3B47"/>
                </a:solidFill>
                <a:latin typeface="PingFang SC"/>
                <a:ea typeface="PingFang SC"/>
                <a:cs typeface="PingFang SC"/>
              </a:rPr>
              <a:t>分析四：三层中介  唾液物种 → 尿液物种 → 尿液代谢物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1908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B7A82"/>
                </a:solidFill>
                <a:latin typeface="PingFang SC"/>
                <a:ea typeface="PingFang SC"/>
                <a:cs typeface="PingFang SC"/>
              </a:rPr>
              <a:t>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17320"/>
            <a:ext cx="5669280" cy="1828800"/>
          </a:xfrm>
          <a:prstGeom prst="roundRect">
            <a:avLst/>
          </a:prstGeom>
          <a:solidFill>
            <a:srgbClr val="EE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572768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E6F95"/>
                </a:solidFill>
                <a:latin typeface="PingFang SC"/>
                <a:ea typeface="PingFang SC"/>
                <a:cs typeface="PingFang SC"/>
              </a:rPr>
              <a:t>中介链路设计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286000"/>
            <a:ext cx="1417320" cy="731520"/>
          </a:xfrm>
          <a:prstGeom prst="roundRect">
            <a:avLst/>
          </a:prstGeom>
          <a:solidFill>
            <a:srgbClr val="2E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377440"/>
            <a:ext cx="14173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唾液物种
(暴露 X)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48840" y="2450592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60320" y="2286000"/>
            <a:ext cx="1417320" cy="731520"/>
          </a:xfrm>
          <a:prstGeom prst="round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60320" y="2377440"/>
            <a:ext cx="14173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尿液物种
(中介 M)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2450592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3400" y="2286000"/>
            <a:ext cx="1417320" cy="731520"/>
          </a:xfrm>
          <a:prstGeom prst="round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43400" y="2377440"/>
            <a:ext cx="14173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尿液代谢物
(结局 Y)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429000"/>
            <a:ext cx="5669280" cy="2286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C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584448"/>
            <a:ext cx="521208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E6F95"/>
                </a:solidFill>
                <a:latin typeface="PingFang SC"/>
                <a:ea typeface="PingFang SC"/>
                <a:cs typeface="PingFang SC"/>
              </a:rPr>
              <a:t>扫描结果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候选中介三元组  </a:t>
            </a:r>
            <a:r>
              <a:rPr sz="1500" b="1" i="0">
                <a:solidFill>
                  <a:srgbClr val="2E6F95"/>
                </a:solidFill>
                <a:latin typeface="PingFang SC"/>
                <a:ea typeface="PingFang SC"/>
                <a:cs typeface="PingFang SC"/>
              </a:rPr>
              <a:t>120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ACME 名义显著 (P&lt;0.05)  </a:t>
            </a:r>
            <a:r>
              <a:rPr sz="1500" b="1" i="0">
                <a:solidFill>
                  <a:srgbClr val="D9A441"/>
                </a:solidFill>
                <a:latin typeface="PingFang SC"/>
                <a:ea typeface="PingFang SC"/>
                <a:cs typeface="PingFang SC"/>
              </a:rPr>
              <a:t>0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ACME FDR&lt;0.10  </a:t>
            </a:r>
            <a:r>
              <a:rPr sz="1500" b="1" i="0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1371600"/>
            <a:ext cx="5303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E6F95"/>
                </a:solidFill>
                <a:latin typeface="PingFang SC"/>
                <a:ea typeface="PingFang SC"/>
                <a:cs typeface="PingFang SC"/>
              </a:rPr>
              <a:t>中介效应最强的链路（前 6，按 ACME P）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6400800" y="1783080"/>
          <a:ext cx="5349240" cy="31272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37360"/>
                <a:gridCol w="1554480"/>
                <a:gridCol w="1097280"/>
                <a:gridCol w="960120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唾液物种</a:t>
                      </a:r>
                    </a:p>
                  </a:txBody>
                  <a:tcPr anchor="ctr" marL="73152" marR="54864" marT="18288" marB="18288">
                    <a:solidFill>
                      <a:srgbClr val="0B3B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尿液物种</a:t>
                      </a:r>
                    </a:p>
                  </a:txBody>
                  <a:tcPr anchor="ctr" marL="73152" marR="54864" marT="18288" marB="18288">
                    <a:solidFill>
                      <a:srgbClr val="0B3B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尿代谢物</a:t>
                      </a:r>
                    </a:p>
                  </a:txBody>
                  <a:tcPr anchor="ctr" marL="73152" marR="54864" marT="18288" marB="18288">
                    <a:solidFill>
                      <a:srgbClr val="0B3B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ACME P</a:t>
                      </a:r>
                    </a:p>
                  </a:txBody>
                  <a:tcPr anchor="ctr" marL="73152" marR="54864" marT="18288" marB="18288">
                    <a:solidFill>
                      <a:srgbClr val="0B3B47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Alloprevotella_t</a:t>
                      </a:r>
                    </a:p>
                  </a:txBody>
                  <a:tcPr anchor="ctr" marL="73152" marR="54864" marT="18288" marB="18288">
                    <a:solidFill>
                      <a:srgbClr val="EEF4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Halomonas_desi</a:t>
                      </a:r>
                    </a:p>
                  </a:txBody>
                  <a:tcPr anchor="ctr" marL="73152" marR="54864" marT="18288" marB="18288">
                    <a:solidFill>
                      <a:srgbClr val="EEF4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P_3`-Ami</a:t>
                      </a:r>
                    </a:p>
                  </a:txBody>
                  <a:tcPr anchor="ctr" marL="73152" marR="54864" marT="18288" marB="18288">
                    <a:solidFill>
                      <a:srgbClr val="EEF4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0.173</a:t>
                      </a:r>
                    </a:p>
                  </a:txBody>
                  <a:tcPr anchor="ctr" marL="73152" marR="54864" marT="18288" marB="18288">
                    <a:solidFill>
                      <a:srgbClr val="EEF4F5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Nanosyncoccus_na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Halomonas_desi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P_3`-Ami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0.213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Prevotella_sp905</a:t>
                      </a:r>
                    </a:p>
                  </a:txBody>
                  <a:tcPr anchor="ctr" marL="73152" marR="54864" marT="18288" marB="18288">
                    <a:solidFill>
                      <a:srgbClr val="EEF4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JAHWJY01_sp019</a:t>
                      </a:r>
                    </a:p>
                  </a:txBody>
                  <a:tcPr anchor="ctr" marL="73152" marR="54864" marT="18288" marB="18288">
                    <a:solidFill>
                      <a:srgbClr val="EEF4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P_(3Z)-3</a:t>
                      </a:r>
                    </a:p>
                  </a:txBody>
                  <a:tcPr anchor="ctr" marL="73152" marR="54864" marT="18288" marB="18288">
                    <a:solidFill>
                      <a:srgbClr val="EEF4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0.260</a:t>
                      </a:r>
                    </a:p>
                  </a:txBody>
                  <a:tcPr anchor="ctr" marL="73152" marR="54864" marT="18288" marB="18288">
                    <a:solidFill>
                      <a:srgbClr val="EEF4F5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Peptostreptococc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Pseudomonas_E_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P_5-OXO-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0.293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Streptococcus_mi</a:t>
                      </a:r>
                    </a:p>
                  </a:txBody>
                  <a:tcPr anchor="ctr" marL="73152" marR="54864" marT="18288" marB="18288">
                    <a:solidFill>
                      <a:srgbClr val="EEF4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Neisseria_elon</a:t>
                      </a:r>
                    </a:p>
                  </a:txBody>
                  <a:tcPr anchor="ctr" marL="73152" marR="54864" marT="18288" marB="18288">
                    <a:solidFill>
                      <a:srgbClr val="EEF4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N_Cytosi</a:t>
                      </a:r>
                    </a:p>
                  </a:txBody>
                  <a:tcPr anchor="ctr" marL="73152" marR="54864" marT="18288" marB="18288">
                    <a:solidFill>
                      <a:srgbClr val="EEF4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0.307</a:t>
                      </a:r>
                    </a:p>
                  </a:txBody>
                  <a:tcPr anchor="ctr" marL="73152" marR="54864" marT="18288" marB="18288">
                    <a:solidFill>
                      <a:srgbClr val="EEF4F5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Streptococcus_cr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Novosphingobiu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N_indoxy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0.313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" name="Rectangle 21"/>
          <p:cNvSpPr/>
          <p:nvPr/>
        </p:nvSpPr>
        <p:spPr>
          <a:xfrm>
            <a:off x="502920" y="5897880"/>
            <a:ext cx="82296" cy="64008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4088" y="5897880"/>
            <a:ext cx="10972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结论  </a:t>
            </a:r>
            <a:r>
              <a:rPr sz="130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经 FDR 校正后无显著中介(120 条候选,FDR&gt;0.10) → 唾液菌–尿液菌耦合弱，难成连贯中介链;跨体液信号集中于代谢层。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6304"/>
            <a:ext cx="182880" cy="914400"/>
          </a:xfrm>
          <a:prstGeom prst="rect">
            <a:avLst/>
          </a:prstGeom>
          <a:solidFill>
            <a:srgbClr val="2E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B998B"/>
                </a:solidFill>
                <a:latin typeface="PingFang SC"/>
                <a:ea typeface="PingFang SC"/>
                <a:cs typeface="PingFang SC"/>
              </a:rPr>
              <a:t>adonis2 · 单特征解释尿液端方差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0B3B47"/>
                </a:solidFill>
                <a:latin typeface="PingFang SC"/>
                <a:ea typeface="PingFang SC"/>
                <a:cs typeface="PingFang SC"/>
              </a:rPr>
              <a:t>逐特征 PERMANOVA：每个显著特征的 R²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1908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B7A82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  <p:pic>
        <p:nvPicPr>
          <p:cNvPr id="8" name="Picture 7" descr="perfeature_permanova_h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4480560" cy="448056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498079" y="1463040"/>
            <a:ext cx="4297680" cy="1325880"/>
          </a:xfrm>
          <a:prstGeom prst="roundRect">
            <a:avLst/>
          </a:prstGeom>
          <a:solidFill>
            <a:srgbClr val="EE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98079" y="1463040"/>
            <a:ext cx="91440" cy="1325880"/>
          </a:xfrm>
          <a:prstGeom prst="rect">
            <a:avLst/>
          </a:prstGeom>
          <a:solidFill>
            <a:srgbClr val="2E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54111" y="1572768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E6F95"/>
                </a:solidFill>
                <a:latin typeface="PingFang SC"/>
                <a:ea typeface="PingFang SC"/>
                <a:cs typeface="PingFang SC"/>
              </a:rPr>
              <a:t>① 唾液物种→尿液微生物组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54111" y="1965960"/>
            <a:ext cx="38404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显著特征 </a:t>
            </a:r>
            <a:r>
              <a:rPr sz="1500" b="1" i="0">
                <a:solidFill>
                  <a:srgbClr val="2E6F95"/>
                </a:solidFill>
                <a:latin typeface="PingFang SC"/>
                <a:ea typeface="PingFang SC"/>
                <a:cs typeface="PingFang SC"/>
              </a:rPr>
              <a:t>27</a:t>
            </a:r>
            <a:r>
              <a:rPr sz="1150" b="0" i="0">
                <a:solidFill>
                  <a:srgbClr val="6B7A82"/>
                </a:solidFill>
                <a:latin typeface="PingFang SC"/>
                <a:ea typeface="PingFang SC"/>
                <a:cs typeface="PingFang SC"/>
              </a:rPr>
              <a:t> / 950</a:t>
            </a:r>
            <a:r>
              <a:rPr sz="1050" b="0" i="0">
                <a:solidFill>
                  <a:srgbClr val="6B7A82"/>
                </a:solidFill>
                <a:latin typeface="PingFang SC"/>
                <a:ea typeface="PingFang SC"/>
                <a:cs typeface="PingFang SC"/>
              </a:rPr>
              <a:t>   (P&lt;0.05)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R² 中位 </a:t>
            </a:r>
            <a:r>
              <a:rPr sz="1250" b="1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0.030</a:t>
            </a:r>
            <a:r>
              <a:rPr sz="115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   最大 </a:t>
            </a:r>
            <a:r>
              <a:rPr sz="1250" b="1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0.050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79" y="2944368"/>
            <a:ext cx="4297680" cy="1325880"/>
          </a:xfrm>
          <a:prstGeom prst="roundRect">
            <a:avLst/>
          </a:prstGeom>
          <a:solidFill>
            <a:srgbClr val="EE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98079" y="2944368"/>
            <a:ext cx="91440" cy="132588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54111" y="3054096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D9A441"/>
                </a:solidFill>
                <a:latin typeface="PingFang SC"/>
                <a:ea typeface="PingFang SC"/>
                <a:cs typeface="PingFang SC"/>
              </a:rPr>
              <a:t>② 唾液物种→尿液代谢组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54111" y="3447288"/>
            <a:ext cx="38404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显著特征 </a:t>
            </a:r>
            <a:r>
              <a:rPr sz="1500" b="1" i="0">
                <a:solidFill>
                  <a:srgbClr val="D9A441"/>
                </a:solidFill>
                <a:latin typeface="PingFang SC"/>
                <a:ea typeface="PingFang SC"/>
                <a:cs typeface="PingFang SC"/>
              </a:rPr>
              <a:t>49</a:t>
            </a:r>
            <a:r>
              <a:rPr sz="1150" b="0" i="0">
                <a:solidFill>
                  <a:srgbClr val="6B7A82"/>
                </a:solidFill>
                <a:latin typeface="PingFang SC"/>
                <a:ea typeface="PingFang SC"/>
                <a:cs typeface="PingFang SC"/>
              </a:rPr>
              <a:t> / 950</a:t>
            </a:r>
            <a:r>
              <a:rPr sz="1050" b="0" i="0">
                <a:solidFill>
                  <a:srgbClr val="6B7A82"/>
                </a:solidFill>
                <a:latin typeface="PingFang SC"/>
                <a:ea typeface="PingFang SC"/>
                <a:cs typeface="PingFang SC"/>
              </a:rPr>
              <a:t>   (P&lt;0.05)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R² 中位 </a:t>
            </a:r>
            <a:r>
              <a:rPr sz="1250" b="1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0.025</a:t>
            </a:r>
            <a:r>
              <a:rPr sz="115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   最大 </a:t>
            </a:r>
            <a:r>
              <a:rPr sz="1250" b="1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0.096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79" y="4425696"/>
            <a:ext cx="4297680" cy="1325880"/>
          </a:xfrm>
          <a:prstGeom prst="roundRect">
            <a:avLst/>
          </a:prstGeom>
          <a:solidFill>
            <a:srgbClr val="EE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498079" y="4425696"/>
            <a:ext cx="91440" cy="1325880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54111" y="4535424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B998B"/>
                </a:solidFill>
                <a:latin typeface="PingFang SC"/>
                <a:ea typeface="PingFang SC"/>
                <a:cs typeface="PingFang SC"/>
              </a:rPr>
              <a:t>③ 唾液代谢物→尿液代谢组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54111" y="4928616"/>
            <a:ext cx="38404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显著特征 </a:t>
            </a:r>
            <a:r>
              <a:rPr sz="1500" b="1" i="0">
                <a:solidFill>
                  <a:srgbClr val="1B998B"/>
                </a:solidFill>
                <a:latin typeface="PingFang SC"/>
                <a:ea typeface="PingFang SC"/>
                <a:cs typeface="PingFang SC"/>
              </a:rPr>
              <a:t>331</a:t>
            </a:r>
            <a:r>
              <a:rPr sz="1150" b="0" i="0">
                <a:solidFill>
                  <a:srgbClr val="6B7A82"/>
                </a:solidFill>
                <a:latin typeface="PingFang SC"/>
                <a:ea typeface="PingFang SC"/>
                <a:cs typeface="PingFang SC"/>
              </a:rPr>
              <a:t> / 884</a:t>
            </a:r>
            <a:r>
              <a:rPr sz="1050" b="0" i="0">
                <a:solidFill>
                  <a:srgbClr val="6B7A82"/>
                </a:solidFill>
                <a:latin typeface="PingFang SC"/>
                <a:ea typeface="PingFang SC"/>
                <a:cs typeface="PingFang SC"/>
              </a:rPr>
              <a:t>   (P&lt;0.05)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R² 中位 </a:t>
            </a:r>
            <a:r>
              <a:rPr sz="1250" b="1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0.027</a:t>
            </a:r>
            <a:r>
              <a:rPr sz="115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   最大 </a:t>
            </a:r>
            <a:r>
              <a:rPr sz="1250" b="1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0.122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5989320"/>
            <a:ext cx="82296" cy="548640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4088" y="5989320"/>
            <a:ext cx="109728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B998B"/>
                </a:solidFill>
                <a:latin typeface="PingFang SC"/>
                <a:ea typeface="PingFang SC"/>
                <a:cs typeface="PingFang SC"/>
              </a:rPr>
              <a:t>结论  </a:t>
            </a:r>
            <a:r>
              <a:rPr sz="130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绝大多数显著特征单特征 R² 都很小(多 2–5%) → 跨体液信号由大量小贡献特征共同构成,而非少数主导者;代谢物层显著数更多、R² 更高。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6304"/>
            <a:ext cx="182880" cy="914400"/>
          </a:xfrm>
          <a:prstGeom prst="rect">
            <a:avLst/>
          </a:prstGeom>
          <a:solidFill>
            <a:srgbClr val="2E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B998B"/>
                </a:solidFill>
                <a:latin typeface="PingFang SC"/>
                <a:ea typeface="PingFang SC"/>
                <a:cs typeface="PingFang SC"/>
              </a:rPr>
              <a:t>对应 Zhang et al. Fig 2a · 联合 PERMANOVA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0B3B47"/>
                </a:solidFill>
                <a:latin typeface="PingFang SC"/>
                <a:ea typeface="PingFang SC"/>
                <a:cs typeface="PingFang SC"/>
              </a:rPr>
              <a:t>论文式累计方差解释 + 95% 置信区间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1908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B7A82"/>
                </a:solidFill>
                <a:latin typeface="PingFang SC"/>
                <a:ea typeface="PingFang SC"/>
                <a:cs typeface="PingFang SC"/>
              </a:rPr>
              <a:t>11</a:t>
            </a:r>
          </a:p>
        </p:txBody>
      </p:sp>
      <p:pic>
        <p:nvPicPr>
          <p:cNvPr id="8" name="Picture 7" descr="permanova_cumulative_R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17320"/>
            <a:ext cx="6949440" cy="2779776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635240" y="1417320"/>
            <a:ext cx="4160520" cy="2148840"/>
          </a:xfrm>
          <a:prstGeom prst="roundRect">
            <a:avLst/>
          </a:prstGeom>
          <a:solidFill>
            <a:srgbClr val="EE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72983" y="1554480"/>
            <a:ext cx="370332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E6F95"/>
                </a:solidFill>
                <a:latin typeface="PingFang SC"/>
                <a:ea typeface="PingFang SC"/>
                <a:cs typeface="PingFang SC"/>
              </a:rPr>
              <a:t>三步法(适配小样本)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① 逐特征 adonis2 海选显著(P&lt;0.05)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② 显著特征→前10主成分→一个联合 adonis2 求累计 R²(共享方差只计一次,有界)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③ 无放回再抽样得 95% CI(避免有放回 bootstrap 的零距离虚高)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35240" y="3703320"/>
            <a:ext cx="4160520" cy="20574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9A4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72983" y="3840480"/>
            <a:ext cx="370332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D9A441"/>
                </a:solidFill>
                <a:latin typeface="PingFang SC"/>
                <a:ea typeface="PingFang SC"/>
                <a:cs typeface="PingFang SC"/>
              </a:rPr>
              <a:t>与论文最直接可比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② 唾液菌群 → 尿液代谢组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累计 R² = </a:t>
            </a:r>
            <a:r>
              <a:rPr sz="2000" b="1" i="0">
                <a:solidFill>
                  <a:srgbClr val="D9A441"/>
                </a:solidFill>
                <a:latin typeface="PingFang SC"/>
                <a:ea typeface="PingFang SC"/>
                <a:cs typeface="PingFang SC"/>
              </a:rPr>
              <a:t>24.6%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6B7A82"/>
                </a:solidFill>
                <a:latin typeface="PingFang SC"/>
                <a:ea typeface="PingFang SC"/>
                <a:cs typeface="PingFang SC"/>
              </a:rPr>
              <a:t>95% CI </a:t>
            </a:r>
            <a:r>
              <a:rPr sz="1200" b="1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19.5% – 29.1%</a:t>
            </a:r>
            <a:r>
              <a:rPr sz="1150" b="0" i="0">
                <a:solidFill>
                  <a:srgbClr val="6B7A82"/>
                </a:solidFill>
                <a:latin typeface="PingFang SC"/>
                <a:ea typeface="PingFang SC"/>
                <a:cs typeface="PingFang SC"/>
              </a:rPr>
              <a:t>  P=0.002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6B7A82"/>
                </a:solidFill>
                <a:latin typeface="PingFang SC"/>
                <a:ea typeface="PingFang SC"/>
                <a:cs typeface="PingFang SC"/>
              </a:rPr>
              <a:t>≈ 论文 口腔 14.7% / 肠道 18.4% 同类指标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5943600"/>
            <a:ext cx="82296" cy="548640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" y="5943600"/>
            <a:ext cx="109728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B998B"/>
                </a:solidFill>
                <a:latin typeface="PingFang SC"/>
                <a:ea typeface="PingFang SC"/>
                <a:cs typeface="PingFang SC"/>
              </a:rPr>
              <a:t>结论  </a:t>
            </a:r>
            <a:r>
              <a:rPr sz="130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去共线后的真实联合解释度约 20–25%(P&lt;0.01,有界);而单变量 R² 朴素累加会溢出&gt;100%,只反映特征冗余、不可作总解释度。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6304"/>
            <a:ext cx="182880" cy="914400"/>
          </a:xfrm>
          <a:prstGeom prst="rect">
            <a:avLst/>
          </a:prstGeom>
          <a:solidFill>
            <a:srgbClr val="2E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B998B"/>
                </a:solidFill>
                <a:latin typeface="PingFang SC"/>
                <a:ea typeface="PingFang SC"/>
                <a:cs typeface="PingFang SC"/>
              </a:rPr>
              <a:t>面向动物实验验证的选靶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0B3B47"/>
                </a:solidFill>
                <a:latin typeface="PingFang SC"/>
                <a:ea typeface="PingFang SC"/>
                <a:cs typeface="PingFang SC"/>
              </a:rPr>
              <a:t>候选代谢物：健康/疾病有差异 且 两部位共享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1908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B7A82"/>
                </a:solidFill>
                <a:latin typeface="PingFang SC"/>
                <a:ea typeface="PingFang SC"/>
                <a:cs typeface="PingFang SC"/>
              </a:rPr>
              <a:t>12</a:t>
            </a:r>
          </a:p>
        </p:txBody>
      </p:sp>
      <p:pic>
        <p:nvPicPr>
          <p:cNvPr id="8" name="Picture 7" descr="shared_disease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71600"/>
            <a:ext cx="5943600" cy="4245428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720840" y="1371600"/>
            <a:ext cx="5029200" cy="1170432"/>
          </a:xfrm>
          <a:prstGeom prst="roundRect">
            <a:avLst/>
          </a:prstGeom>
          <a:solidFill>
            <a:srgbClr val="EE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76872" y="1463040"/>
            <a:ext cx="45262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E6F95"/>
                </a:solidFill>
                <a:latin typeface="PingFang SC"/>
                <a:ea typeface="PingFang SC"/>
                <a:cs typeface="PingFang SC"/>
              </a:rPr>
              <a:t>筛选漏斗  </a:t>
            </a:r>
            <a:r>
              <a:rPr sz="120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两部位共享 522 → 两部位均 P&lt;0.05 且同向 7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6B7A82"/>
                </a:solidFill>
                <a:latin typeface="PingFang SC"/>
                <a:ea typeface="PingFang SC"/>
                <a:cs typeface="PingFang SC"/>
              </a:rPr>
              <a:t>(健康 N=34  vs  疾病 P/PD/PC/PCD n=67;Wilcoxon + BH-FDR)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20840" y="2697480"/>
            <a:ext cx="5029200" cy="187451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B9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76872" y="2788920"/>
            <a:ext cx="4526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B998B"/>
                </a:solidFill>
                <a:latin typeface="PingFang SC"/>
                <a:ea typeface="PingFang SC"/>
                <a:cs typeface="PingFang SC"/>
              </a:rPr>
              <a:t>✅ 优先候选(内源性·可购·疾病中均↓)</a:t>
            </a:r>
          </a:p>
        </p:txBody>
      </p:sp>
      <p:sp>
        <p:nvSpPr>
          <p:cNvPr id="13" name="Oval 12"/>
          <p:cNvSpPr/>
          <p:nvPr/>
        </p:nvSpPr>
        <p:spPr>
          <a:xfrm>
            <a:off x="7013448" y="3273552"/>
            <a:ext cx="91440" cy="91440"/>
          </a:xfrm>
          <a:prstGeom prst="ellipse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23759" y="3182112"/>
            <a:ext cx="4206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Propionic acid 丙酸</a:t>
            </a:r>
            <a:r>
              <a:rPr sz="1050" b="0" i="0">
                <a:solidFill>
                  <a:srgbClr val="6B7A82"/>
                </a:solidFill>
                <a:latin typeface="PingFang SC"/>
                <a:ea typeface="PingFang SC"/>
                <a:cs typeface="PingFang SC"/>
              </a:rPr>
              <a:t>  短链脂肪酸·微生物来源·抗炎</a:t>
            </a:r>
          </a:p>
        </p:txBody>
      </p:sp>
      <p:sp>
        <p:nvSpPr>
          <p:cNvPr id="15" name="Oval 14"/>
          <p:cNvSpPr/>
          <p:nvPr/>
        </p:nvSpPr>
        <p:spPr>
          <a:xfrm>
            <a:off x="7013448" y="3703320"/>
            <a:ext cx="91440" cy="91440"/>
          </a:xfrm>
          <a:prstGeom prst="ellipse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23759" y="3611879"/>
            <a:ext cx="4206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2-Hydroxyphenylacetic acid</a:t>
            </a:r>
            <a:r>
              <a:rPr sz="1050" b="0" i="0">
                <a:solidFill>
                  <a:srgbClr val="6B7A82"/>
                </a:solidFill>
                <a:latin typeface="PingFang SC"/>
                <a:ea typeface="PingFang SC"/>
                <a:cs typeface="PingFang SC"/>
              </a:rPr>
              <a:t>  微生物芳香族代谢物</a:t>
            </a:r>
          </a:p>
        </p:txBody>
      </p:sp>
      <p:sp>
        <p:nvSpPr>
          <p:cNvPr id="17" name="Oval 16"/>
          <p:cNvSpPr/>
          <p:nvPr/>
        </p:nvSpPr>
        <p:spPr>
          <a:xfrm>
            <a:off x="7013448" y="4133087"/>
            <a:ext cx="91440" cy="91440"/>
          </a:xfrm>
          <a:prstGeom prst="ellipse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23759" y="4041648"/>
            <a:ext cx="4206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N-lauroylethanolamine</a:t>
            </a:r>
            <a:r>
              <a:rPr sz="1050" b="0" i="0">
                <a:solidFill>
                  <a:srgbClr val="6B7A82"/>
                </a:solidFill>
                <a:latin typeface="PingFang SC"/>
                <a:ea typeface="PingFang SC"/>
                <a:cs typeface="PingFang SC"/>
              </a:rPr>
              <a:t>  N-酰基乙醇胺类脂质介质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720840" y="4709160"/>
            <a:ext cx="5029200" cy="96012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76872" y="4791456"/>
            <a:ext cx="45262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⚠️ 排除  </a:t>
            </a:r>
            <a:r>
              <a:rPr sz="110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Tri-isobutylphosphate = 工业增塑剂,非内源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⚠️ 待确证  </a:t>
            </a:r>
            <a:r>
              <a:rPr sz="110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3 个长 IUPAC 名结构需标准品 MS/MS 比对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5943600"/>
            <a:ext cx="82296" cy="548640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2648" y="5943600"/>
            <a:ext cx="110642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B998B"/>
                </a:solidFill>
                <a:latin typeface="PingFang SC"/>
                <a:ea typeface="PingFang SC"/>
                <a:cs typeface="PingFang SC"/>
              </a:rPr>
              <a:t>结论  </a:t>
            </a:r>
            <a:r>
              <a:rPr sz="130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三个优先候选在疾病组均↓ → 假说:疾病伴随保护性微生物/脂质代谢物耗竭 → 可直接设计“补充干预”动物实验验证。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6304"/>
            <a:ext cx="182880" cy="914400"/>
          </a:xfrm>
          <a:prstGeom prst="rect">
            <a:avLst/>
          </a:prstGeom>
          <a:solidFill>
            <a:srgbClr val="2E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B998B"/>
                </a:solidFill>
                <a:latin typeface="PingFang SC"/>
                <a:ea typeface="PingFang SC"/>
                <a:cs typeface="PingFang SC"/>
              </a:rPr>
              <a:t>按优先级从左到右排列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0B3B47"/>
                </a:solidFill>
                <a:latin typeface="PingFang SC"/>
                <a:ea typeface="PingFang SC"/>
                <a:cs typeface="PingFang SC"/>
              </a:rPr>
              <a:t>候选代谢物分布形态与判读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1908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B7A82"/>
                </a:solidFill>
                <a:latin typeface="PingFang SC"/>
                <a:ea typeface="PingFang SC"/>
                <a:cs typeface="PingFang SC"/>
              </a:rPr>
              <a:t>13</a:t>
            </a:r>
          </a:p>
        </p:txBody>
      </p:sp>
      <p:pic>
        <p:nvPicPr>
          <p:cNvPr id="8" name="Picture 7" descr="shared_disease_boxplo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25880"/>
            <a:ext cx="7459980" cy="40690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595360" y="1325880"/>
            <a:ext cx="3154680" cy="173736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B9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96528" y="1417320"/>
            <a:ext cx="277063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B998B"/>
                </a:solidFill>
                <a:latin typeface="PingFang SC"/>
                <a:ea typeface="PingFang SC"/>
                <a:cs typeface="PingFang SC"/>
              </a:rPr>
              <a:t>[OK] 优先(1–3)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14816" y="1746504"/>
            <a:ext cx="2734056" cy="11887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1B998B"/>
                </a:solidFill>
                <a:latin typeface="PingFang SC"/>
                <a:ea typeface="PingFang SC"/>
                <a:cs typeface="PingFang SC"/>
              </a:rPr>
              <a:t>Propionic acid、N-lauroylethanol、2-Hydroxyphenyla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箱体紧凑、无零值堆积;健康→疾病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位移小但两体液同向稳定下降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1B998B"/>
                </a:solidFill>
                <a:latin typeface="PingFang SC"/>
                <a:ea typeface="PingFang SC"/>
                <a:cs typeface="PingFang SC"/>
              </a:rPr>
              <a:t>→ 可信,优先选靶(丙酸居首)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95360" y="3200400"/>
            <a:ext cx="3154680" cy="15544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9A4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96528" y="3291840"/>
            <a:ext cx="277063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D9A441"/>
                </a:solidFill>
                <a:latin typeface="PingFang SC"/>
                <a:ea typeface="PingFang SC"/>
                <a:cs typeface="PingFang SC"/>
              </a:rPr>
              <a:t>[?] 待确证(4–6)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14816" y="3621024"/>
            <a:ext cx="2734056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零值伪影/膳食或表面活性剂污染嫌疑,须标准品+MS/MS: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• (E)-1-(4-methylquinazolin-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• 2-(methyl(2H-pyrazolo[3,4-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• N-(4-((6aR,8aS)-4-hydroxy-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95360" y="4864608"/>
            <a:ext cx="3154680" cy="14173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96528" y="4956048"/>
            <a:ext cx="277063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[X] 排除(7)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14816" y="5285232"/>
            <a:ext cx="2734056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Tri-isobutylphosph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分布干净、统计最强,但为工业增塑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剂等外源污染物 → 不作靶点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5623560"/>
            <a:ext cx="82296" cy="566928"/>
          </a:xfrm>
          <a:prstGeom prst="rect">
            <a:avLst/>
          </a:prstGeom>
          <a:solidFill>
            <a:srgbClr val="0B3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648" y="5623560"/>
            <a:ext cx="7726679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0B3B47"/>
                </a:solidFill>
                <a:latin typeface="PingFang SC"/>
                <a:ea typeface="PingFang SC"/>
                <a:cs typeface="PingFang SC"/>
              </a:rPr>
              <a:t>结论  </a:t>
            </a:r>
            <a:r>
              <a:rPr sz="130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统计最强的两个恰恰最不该买 → 候选必须按“内源性/可购/已确证”分层,不能只按 p 值取前 N 个。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6304"/>
            <a:ext cx="182880" cy="914400"/>
          </a:xfrm>
          <a:prstGeom prst="rect">
            <a:avLst/>
          </a:prstGeom>
          <a:solidFill>
            <a:srgbClr val="2E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B998B"/>
                </a:solidFill>
                <a:latin typeface="PingFang SC"/>
                <a:ea typeface="PingFang SC"/>
                <a:cs typeface="PingFang SC"/>
              </a:rPr>
              <a:t>P / PD / PC / PCD 各自 vs 健康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0B3B47"/>
                </a:solidFill>
                <a:latin typeface="PingFang SC"/>
                <a:ea typeface="PingFang SC"/>
                <a:cs typeface="PingFang SC"/>
              </a:rPr>
              <a:t>疾病亚组特异性：候选是“肾病相关”而非牙周炎本身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1908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B7A82"/>
                </a:solidFill>
                <a:latin typeface="PingFang SC"/>
                <a:ea typeface="PingFang SC"/>
                <a:cs typeface="PingFang SC"/>
              </a:rPr>
              <a:t>14</a:t>
            </a:r>
          </a:p>
        </p:txBody>
      </p:sp>
      <p:pic>
        <p:nvPicPr>
          <p:cNvPr id="8" name="Picture 7" descr="candidate_subgroup_he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71600"/>
            <a:ext cx="6024716" cy="393192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726679" y="1371600"/>
            <a:ext cx="4023360" cy="1965960"/>
          </a:xfrm>
          <a:prstGeom prst="roundRect">
            <a:avLst/>
          </a:prstGeom>
          <a:solidFill>
            <a:srgbClr val="EE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82711" y="1463040"/>
            <a:ext cx="35204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★ 关键发现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三个优先候选的显著效应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全部只出现在 PC 与 PCD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——正是两个含【肾病】的组;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P(单纯牙周炎)、PD 均无。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26679" y="3474720"/>
            <a:ext cx="4023360" cy="160020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2E6F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5279" y="3566160"/>
            <a:ext cx="35661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E6F95"/>
                </a:solidFill>
                <a:latin typeface="PingFang SC"/>
                <a:ea typeface="PingFang SC"/>
                <a:cs typeface="PingFang SC"/>
              </a:rPr>
              <a:t>不是样本量假象 — 看效应量(丙酸 log2FC)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7955279" y="3931920"/>
          <a:ext cx="3712464" cy="9144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14400"/>
                <a:gridCol w="658368"/>
                <a:gridCol w="658368"/>
                <a:gridCol w="658368"/>
                <a:gridCol w="822960"/>
              </a:tblGrid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/>
                      </a:r>
                    </a:p>
                  </a:txBody>
                  <a:tcPr anchor="ctr" marL="73152" marR="54864" marT="18288" marB="18288">
                    <a:solidFill>
                      <a:srgbClr val="0B3B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</a:t>
                      </a:r>
                    </a:p>
                  </a:txBody>
                  <a:tcPr anchor="ctr" marL="73152" marR="54864" marT="18288" marB="18288">
                    <a:solidFill>
                      <a:srgbClr val="0B3B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PD</a:t>
                      </a:r>
                    </a:p>
                  </a:txBody>
                  <a:tcPr anchor="ctr" marL="73152" marR="54864" marT="18288" marB="18288">
                    <a:solidFill>
                      <a:srgbClr val="0B3B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PC</a:t>
                      </a:r>
                    </a:p>
                  </a:txBody>
                  <a:tcPr anchor="ctr" marL="73152" marR="54864" marT="18288" marB="18288">
                    <a:solidFill>
                      <a:srgbClr val="0B3B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PCD</a:t>
                      </a:r>
                    </a:p>
                  </a:txBody>
                  <a:tcPr anchor="ctr" marL="73152" marR="54864" marT="18288" marB="18288">
                    <a:solidFill>
                      <a:srgbClr val="0B3B4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唾液</a:t>
                      </a:r>
                    </a:p>
                  </a:txBody>
                  <a:tcPr anchor="ctr" marL="73152" marR="54864" marT="18288" marB="18288">
                    <a:solidFill>
                      <a:srgbClr val="EEF4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+0.17</a:t>
                      </a:r>
                    </a:p>
                  </a:txBody>
                  <a:tcPr anchor="ctr" marL="73152" marR="54864" marT="18288" marB="18288">
                    <a:solidFill>
                      <a:srgbClr val="EEF4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-0.47</a:t>
                      </a:r>
                    </a:p>
                  </a:txBody>
                  <a:tcPr anchor="ctr" marL="73152" marR="54864" marT="18288" marB="18288">
                    <a:solidFill>
                      <a:srgbClr val="EEF4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-0.85</a:t>
                      </a:r>
                    </a:p>
                  </a:txBody>
                  <a:tcPr anchor="ctr" marL="73152" marR="54864" marT="18288" marB="18288">
                    <a:solidFill>
                      <a:srgbClr val="EEF4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-0.85</a:t>
                      </a:r>
                    </a:p>
                  </a:txBody>
                  <a:tcPr anchor="ctr" marL="73152" marR="54864" marT="18288" marB="18288">
                    <a:solidFill>
                      <a:srgbClr val="EEF4F5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尿液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-0.03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-0.44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-0.71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-0.48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7955279" y="5138928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B7A82"/>
                </a:solidFill>
                <a:latin typeface="PingFang SC"/>
                <a:ea typeface="PingFang SC"/>
                <a:cs typeface="PingFang SC"/>
              </a:rPr>
              <a:t>P 组效应量≈0(非“测不出”);PD n=6 居中但把握度不足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5577840"/>
            <a:ext cx="82296" cy="5943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" y="5577840"/>
            <a:ext cx="1106424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结论  </a:t>
            </a:r>
            <a:r>
              <a:rPr sz="130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直接含义:动物主模型应以【慢性肾病 CKD】为核心(腺嘌呤/5，6 肾切除),牙周炎作为叠加因素——与最初“以牙周炎为主”的设想相反。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6304"/>
            <a:ext cx="182880" cy="914400"/>
          </a:xfrm>
          <a:prstGeom prst="rect">
            <a:avLst/>
          </a:prstGeom>
          <a:solidFill>
            <a:srgbClr val="2E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B998B"/>
                </a:solidFill>
                <a:latin typeface="PingFang SC"/>
                <a:ea typeface="PingFang SC"/>
                <a:cs typeface="PingFang SC"/>
              </a:rPr>
              <a:t>无 eGFR → 改用有序梯度 + 牙周炎人群内 + 多变量校正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0B3B47"/>
                </a:solidFill>
                <a:latin typeface="PingFang SC"/>
                <a:ea typeface="PingFang SC"/>
                <a:cs typeface="PingFang SC"/>
              </a:rPr>
              <a:t>肾病梯度趋势与独立性：夯实“肾病相关”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1908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B7A82"/>
                </a:solidFill>
                <a:latin typeface="PingFang SC"/>
                <a:ea typeface="PingFang SC"/>
                <a:cs typeface="PingFang SC"/>
              </a:rPr>
              <a:t>15</a:t>
            </a:r>
          </a:p>
        </p:txBody>
      </p:sp>
      <p:pic>
        <p:nvPicPr>
          <p:cNvPr id="8" name="Picture 7" descr="kidney_gradi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71600"/>
            <a:ext cx="6838121" cy="393192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498079" y="1371600"/>
            <a:ext cx="4251960" cy="1371600"/>
          </a:xfrm>
          <a:prstGeom prst="roundRect">
            <a:avLst/>
          </a:prstGeom>
          <a:solidFill>
            <a:srgbClr val="0B3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26679" y="1463040"/>
            <a:ext cx="37947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D9A441"/>
                </a:solidFill>
                <a:latin typeface="PingFang SC"/>
                <a:ea typeface="PingFang SC"/>
                <a:cs typeface="PingFang SC"/>
              </a:rPr>
              <a:t>⚠️ 数据可得性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本队列无 eGFR/肌酐/BUN,仅有肾病 0/1 标记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CFE3E6"/>
                </a:solidFill>
                <a:latin typeface="PingFang SC"/>
                <a:ea typeface="PingFang SC"/>
                <a:cs typeface="PingFang SC"/>
              </a:rPr>
              <a:t>→ 不做“假 eGFR 分级”,改用三项更严格检验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79" y="2880360"/>
            <a:ext cx="4251960" cy="640080"/>
          </a:xfrm>
          <a:prstGeom prst="roundRect">
            <a:avLst/>
          </a:prstGeom>
          <a:solidFill>
            <a:srgbClr val="EE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99248" y="2935224"/>
            <a:ext cx="384962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E6F95"/>
                </a:solidFill>
                <a:latin typeface="PingFang SC"/>
                <a:ea typeface="PingFang SC"/>
                <a:cs typeface="PingFang SC"/>
              </a:rPr>
              <a:t>① 有序梯度趋势 (Jonckheere–Terpstra)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B7A82"/>
                </a:solidFill>
                <a:latin typeface="PingFang SC"/>
                <a:ea typeface="PingFang SC"/>
                <a:cs typeface="PingFang SC"/>
              </a:rPr>
              <a:t>0 无肾病 → 1 肾病 → 2 糖尿病肾病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79" y="3593591"/>
            <a:ext cx="4251960" cy="640080"/>
          </a:xfrm>
          <a:prstGeom prst="roundRect">
            <a:avLst/>
          </a:prstGeom>
          <a:solidFill>
            <a:srgbClr val="EE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99248" y="3648456"/>
            <a:ext cx="384962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E6F95"/>
                </a:solidFill>
                <a:latin typeface="PingFang SC"/>
                <a:ea typeface="PingFang SC"/>
                <a:cs typeface="PingFang SC"/>
              </a:rPr>
              <a:t>② 仅牙周炎人群内比较 (n=18 vs 49)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B7A82"/>
                </a:solidFill>
                <a:latin typeface="PingFang SC"/>
                <a:ea typeface="PingFang SC"/>
                <a:cs typeface="PingFang SC"/>
              </a:rPr>
              <a:t>所有人都有牙周炎 → 排除牙周炎驱动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98079" y="4306824"/>
            <a:ext cx="4251960" cy="640080"/>
          </a:xfrm>
          <a:prstGeom prst="roundRect">
            <a:avLst/>
          </a:prstGeom>
          <a:solidFill>
            <a:srgbClr val="EE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99248" y="4361688"/>
            <a:ext cx="384962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E6F95"/>
                </a:solidFill>
                <a:latin typeface="PingFang SC"/>
                <a:ea typeface="PingFang SC"/>
                <a:cs typeface="PingFang SC"/>
              </a:rPr>
              <a:t>③ 多变量校正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B7A82"/>
                </a:solidFill>
                <a:latin typeface="PingFang SC"/>
                <a:ea typeface="PingFang SC"/>
                <a:cs typeface="PingFang SC"/>
              </a:rPr>
              <a:t>~ 肾病+牙周炎+糖尿病+年龄+性别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79" y="5074920"/>
            <a:ext cx="4251960" cy="6583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B9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99248" y="5148072"/>
            <a:ext cx="384962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B998B"/>
                </a:solidFill>
                <a:latin typeface="PingFang SC"/>
                <a:ea typeface="PingFang SC"/>
                <a:cs typeface="PingFang SC"/>
              </a:rPr>
              <a:t>丙酸唾液: </a:t>
            </a:r>
            <a:r>
              <a:rPr sz="1150" b="1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JT P=1e-08</a:t>
            </a:r>
            <a:r>
              <a:rPr sz="110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  ρ=-0.58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校正后独立: β=-0.74, P=0.0002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5943600"/>
            <a:ext cx="82296" cy="5486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" y="5943600"/>
            <a:ext cx="110642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结论  </a:t>
            </a:r>
            <a:r>
              <a:rPr sz="130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丙酸是唯一三项全部通过的候选;2-羟基苯乙酸唾液无趋势(JT P=0.11)、校正后 ns → 应降级。梯度分析同时夯实结论并在候选间做出判别。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6304"/>
            <a:ext cx="182880" cy="914400"/>
          </a:xfrm>
          <a:prstGeom prst="rect">
            <a:avLst/>
          </a:prstGeom>
          <a:solidFill>
            <a:srgbClr val="2E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B998B"/>
                </a:solidFill>
                <a:latin typeface="PingFang SC"/>
                <a:ea typeface="PingFang SC"/>
                <a:cs typeface="PingFang SC"/>
              </a:rPr>
              <a:t>跨体液 · 跨亚组 · 剂量方案 — 一页立项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0B3B47"/>
                </a:solidFill>
                <a:latin typeface="PingFang SC"/>
                <a:ea typeface="PingFang SC"/>
                <a:cs typeface="PingFang SC"/>
              </a:rPr>
              <a:t>丙酸 (Propionic acid)：首选靶点证据汇总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1908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B7A82"/>
                </a:solidFill>
                <a:latin typeface="PingFang SC"/>
                <a:ea typeface="PingFang SC"/>
                <a:cs typeface="PingFang SC"/>
              </a:rPr>
              <a:t>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298448"/>
            <a:ext cx="3611880" cy="868680"/>
          </a:xfrm>
          <a:prstGeom prst="roundRect">
            <a:avLst/>
          </a:prstGeom>
          <a:solidFill>
            <a:srgbClr val="EE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371600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1B998B"/>
                </a:solidFill>
                <a:latin typeface="PingFang SC"/>
                <a:ea typeface="PingFang SC"/>
                <a:cs typeface="PingFang SC"/>
              </a:rPr>
              <a:t>2/2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810512"/>
            <a:ext cx="3200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6B7A82"/>
                </a:solidFill>
                <a:latin typeface="PingFang SC"/>
                <a:ea typeface="PingFang SC"/>
                <a:cs typeface="PingFang SC"/>
              </a:rPr>
              <a:t>唾液+尿液均显著且同向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0" y="1298448"/>
            <a:ext cx="3611880" cy="868680"/>
          </a:xfrm>
          <a:prstGeom prst="roundRect">
            <a:avLst/>
          </a:prstGeom>
          <a:solidFill>
            <a:srgbClr val="EE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40" y="1371600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D9A441"/>
                </a:solidFill>
                <a:latin typeface="PingFang SC"/>
                <a:ea typeface="PingFang SC"/>
                <a:cs typeface="PingFang SC"/>
              </a:rPr>
              <a:t>-0.58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53128" y="1810512"/>
            <a:ext cx="3200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6B7A82"/>
                </a:solidFill>
                <a:latin typeface="PingFang SC"/>
                <a:ea typeface="PingFang SC"/>
                <a:cs typeface="PingFang SC"/>
              </a:rPr>
              <a:t>肾病梯度 ρ (唾液,单调下降)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1298448"/>
            <a:ext cx="3611880" cy="868680"/>
          </a:xfrm>
          <a:prstGeom prst="roundRect">
            <a:avLst/>
          </a:prstGeom>
          <a:solidFill>
            <a:srgbClr val="EE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1371600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P=0.0002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7888" y="1810512"/>
            <a:ext cx="3200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6B7A82"/>
                </a:solidFill>
                <a:latin typeface="PingFang SC"/>
                <a:ea typeface="PingFang SC"/>
                <a:cs typeface="PingFang SC"/>
              </a:rPr>
              <a:t>校正牙周炎/糖尿病后仍独立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" y="2331720"/>
            <a:ext cx="3611880" cy="26974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E6F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423160"/>
            <a:ext cx="3154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E6F95"/>
                </a:solidFill>
                <a:latin typeface="PingFang SC"/>
                <a:ea typeface="PingFang SC"/>
                <a:cs typeface="PingFang SC"/>
              </a:rPr>
              <a:t>① 跨体液(共享)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2816352"/>
            <a:ext cx="3118104" cy="2148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唾液 </a:t>
            </a:r>
            <a:r>
              <a:rPr sz="105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log2FC −0.77, FDR 1.7e-05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尿液 </a:t>
            </a:r>
            <a:r>
              <a:rPr sz="105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log2FC −0.37, P 8.6e-03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两体液同向下降,属 522 个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共享代谢物之一 → 系统性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而非单一体液局部现象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06240" y="2331720"/>
            <a:ext cx="3611880" cy="26974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9A4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34840" y="2423160"/>
            <a:ext cx="3154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D9A441"/>
                </a:solidFill>
                <a:latin typeface="PingFang SC"/>
                <a:ea typeface="PingFang SC"/>
                <a:cs typeface="PingFang SC"/>
              </a:rPr>
              <a:t>② 跨亚组 · 肾病梯度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53127" y="2816352"/>
            <a:ext cx="3118104" cy="2148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P(单纯牙周炎) log2FC ≈ </a:t>
            </a:r>
            <a:r>
              <a:rPr sz="1100" b="1" i="0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0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PC/PCD(含肾病) </a:t>
            </a:r>
            <a:r>
              <a:rPr sz="1100" b="1" i="0">
                <a:solidFill>
                  <a:srgbClr val="1B998B"/>
                </a:solidFill>
                <a:latin typeface="PingFang SC"/>
                <a:ea typeface="PingFang SC"/>
                <a:cs typeface="PingFang SC"/>
              </a:rPr>
              <a:t>−0.85/−0.71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JT 单调趋势 P=1e-08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牙周炎人群内仍显著 P=3e-05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D9A441"/>
                </a:solidFill>
                <a:latin typeface="PingFang SC"/>
                <a:ea typeface="PingFang SC"/>
                <a:cs typeface="PingFang SC"/>
              </a:rPr>
              <a:t>→ 效应源自肾病,非牙周炎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01000" y="2331720"/>
            <a:ext cx="3749039" cy="26974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B9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0" y="2423160"/>
            <a:ext cx="32918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B998B"/>
                </a:solidFill>
                <a:latin typeface="PingFang SC"/>
                <a:ea typeface="PingFang SC"/>
                <a:cs typeface="PingFang SC"/>
              </a:rPr>
              <a:t>③ 剂量与验证方案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47888" y="2816352"/>
            <a:ext cx="3255263" cy="2148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丙酸钠 </a:t>
            </a:r>
            <a:r>
              <a:rPr sz="105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150–200 mM 自由饮水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6B7A82"/>
                </a:solidFill>
                <a:latin typeface="PingFang SC"/>
                <a:ea typeface="PingFang SC"/>
                <a:cs typeface="PingFang SC"/>
              </a:rPr>
              <a:t>(或灌胃 1 g/kg/d)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模型 </a:t>
            </a:r>
            <a:r>
              <a:rPr sz="105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腺嘌呤 CKD ± 结扎牙周炎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时程 </a:t>
            </a:r>
            <a:r>
              <a:rPr sz="105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造模前 7d 预给药 → 14d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9A441"/>
                </a:solidFill>
                <a:latin typeface="PingFang SC"/>
                <a:ea typeface="PingFang SC"/>
                <a:cs typeface="PingFang SC"/>
              </a:rPr>
              <a:t>靶点验证 </a:t>
            </a:r>
            <a:r>
              <a:rPr sz="105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LC-MS 测鼠唾液/尿/血清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货源 </a:t>
            </a:r>
            <a:r>
              <a:rPr sz="105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Sigma P1880 丙酸钠 ≥99%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11480" y="5138928"/>
            <a:ext cx="11338560" cy="749808"/>
          </a:xfrm>
          <a:prstGeom prst="roundRect">
            <a:avLst/>
          </a:prstGeom>
          <a:solidFill>
            <a:srgbClr val="0B3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" y="5230368"/>
            <a:ext cx="1097280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D9A441"/>
                </a:solidFill>
                <a:latin typeface="PingFang SC"/>
                <a:ea typeface="PingFang SC"/>
                <a:cs typeface="PingFang SC"/>
              </a:rPr>
              <a:t>为什么是丙酸(而非另两个候选)  </a:t>
            </a:r>
            <a:r>
              <a:rPr sz="1150" b="0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三项肾病检验(梯度趋势 / 牙周炎人群内 / 多变量校正)中,</a:t>
            </a:r>
            <a:r>
              <a:rPr sz="1150" b="1" i="0">
                <a:solidFill>
                  <a:srgbClr val="7FE3D6"/>
                </a:solidFill>
                <a:latin typeface="PingFang SC"/>
                <a:ea typeface="PingFang SC"/>
                <a:cs typeface="PingFang SC"/>
              </a:rPr>
              <a:t>只有丙酸全部通过</a:t>
            </a:r>
            <a:r>
              <a:rPr sz="1150" b="0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;N-月桂酰乙醇胺尿液不稳,2-羟基苯乙酸唾液无趋势。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1480" y="6053328"/>
            <a:ext cx="82296" cy="566928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2648" y="6053328"/>
            <a:ext cx="110642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B998B"/>
                </a:solidFill>
                <a:latin typeface="PingFang SC"/>
                <a:ea typeface="PingFang SC"/>
                <a:cs typeface="PingFang SC"/>
              </a:rPr>
              <a:t>结论  </a:t>
            </a:r>
            <a:r>
              <a:rPr sz="130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立项一句话:丙酸在唾液与尿液同步耗竭、随肾病严重度单调下降、且独立于牙周炎与糖尿病 → 以 CKD 小鼠补充丙酸钠验证其保护作用。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6304"/>
            <a:ext cx="182880" cy="914400"/>
          </a:xfrm>
          <a:prstGeom prst="rect">
            <a:avLst/>
          </a:prstGeom>
          <a:solidFill>
            <a:srgbClr val="2E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B998B"/>
                </a:solidFill>
                <a:latin typeface="PingFang SC"/>
                <a:ea typeface="PingFang SC"/>
                <a:cs typeface="PingFang SC"/>
              </a:rPr>
              <a:t>补充干预 · 两阶段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0B3B47"/>
                </a:solidFill>
                <a:latin typeface="PingFang SC"/>
                <a:ea typeface="PingFang SC"/>
                <a:cs typeface="PingFang SC"/>
              </a:rPr>
              <a:t>小鼠验证实验设计（依亚组结果调整为 CKD 为核心）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1908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B7A82"/>
                </a:solidFill>
                <a:latin typeface="PingFang SC"/>
                <a:ea typeface="PingFang SC"/>
                <a:cs typeface="PingFang SC"/>
              </a:rPr>
              <a:t>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298448"/>
            <a:ext cx="11338560" cy="566928"/>
          </a:xfrm>
          <a:prstGeom prst="roundRect">
            <a:avLst/>
          </a:prstGeom>
          <a:solidFill>
            <a:srgbClr val="0B3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37160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D9A441"/>
                </a:solidFill>
                <a:latin typeface="PingFang SC"/>
                <a:ea typeface="PingFang SC"/>
                <a:cs typeface="PingFang SC"/>
              </a:rPr>
              <a:t>第 0 步(买了先做这个)  </a:t>
            </a:r>
            <a:r>
              <a:rPr sz="1150" b="0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当前注释为谱库匹配(~Level 2) → 标准品先做保留时间+二级谱确证,再进动物实验;标准品一物两用。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2011680"/>
            <a:ext cx="5486400" cy="3657600"/>
          </a:xfrm>
          <a:prstGeom prst="roundRect">
            <a:avLst/>
          </a:prstGeom>
          <a:solidFill>
            <a:srgbClr val="EE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2103120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E6F95"/>
                </a:solidFill>
                <a:latin typeface="PingFang SC"/>
                <a:ea typeface="PingFang SC"/>
                <a:cs typeface="PingFang SC"/>
              </a:rPr>
              <a:t>模型与分组(C57BL/6)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487168"/>
            <a:ext cx="5074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B998B"/>
                </a:solidFill>
                <a:latin typeface="PingFang SC"/>
                <a:ea typeface="PingFang SC"/>
                <a:cs typeface="PingFang SC"/>
              </a:rPr>
              <a:t>阶段一  </a:t>
            </a:r>
            <a:r>
              <a:rPr sz="110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腺嘌呤饮食 CKD ± 补充干预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B998B"/>
                </a:solidFill>
                <a:latin typeface="PingFang SC"/>
                <a:ea typeface="PingFang SC"/>
                <a:cs typeface="PingFang SC"/>
              </a:rPr>
              <a:t>阶段二  </a:t>
            </a:r>
            <a:r>
              <a:rPr sz="110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CKD + 结扎牙周炎(共病模型)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58368" y="3401568"/>
          <a:ext cx="3977640" cy="19568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48640"/>
                <a:gridCol w="2651760"/>
                <a:gridCol w="777240"/>
              </a:tblGrid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组</a:t>
                      </a:r>
                    </a:p>
                  </a:txBody>
                  <a:tcPr anchor="ctr" marL="73152" marR="54864" marT="18288" marB="18288">
                    <a:solidFill>
                      <a:srgbClr val="0B3B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处理</a:t>
                      </a:r>
                    </a:p>
                  </a:txBody>
                  <a:tcPr anchor="ctr" marL="73152" marR="54864" marT="18288" marB="18288">
                    <a:solidFill>
                      <a:srgbClr val="0B3B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n</a:t>
                      </a:r>
                    </a:p>
                  </a:txBody>
                  <a:tcPr anchor="ctr" marL="73152" marR="54864" marT="18288" marB="18288">
                    <a:solidFill>
                      <a:srgbClr val="0B3B47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G1</a:t>
                      </a:r>
                    </a:p>
                  </a:txBody>
                  <a:tcPr anchor="ctr" marL="73152" marR="54864" marT="18288" marB="18288">
                    <a:solidFill>
                      <a:srgbClr val="EEF4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Sham + 溶剂</a:t>
                      </a:r>
                    </a:p>
                  </a:txBody>
                  <a:tcPr anchor="ctr" marL="73152" marR="54864" marT="18288" marB="18288">
                    <a:solidFill>
                      <a:srgbClr val="EEF4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8</a:t>
                      </a:r>
                    </a:p>
                  </a:txBody>
                  <a:tcPr anchor="ctr" marL="73152" marR="54864" marT="18288" marB="18288">
                    <a:solidFill>
                      <a:srgbClr val="EEF4F5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G2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CKD + 溶剂(疾病对照)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10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G3</a:t>
                      </a:r>
                    </a:p>
                  </a:txBody>
                  <a:tcPr anchor="ctr" marL="73152" marR="54864" marT="18288" marB="18288">
                    <a:solidFill>
                      <a:srgbClr val="EEF4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CKD + 丙酸钠 低剂量</a:t>
                      </a:r>
                    </a:p>
                  </a:txBody>
                  <a:tcPr anchor="ctr" marL="73152" marR="54864" marT="18288" marB="18288">
                    <a:solidFill>
                      <a:srgbClr val="EEF4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10</a:t>
                      </a:r>
                    </a:p>
                  </a:txBody>
                  <a:tcPr anchor="ctr" marL="73152" marR="54864" marT="18288" marB="18288">
                    <a:solidFill>
                      <a:srgbClr val="EEF4F5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G4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CKD + 丙酸钠 高剂量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10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G5</a:t>
                      </a:r>
                    </a:p>
                  </a:txBody>
                  <a:tcPr anchor="ctr" marL="73152" marR="54864" marT="18288" marB="18288">
                    <a:solidFill>
                      <a:srgbClr val="EEF4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丙酸钠单独(毒性对照)</a:t>
                      </a:r>
                    </a:p>
                  </a:txBody>
                  <a:tcPr anchor="ctr" marL="73152" marR="54864" marT="18288" marB="18288">
                    <a:solidFill>
                      <a:srgbClr val="EEF4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6</a:t>
                      </a:r>
                    </a:p>
                  </a:txBody>
                  <a:tcPr anchor="ctr" marL="73152" marR="54864" marT="18288" marB="18288">
                    <a:solidFill>
                      <a:srgbClr val="EEF4F5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658368" y="5349240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B7A82"/>
                </a:solidFill>
                <a:latin typeface="PingFang SC"/>
                <a:ea typeface="PingFang SC"/>
                <a:cs typeface="PingFang SC"/>
              </a:rPr>
              <a:t>功效:micro-CT/肾功能主要终点,预期 d≈1.2–1.5 → n=10 达 80%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80760" y="2011680"/>
            <a:ext cx="5669280" cy="3657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C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27648" y="2103120"/>
            <a:ext cx="5212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E6F95"/>
                </a:solidFill>
                <a:latin typeface="PingFang SC"/>
                <a:ea typeface="PingFang SC"/>
                <a:cs typeface="PingFang SC"/>
              </a:rPr>
              <a:t>给药与终点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2487168"/>
            <a:ext cx="521208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B998B"/>
                </a:solidFill>
                <a:latin typeface="PingFang SC"/>
                <a:ea typeface="PingFang SC"/>
                <a:cs typeface="PingFang SC"/>
              </a:rPr>
              <a:t>丙酸钠  </a:t>
            </a:r>
            <a:r>
              <a:rPr sz="105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150–200 mM 自由饮水(或灌胃 1 g/kg/d)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1B998B"/>
                </a:solidFill>
                <a:latin typeface="PingFang SC"/>
                <a:ea typeface="PingFang SC"/>
                <a:cs typeface="PingFang SC"/>
              </a:rPr>
              <a:t>2-羟基苯乙酸  </a:t>
            </a:r>
            <a:r>
              <a:rPr sz="105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灌胃 10–50 mg/kg/d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1B998B"/>
                </a:solidFill>
                <a:latin typeface="PingFang SC"/>
                <a:ea typeface="PingFang SC"/>
                <a:cs typeface="PingFang SC"/>
              </a:rPr>
              <a:t>N-月桂酰乙醇胺  </a:t>
            </a:r>
            <a:r>
              <a:rPr sz="105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5–20 mg/kg/d,玉米油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时程  </a:t>
            </a:r>
            <a:r>
              <a:rPr sz="105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造模前 7 d 预给药 → 持续至第 14 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27648" y="3794760"/>
            <a:ext cx="52120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主要终点  </a:t>
            </a:r>
            <a:r>
              <a:rPr sz="105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肾功能(Scr/BUN/尿ACR)+ 肾组织 PAS/纤维化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次要  </a:t>
            </a:r>
            <a:r>
              <a:rPr sz="105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micro-CT 牙槽骨吸收;牙龈 IL-1β/IL-6/TNF-α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D9A441"/>
                </a:solidFill>
                <a:latin typeface="PingFang SC"/>
                <a:ea typeface="PingFang SC"/>
                <a:cs typeface="PingFang SC"/>
              </a:rPr>
              <a:t>靶点验证  </a:t>
            </a:r>
            <a:r>
              <a:rPr sz="105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LC-MS 测鼠唾液/尿/血清该代谢物是否回补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机制  </a:t>
            </a:r>
            <a:r>
              <a:rPr sz="105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GPR43(FFAR2)/HDAC;Treg-Th17 平衡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严谨性  </a:t>
            </a:r>
            <a:r>
              <a:rPr sz="105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随机化+盲评;笼效应;溶剂对照;IACUC 批件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5760720"/>
            <a:ext cx="82296" cy="548640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" y="5760720"/>
            <a:ext cx="110642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B998B"/>
                </a:solidFill>
                <a:latin typeface="PingFang SC"/>
                <a:ea typeface="PingFang SC"/>
                <a:cs typeface="PingFang SC"/>
              </a:rPr>
              <a:t>结论  </a:t>
            </a:r>
            <a:r>
              <a:rPr sz="130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本小鼠实验的目的:人群数据只能证明“丙酸随肾病降低”是相关,故用 CKD 小鼠补充丙酸钠检验其是否为因果(补回能否改善肾损伤);若要进一步夯实因果,可再加【耗竭臂】(清除产丙酸菌)看表型是否加重。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6304"/>
            <a:ext cx="182880" cy="914400"/>
          </a:xfrm>
          <a:prstGeom prst="rect">
            <a:avLst/>
          </a:prstGeom>
          <a:solidFill>
            <a:srgbClr val="2E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B998B"/>
                </a:solidFill>
                <a:latin typeface="PingFang SC"/>
                <a:ea typeface="PingFang SC"/>
                <a:cs typeface="PingFang SC"/>
              </a:rPr>
              <a:t>结论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0B3B47"/>
                </a:solidFill>
                <a:latin typeface="PingFang SC"/>
                <a:ea typeface="PingFang SC"/>
                <a:cs typeface="PingFang SC"/>
              </a:rPr>
              <a:t>主要发现与生物学解读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1908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B7A82"/>
                </a:solidFill>
                <a:latin typeface="PingFang SC"/>
                <a:ea typeface="PingFang SC"/>
                <a:cs typeface="PingFang SC"/>
              </a:rPr>
              <a:t>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371600"/>
            <a:ext cx="5532120" cy="2148840"/>
          </a:xfrm>
          <a:prstGeom prst="roundRect">
            <a:avLst/>
          </a:prstGeom>
          <a:solidFill>
            <a:srgbClr val="EE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371600"/>
            <a:ext cx="5532120" cy="109728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572768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B998B"/>
                </a:solidFill>
                <a:latin typeface="PingFang SC"/>
                <a:ea typeface="PingFang SC"/>
                <a:cs typeface="PingFang SC"/>
              </a:rPr>
              <a:t>③ 代谢组→代谢组：最强轴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011680"/>
            <a:ext cx="498348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• 群落级一致显著(Mantel 0.29, dbRDA R²=0.17)。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• RF 稳健预测大量尿液代谢物。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• 反映两体液共享系统循环代谢物。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371600"/>
            <a:ext cx="5532120" cy="2148840"/>
          </a:xfrm>
          <a:prstGeom prst="roundRect">
            <a:avLst/>
          </a:prstGeom>
          <a:solidFill>
            <a:srgbClr val="EE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371600"/>
            <a:ext cx="5532120" cy="109728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1572768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D9A441"/>
                </a:solidFill>
                <a:latin typeface="PingFang SC"/>
                <a:ea typeface="PingFang SC"/>
                <a:cs typeface="PingFang SC"/>
              </a:rPr>
              <a:t>② 微生物→代谢：局部关联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011680"/>
            <a:ext cx="498348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• 显著对(2373)远多于物种–物种层。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• 口腔菌影响远端代谢 &gt; 影响远端菌群。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• 印证“组成不必然决定功能”。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657600"/>
            <a:ext cx="5532120" cy="2148840"/>
          </a:xfrm>
          <a:prstGeom prst="roundRect">
            <a:avLst/>
          </a:prstGeom>
          <a:solidFill>
            <a:srgbClr val="EE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3657600"/>
            <a:ext cx="5532120" cy="109728"/>
          </a:xfrm>
          <a:prstGeom prst="rect">
            <a:avLst/>
          </a:prstGeom>
          <a:solidFill>
            <a:srgbClr val="2E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8952" y="3858768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E6F95"/>
                </a:solidFill>
                <a:latin typeface="PingFang SC"/>
                <a:ea typeface="PingFang SC"/>
                <a:cs typeface="PingFang SC"/>
              </a:rPr>
              <a:t>① 微生物→微生物：最弱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297680"/>
            <a:ext cx="498348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• 整体群落几乎不一致(Mantel≈0)。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• 口腔 vs 泌尿道 = 独立微生态系统。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• 仅个别物种弱关联。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3657600"/>
            <a:ext cx="5532120" cy="2148840"/>
          </a:xfrm>
          <a:prstGeom prst="roundRect">
            <a:avLst/>
          </a:prstGeom>
          <a:solidFill>
            <a:srgbClr val="EE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3657600"/>
            <a:ext cx="5532120" cy="10972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73952" y="3858768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④ 中介链：不显著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4297680"/>
            <a:ext cx="498348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• 120 条候选,FDR 校正后均不显著。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• 菌群耦合弱 → 无连贯中介通路。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• 与论文紧密口腔–肠道轴形成对照。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5943600"/>
            <a:ext cx="82296" cy="548640"/>
          </a:xfrm>
          <a:prstGeom prst="rect">
            <a:avLst/>
          </a:prstGeom>
          <a:solidFill>
            <a:srgbClr val="0B3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4088" y="5943600"/>
            <a:ext cx="109728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0B3B47"/>
                </a:solidFill>
                <a:latin typeface="PingFang SC"/>
                <a:ea typeface="PingFang SC"/>
                <a:cs typeface="PingFang SC"/>
              </a:rPr>
              <a:t>结论  </a:t>
            </a:r>
            <a:r>
              <a:rPr sz="130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唾液–尿液轴：微生物组弱耦合、代谢组强耦合 — 符合两体液经血液循环过滤连接(而非消化道连续)的生理学。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方法与参考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557784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7FE3D6"/>
                </a:solidFill>
                <a:latin typeface="PingFang SC"/>
                <a:ea typeface="PingFang SC"/>
                <a:cs typeface="PingFang SC"/>
              </a:rPr>
              <a:t>方法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DFEAEC"/>
                </a:solidFill>
                <a:latin typeface="PingFang SC"/>
                <a:ea typeface="PingFang SC"/>
                <a:cs typeface="PingFang SC"/>
              </a:rPr>
              <a:t>• 微生物组：物种水平;流行度+丰度联合过滤(≥5%样本&amp;RA&gt;0.01%);Bray-Curtis(一致性)、CLR(相关/RF)。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DFEAEC"/>
                </a:solidFill>
                <a:latin typeface="PingFang SC"/>
                <a:ea typeface="PingFang SC"/>
                <a:cs typeface="PingFang SC"/>
              </a:rPr>
              <a:t>• 代谢组：正+负离子合并，log2(x+1);z-score 欧氏距离;相关/RF 取方差前400。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DFEAEC"/>
                </a:solidFill>
                <a:latin typeface="PingFang SC"/>
                <a:ea typeface="PingFang SC"/>
                <a:cs typeface="PingFang SC"/>
              </a:rPr>
              <a:t>• 一致性：Mantel(Spearman)+Procrustes/protest(999置换)。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DFEAEC"/>
                </a:solidFill>
                <a:latin typeface="PingFang SC"/>
                <a:ea typeface="PingFang SC"/>
                <a:cs typeface="PingFang SC"/>
              </a:rPr>
              <a:t>• 方差解释：唾液端主坐标轴约束的 dbRDA(vegan::dbrda)。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DFEAEC"/>
                </a:solidFill>
                <a:latin typeface="PingFang SC"/>
                <a:ea typeface="PingFang SC"/>
                <a:cs typeface="PingFang SC"/>
              </a:rPr>
              <a:t>• 相关网络：Spearman |r|≥0.3 且 P&lt;0.05(并报 BH-FDR);igraph/ggraph。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DFEAEC"/>
                </a:solidFill>
                <a:latin typeface="PingFang SC"/>
                <a:ea typeface="PingFang SC"/>
                <a:cs typeface="PingFang SC"/>
              </a:rPr>
              <a:t>• 预测：RandomForest 5折交叉验证逐特征 R²。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DFEAEC"/>
                </a:solidFill>
                <a:latin typeface="PingFang SC"/>
                <a:ea typeface="PingFang SC"/>
                <a:cs typeface="PingFang SC"/>
              </a:rPr>
              <a:t>• 中介：mediation::mediate，校正年龄/性别/疾病组，FDR 控制。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325880"/>
            <a:ext cx="53949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7FE3D6"/>
                </a:solidFill>
                <a:latin typeface="PingFang SC"/>
                <a:ea typeface="PingFang SC"/>
                <a:cs typeface="PingFang SC"/>
              </a:rPr>
              <a:t>参考与产出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DFEAEC"/>
                </a:solidFill>
                <a:latin typeface="PingFang SC"/>
                <a:ea typeface="PingFang SC"/>
                <a:cs typeface="PingFang SC"/>
              </a:rPr>
              <a:t>Zhang J, et al. Cross-body site microbial interactions influence the human plasma metabolome. Microbiome. 2026;14:147.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600" b="0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/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8FC1DF"/>
                </a:solidFill>
                <a:latin typeface="PingFang SC"/>
                <a:ea typeface="PingFang SC"/>
                <a:cs typeface="PingFang SC"/>
              </a:rPr>
              <a:t>报告：GTDB_cross_site_multiomics.html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FE3E6"/>
                </a:solidFill>
                <a:latin typeface="PingFang SC"/>
                <a:ea typeface="PingFang SC"/>
                <a:cs typeface="PingFang SC"/>
              </a:rPr>
              <a:t>脚本：crossomics_helpers.R / GTDB_cross_site_multiomics.Rmd（参数化 db=GTDB）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FE3E6"/>
                </a:solidFill>
                <a:latin typeface="PingFang SC"/>
                <a:ea typeface="PingFang SC"/>
                <a:cs typeface="PingFang SC"/>
              </a:rPr>
              <a:t>结果表：crossomics/tables/*.csv  图：crossomics/figures/*.png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9893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9FBABE"/>
                </a:solidFill>
                <a:latin typeface="PingFang SC"/>
                <a:ea typeface="PingFang SC"/>
                <a:cs typeface="PingFang SC"/>
              </a:rPr>
              <a:t>局限：横断面、相对丰度、PD 组 n=6;中介为关联性解释,非因果。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