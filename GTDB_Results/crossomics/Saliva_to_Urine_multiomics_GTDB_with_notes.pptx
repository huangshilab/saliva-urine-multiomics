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7" r:id="rId3"/>
    <p:sldId id="268" r:id="rId4"/>
    <p:sldId id="258" r:id="rId5"/>
    <p:sldId id="270" r:id="rId6"/>
    <p:sldId id="271" r:id="rId7"/>
    <p:sldId id="272" r:id="rId8"/>
    <p:sldId id="273" r:id="rId9"/>
    <p:sldId id="259" r:id="rId10"/>
    <p:sldId id="260" r:id="rId11"/>
    <p:sldId id="261" r:id="rId12"/>
    <p:sldId id="262" r:id="rId13"/>
    <p:sldId id="263" r:id="rId14"/>
    <p:sldId id="269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81141"/>
  </p:normalViewPr>
  <p:slideViewPr>
    <p:cSldViewPr snapToGrid="0" snapToObjects="1">
      <p:cViewPr varScale="1">
        <p:scale>
          <a:sx n="100" d="100"/>
          <a:sy n="100" d="100"/>
        </p:scale>
        <p:origin x="928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icrosoft YaHei" panose="020B0503020204020204" pitchFamily="34" charset="-122"/>
              </a:defRPr>
            </a:lvl1pPr>
          </a:lstStyle>
          <a:p>
            <a:endParaRPr lang="en-C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icrosoft YaHei" panose="020B0503020204020204" pitchFamily="34" charset="-122"/>
              </a:defRPr>
            </a:lvl1pPr>
          </a:lstStyle>
          <a:p>
            <a:fld id="{5F849885-9914-F849-ABCC-A8B462B0CB87}" type="datetimeFigureOut">
              <a:rPr lang="en-CN" smtClean="0"/>
              <a:pPr/>
              <a:t>2026/6/8</a:t>
            </a:fld>
            <a:endParaRPr lang="en-C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icrosoft YaHei" panose="020B0503020204020204" pitchFamily="34" charset="-122"/>
              </a:defRPr>
            </a:lvl1pPr>
          </a:lstStyle>
          <a:p>
            <a:endParaRPr lang="en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icrosoft YaHei" panose="020B0503020204020204" pitchFamily="34" charset="-122"/>
              </a:defRPr>
            </a:lvl1pPr>
          </a:lstStyle>
          <a:p>
            <a:fld id="{70A2C26D-2D48-0441-85EA-27BE546773DE}" type="slidenum">
              <a:rPr lang="en-CN" smtClean="0"/>
              <a:pPr/>
              <a:t>‹#›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949506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今天讲的是我们这批牙周炎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–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糖尿病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–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肾病队列里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一个跨器官的多组学分析。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101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位受试者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每个人同时有唾液和尿液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各测了细菌和代谢物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一共四层数据。我们想问一个很临床的问题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嘴里的情况和尿里的情况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到底连不连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?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方法上我们借鉴了一篇 </a:t>
            </a:r>
            <a:r>
              <a:rPr 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Microbiome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上研究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口腔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–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肠道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–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代谢物轴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的文章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把它搬到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唾液→尿液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这个方向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2C26D-2D48-0441-85EA-27BE546773DE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20043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我先简单介绍一下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2026 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年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Microbiome 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上的这篇文章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,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上次开会黄老师提过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，它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第一次系统地看人体多个部位的菌群是怎么共同影响血浆代谢的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——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它在 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435 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个人身上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,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同时测了肠道、口腔、皮肤、鼻腔四个部位的菌群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,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加上血里 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800 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多种代谢物。</a:t>
            </a:r>
            <a:endParaRPr lang="en-US" altLang="ja-JP" sz="1200" b="0" i="0" kern="1200" dirty="0">
              <a:solidFill>
                <a:schemeClr val="tx1"/>
              </a:solidFill>
              <a:effectLst/>
              <a:latin typeface="Microsoft YaHei" panose="020B0503020204020204" pitchFamily="34" charset="-122"/>
              <a:ea typeface="+mn-ea"/>
              <a:cs typeface="+mn-cs"/>
            </a:endParaRPr>
          </a:p>
          <a:p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它用到了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PERMANOVA 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方差解释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、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机器学习预测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、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Spearman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相关网络和双向中介分析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Microsoft YaHei" panose="020B0503020204020204" pitchFamily="34" charset="-122"/>
              <a:ea typeface="+mn-ea"/>
              <a:cs typeface="+mn-cs"/>
            </a:endParaRPr>
          </a:p>
          <a:p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一共得到了四个关键结论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: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第一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,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四个部位的菌群加起来能解释血浆代谢三成的个体差异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,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其中肠道和口腔贡献最大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;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第二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,'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有什么菌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'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不等于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'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起什么作用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'——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口腔和肠道菌群长得很不一样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,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但跟代谢物的关系却很像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;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第三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,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也是最重要的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,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口腔和肠道之间存在协同互作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,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而且能画出一条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'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口腔→肠道→代谢物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'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的中介通路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;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第四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,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在胰岛素抵抗的人身上这条轴更活跃。</a:t>
            </a:r>
          </a:p>
          <a:p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我们这项研究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,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就是把它这套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'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跨体位轴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'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的思路和统计框架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,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搬到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'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唾液→尿液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'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这个方向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,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看口腔和泌尿系统之间是不是也有类似的连接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——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这就引出下一页我们的具体设计。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2C26D-2D48-0441-85EA-27BE546773DE}" type="slidenum">
              <a:rPr lang="en-CN" smtClean="0"/>
              <a:pPr/>
              <a:t>2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98778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设计很简单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都是从唾液这端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去看尿液那端。我们看四种关系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——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细菌对细菌、细菌对代谢物、代谢物对代谢物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最后再把三层串起来做一个中介链。每一种关系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我都用整体一致性、方差解释、特征相关网络、机器学习预测这一整套方法去量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后面会一种种展开。重点是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同一批人、同一套流程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只是换数据层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所以结果之间可以直接比。</a:t>
            </a:r>
            <a:endParaRPr lang="en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2C26D-2D48-0441-85EA-27BE546773DE}" type="slidenum">
              <a:rPr lang="en-CN" smtClean="0"/>
              <a:pPr/>
              <a:t>3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178633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我们用了四种互补的统计方法交叉验证。这四把尺子其实分两类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  <a:r>
              <a:rPr 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Mantel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和 </a:t>
            </a:r>
            <a:r>
              <a:rPr 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Procrustes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是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对称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的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问两边格局像不像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;</a:t>
            </a:r>
            <a:r>
              <a:rPr 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PERMANOVA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和 </a:t>
            </a:r>
            <a:r>
              <a:rPr lang="en-US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dbRDA</a:t>
            </a:r>
            <a:r>
              <a:rPr 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是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有方向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的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问唾液能解释尿液多少百分比。特别提醒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  <a:r>
              <a:rPr 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PERMANOVA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和 </a:t>
            </a:r>
            <a:r>
              <a:rPr lang="en-US" sz="1200" kern="1200" dirty="0" err="1">
                <a:solidFill>
                  <a:schemeClr val="tx1"/>
                </a:solidFill>
                <a:effectLst/>
                <a:ea typeface="+mn-ea"/>
                <a:cs typeface="+mn-cs"/>
              </a:rPr>
              <a:t>dbRDA</a:t>
            </a:r>
            <a:r>
              <a:rPr 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在数学上是同一个模型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所以它俩数字几乎一样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不能当成两个独立证据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——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这点我们特意标出来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避免过度解读。真正互相印证的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是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对称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和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有方向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这两类结论是否一致。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"</a:t>
            </a:r>
            <a:b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</a:br>
            <a:b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Mantel test (</a:t>
            </a:r>
            <a:r>
              <a:rPr lang="ja-JP" altLang="en-US" sz="1200" b="1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曼特尔检验</a:t>
            </a:r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Mantel $r$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：Mantel 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相关系数。它类似于我们熟知的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Pearson 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相关系数，衡量的是</a:t>
            </a:r>
            <a:r>
              <a:rPr lang="ja-JP" altLang="en-US" sz="1200" b="1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两个距离矩阵之间的线性相关程度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。</a:t>
            </a:r>
          </a:p>
          <a:p>
            <a:pPr lvl="1"/>
            <a:r>
              <a:rPr lang="ja-JP" altLang="en-US" b="1">
                <a:effectLst/>
              </a:rPr>
              <a:t>含义</a:t>
            </a:r>
            <a:r>
              <a:rPr lang="ja-JP" altLang="en-US">
                <a:effectLst/>
              </a:rPr>
              <a:t>：如果 </a:t>
            </a:r>
            <a:r>
              <a:rPr lang="en-US" altLang="ja-JP" dirty="0">
                <a:effectLst/>
              </a:rPr>
              <a:t>$</a:t>
            </a:r>
            <a:r>
              <a:rPr lang="en-US" dirty="0">
                <a:effectLst/>
              </a:rPr>
              <a:t>r &gt; 0$ </a:t>
            </a:r>
            <a:r>
              <a:rPr lang="ja-JP" altLang="en-US">
                <a:effectLst/>
              </a:rPr>
              <a:t>且 </a:t>
            </a:r>
            <a:r>
              <a:rPr lang="en-US" altLang="ja-JP" dirty="0">
                <a:effectLst/>
              </a:rPr>
              <a:t>$</a:t>
            </a:r>
            <a:r>
              <a:rPr lang="en-US" dirty="0">
                <a:effectLst/>
              </a:rPr>
              <a:t>P &lt; 0.05$，</a:t>
            </a:r>
            <a:r>
              <a:rPr lang="ja-JP" altLang="en-US">
                <a:effectLst/>
              </a:rPr>
              <a:t>说明两个矩阵正相关（例如：环境差异越大的样本，其菌群组成差异也越大，即“协同变异”）。</a:t>
            </a:r>
          </a:p>
          <a:p>
            <a:pPr lvl="1"/>
            <a:r>
              <a:rPr lang="ja-JP" altLang="en-US" b="1">
                <a:effectLst/>
              </a:rPr>
              <a:t>重要解读提醒（表格中已指出）</a:t>
            </a:r>
            <a:r>
              <a:rPr lang="ja-JP" altLang="en-US">
                <a:effectLst/>
              </a:rPr>
              <a:t>：由于生态学距离矩阵底层数据的复杂性，</a:t>
            </a:r>
            <a:r>
              <a:rPr lang="en-US" dirty="0">
                <a:effectLst/>
              </a:rPr>
              <a:t>Mantel $r$ </a:t>
            </a:r>
            <a:r>
              <a:rPr lang="ja-JP" altLang="en-US">
                <a:effectLst/>
              </a:rPr>
              <a:t>的绝对值</a:t>
            </a:r>
            <a:r>
              <a:rPr lang="ja-JP" altLang="en-US" b="1">
                <a:effectLst/>
              </a:rPr>
              <a:t>天然偏小</a:t>
            </a:r>
            <a:r>
              <a:rPr lang="ja-JP" altLang="en-US">
                <a:effectLst/>
              </a:rPr>
              <a:t>。不能用传统的 </a:t>
            </a:r>
            <a:r>
              <a:rPr lang="en-US" dirty="0">
                <a:effectLst/>
              </a:rPr>
              <a:t>Pearson </a:t>
            </a:r>
            <a:r>
              <a:rPr lang="ja-JP" altLang="en-US">
                <a:effectLst/>
              </a:rPr>
              <a:t>相关系数标准（如 </a:t>
            </a:r>
            <a:r>
              <a:rPr lang="en-US" altLang="ja-JP" dirty="0">
                <a:effectLst/>
              </a:rPr>
              <a:t>$</a:t>
            </a:r>
            <a:r>
              <a:rPr lang="en-US" dirty="0">
                <a:effectLst/>
              </a:rPr>
              <a:t>r &gt; 0.8$ </a:t>
            </a:r>
            <a:r>
              <a:rPr lang="ja-JP" altLang="en-US">
                <a:effectLst/>
              </a:rPr>
              <a:t>才算强相关）来衡量它。在微生态研究中，</a:t>
            </a:r>
            <a:r>
              <a:rPr lang="en-US" dirty="0">
                <a:effectLst/>
              </a:rPr>
              <a:t>Mantel $r$ </a:t>
            </a:r>
            <a:r>
              <a:rPr lang="ja-JP" altLang="en-US">
                <a:effectLst/>
              </a:rPr>
              <a:t>达到 </a:t>
            </a:r>
            <a:r>
              <a:rPr lang="en-US" altLang="ja-JP" dirty="0">
                <a:effectLst/>
              </a:rPr>
              <a:t>$0.2 \</a:t>
            </a:r>
            <a:r>
              <a:rPr lang="en-US" dirty="0">
                <a:effectLst/>
              </a:rPr>
              <a:t>sim 0.4$ </a:t>
            </a:r>
            <a:r>
              <a:rPr lang="ja-JP" altLang="en-US">
                <a:effectLst/>
              </a:rPr>
              <a:t>往往就已经代表了非常显著且具有生物学意义的相关性。</a:t>
            </a:r>
          </a:p>
          <a:p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2.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Procrustes (</a:t>
            </a:r>
            <a:r>
              <a:rPr lang="ja-JP" altLang="en-US" sz="1200" b="1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普氏分析</a:t>
            </a:r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)</a:t>
            </a:r>
          </a:p>
          <a:p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$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m^2$ (</a:t>
            </a:r>
            <a:r>
              <a:rPr lang="ja-JP" altLang="en-US" sz="1200" b="1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残差平方和</a:t>
            </a:r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)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：衡量两个排序图（如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PCoA 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图）在进行平移、缩放和旋转对齐后，对应样本点之间距离差异的总和。</a:t>
            </a:r>
          </a:p>
          <a:p>
            <a:pPr lvl="1"/>
            <a:r>
              <a:rPr lang="ja-JP" altLang="en-US" b="1">
                <a:effectLst/>
              </a:rPr>
              <a:t>含义</a:t>
            </a:r>
            <a:r>
              <a:rPr lang="ja-JP" altLang="en-US">
                <a:effectLst/>
              </a:rPr>
              <a:t>：</a:t>
            </a:r>
            <a:r>
              <a:rPr lang="en-US" altLang="ja-JP" dirty="0">
                <a:effectLst/>
              </a:rPr>
              <a:t>$</a:t>
            </a:r>
            <a:r>
              <a:rPr lang="en-US" dirty="0">
                <a:effectLst/>
              </a:rPr>
              <a:t>m^2$ </a:t>
            </a:r>
            <a:r>
              <a:rPr lang="ja-JP" altLang="en-US">
                <a:effectLst/>
              </a:rPr>
              <a:t>越小，说明两组数据（例如 </a:t>
            </a:r>
            <a:r>
              <a:rPr lang="en-US" altLang="ja-JP" dirty="0">
                <a:effectLst/>
              </a:rPr>
              <a:t>16</a:t>
            </a:r>
            <a:r>
              <a:rPr lang="en-US" dirty="0">
                <a:effectLst/>
              </a:rPr>
              <a:t>S </a:t>
            </a:r>
            <a:r>
              <a:rPr lang="ja-JP" altLang="en-US">
                <a:effectLst/>
              </a:rPr>
              <a:t>测序结果与代谢组学结果）的空间分布结构越一致。在 </a:t>
            </a:r>
            <a:r>
              <a:rPr lang="en-US" dirty="0">
                <a:effectLst/>
              </a:rPr>
              <a:t>Procrustes </a:t>
            </a:r>
            <a:r>
              <a:rPr lang="ja-JP" altLang="en-US">
                <a:effectLst/>
              </a:rPr>
              <a:t>重叠图中表现为连接同一样本的残差线段越短。</a:t>
            </a:r>
          </a:p>
          <a:p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$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r$ (Procrustes </a:t>
            </a:r>
            <a:r>
              <a:rPr lang="ja-JP" altLang="en-US" sz="1200" b="1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相关系数</a:t>
            </a:r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)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：由残差平方和转换而来，计算公式为 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$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r = \sqrt{1 - m^2}$。</a:t>
            </a:r>
          </a:p>
          <a:p>
            <a:pPr lvl="1"/>
            <a:r>
              <a:rPr lang="ja-JP" altLang="en-US" b="1">
                <a:effectLst/>
              </a:rPr>
              <a:t>含义</a:t>
            </a:r>
            <a:r>
              <a:rPr lang="ja-JP" altLang="en-US">
                <a:effectLst/>
              </a:rPr>
              <a:t>：</a:t>
            </a:r>
            <a:r>
              <a:rPr lang="en-US" altLang="ja-JP" dirty="0">
                <a:effectLst/>
              </a:rPr>
              <a:t>$</a:t>
            </a:r>
            <a:r>
              <a:rPr lang="en-US" dirty="0">
                <a:effectLst/>
              </a:rPr>
              <a:t>r$ </a:t>
            </a:r>
            <a:r>
              <a:rPr lang="ja-JP" altLang="en-US">
                <a:effectLst/>
              </a:rPr>
              <a:t>值介于 </a:t>
            </a:r>
            <a:r>
              <a:rPr lang="en-US" altLang="ja-JP" dirty="0">
                <a:effectLst/>
              </a:rPr>
              <a:t>0 </a:t>
            </a:r>
            <a:r>
              <a:rPr lang="ja-JP" altLang="en-US">
                <a:effectLst/>
              </a:rPr>
              <a:t>和 </a:t>
            </a:r>
            <a:r>
              <a:rPr lang="en-US" altLang="ja-JP" dirty="0">
                <a:effectLst/>
              </a:rPr>
              <a:t>1 </a:t>
            </a:r>
            <a:r>
              <a:rPr lang="ja-JP" altLang="en-US">
                <a:effectLst/>
              </a:rPr>
              <a:t>之间。越接近 </a:t>
            </a:r>
            <a:r>
              <a:rPr lang="en-US" altLang="ja-JP" dirty="0">
                <a:effectLst/>
              </a:rPr>
              <a:t>1</a:t>
            </a:r>
            <a:r>
              <a:rPr lang="ja-JP" altLang="en-US">
                <a:effectLst/>
              </a:rPr>
              <a:t>，代表两种多组学数据的构型拟合度、一致性越高。</a:t>
            </a:r>
          </a:p>
          <a:p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3.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PERMANOVA (</a:t>
            </a:r>
            <a:r>
              <a:rPr lang="ja-JP" altLang="en-US" sz="1200" b="1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基于置换的多变量方差分析</a:t>
            </a:r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pseudo-F (</a:t>
            </a:r>
            <a:r>
              <a:rPr lang="ja-JP" altLang="en-US" sz="1200" b="1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伪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F </a:t>
            </a:r>
            <a:r>
              <a:rPr lang="ja-JP" altLang="en-US" sz="1200" b="1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统计量</a:t>
            </a:r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)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：类比于传统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ANOVA 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中的 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$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F$ 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值，它是“组间方差”与“组内方差”的比值。</a:t>
            </a:r>
          </a:p>
          <a:p>
            <a:pPr lvl="1"/>
            <a:r>
              <a:rPr lang="ja-JP" altLang="en-US" b="1">
                <a:effectLst/>
              </a:rPr>
              <a:t>含义</a:t>
            </a:r>
            <a:r>
              <a:rPr lang="ja-JP" altLang="en-US">
                <a:effectLst/>
              </a:rPr>
              <a:t>：</a:t>
            </a:r>
            <a:r>
              <a:rPr lang="en-US" dirty="0">
                <a:effectLst/>
              </a:rPr>
              <a:t>pseudo-F </a:t>
            </a:r>
            <a:r>
              <a:rPr lang="ja-JP" altLang="en-US">
                <a:effectLst/>
              </a:rPr>
              <a:t>值越大，说明不同分组（例如患病组与健康组）之间的群落差异，远大于组内个体的随机差异。它是计算 </a:t>
            </a:r>
            <a:r>
              <a:rPr lang="en-US" altLang="ja-JP" dirty="0">
                <a:effectLst/>
              </a:rPr>
              <a:t>$</a:t>
            </a:r>
            <a:r>
              <a:rPr lang="en-US" dirty="0">
                <a:effectLst/>
              </a:rPr>
              <a:t>P$ </a:t>
            </a:r>
            <a:r>
              <a:rPr lang="ja-JP" altLang="en-US">
                <a:effectLst/>
              </a:rPr>
              <a:t>值的基础。</a:t>
            </a:r>
          </a:p>
          <a:p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$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R^2$ (R-squared, </a:t>
            </a:r>
            <a:r>
              <a:rPr lang="ja-JP" altLang="en-US" sz="1200" b="1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解释度 </a:t>
            </a:r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/ </a:t>
            </a:r>
            <a:r>
              <a:rPr lang="ja-JP" altLang="en-US" sz="1200" b="1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决定系数</a:t>
            </a:r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)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：</a:t>
            </a:r>
          </a:p>
          <a:p>
            <a:pPr lvl="1"/>
            <a:r>
              <a:rPr lang="ja-JP" altLang="en-US" b="1">
                <a:effectLst/>
              </a:rPr>
              <a:t>含义</a:t>
            </a:r>
            <a:r>
              <a:rPr lang="ja-JP" altLang="en-US">
                <a:effectLst/>
              </a:rPr>
              <a:t>：表示</a:t>
            </a:r>
            <a:r>
              <a:rPr lang="ja-JP" altLang="en-US" b="1">
                <a:effectLst/>
              </a:rPr>
              <a:t>分组因素（解释变量 </a:t>
            </a:r>
            <a:r>
              <a:rPr lang="en-US" altLang="ja-JP" b="1" dirty="0">
                <a:effectLst/>
              </a:rPr>
              <a:t>$</a:t>
            </a:r>
            <a:r>
              <a:rPr lang="en-US" b="1" dirty="0">
                <a:effectLst/>
              </a:rPr>
              <a:t>X$）</a:t>
            </a:r>
            <a:r>
              <a:rPr lang="ja-JP" altLang="en-US" b="1">
                <a:effectLst/>
              </a:rPr>
              <a:t>解释了群落总变异（响应变量 </a:t>
            </a:r>
            <a:r>
              <a:rPr lang="en-US" altLang="ja-JP" b="1" dirty="0">
                <a:effectLst/>
              </a:rPr>
              <a:t>$</a:t>
            </a:r>
            <a:r>
              <a:rPr lang="en-US" b="1" dirty="0">
                <a:effectLst/>
              </a:rPr>
              <a:t>Y$）</a:t>
            </a:r>
            <a:r>
              <a:rPr lang="ja-JP" altLang="en-US" b="1">
                <a:effectLst/>
              </a:rPr>
              <a:t>的百分之多少</a:t>
            </a:r>
            <a:r>
              <a:rPr lang="ja-JP" altLang="en-US">
                <a:effectLst/>
              </a:rPr>
              <a:t>。例如 </a:t>
            </a:r>
            <a:r>
              <a:rPr lang="en-US" altLang="ja-JP" dirty="0">
                <a:effectLst/>
              </a:rPr>
              <a:t>$</a:t>
            </a:r>
            <a:r>
              <a:rPr lang="en-US" dirty="0">
                <a:effectLst/>
              </a:rPr>
              <a:t>R^2 = 0.15$，</a:t>
            </a:r>
            <a:r>
              <a:rPr lang="ja-JP" altLang="en-US">
                <a:effectLst/>
              </a:rPr>
              <a:t>意味着疾病状态这个分组变量，解释了 </a:t>
            </a:r>
            <a:r>
              <a:rPr lang="en-US" altLang="ja-JP" dirty="0">
                <a:effectLst/>
              </a:rPr>
              <a:t>15% </a:t>
            </a:r>
            <a:r>
              <a:rPr lang="ja-JP" altLang="en-US">
                <a:effectLst/>
              </a:rPr>
              <a:t>的菌群结构变化。</a:t>
            </a:r>
          </a:p>
          <a:p>
            <a:pPr lvl="1"/>
            <a:r>
              <a:rPr lang="ja-JP" altLang="en-US" b="1">
                <a:effectLst/>
              </a:rPr>
              <a:t>解读提醒</a:t>
            </a:r>
            <a:r>
              <a:rPr lang="ja-JP" altLang="en-US">
                <a:effectLst/>
              </a:rPr>
              <a:t>：表格中提到“</a:t>
            </a:r>
            <a:r>
              <a:rPr lang="en-US" altLang="ja-JP" dirty="0">
                <a:effectLst/>
              </a:rPr>
              <a:t>$</a:t>
            </a:r>
            <a:r>
              <a:rPr lang="en-US" dirty="0">
                <a:effectLst/>
              </a:rPr>
              <a:t>R^2$ </a:t>
            </a:r>
            <a:r>
              <a:rPr lang="ja-JP" altLang="en-US">
                <a:effectLst/>
              </a:rPr>
              <a:t>随预测变量数虚高”。这意味着如果你在模型里塞入非常多的环境变量，</a:t>
            </a:r>
            <a:r>
              <a:rPr lang="en-US" altLang="ja-JP" dirty="0">
                <a:effectLst/>
              </a:rPr>
              <a:t>$</a:t>
            </a:r>
            <a:r>
              <a:rPr lang="en-US" dirty="0">
                <a:effectLst/>
              </a:rPr>
              <a:t>R^2$ </a:t>
            </a:r>
            <a:r>
              <a:rPr lang="ja-JP" altLang="en-US">
                <a:effectLst/>
              </a:rPr>
              <a:t>会强行变大。因此在实际发文时，常常需要关注</a:t>
            </a:r>
            <a:r>
              <a:rPr lang="ja-JP" altLang="en-US" b="1">
                <a:effectLst/>
              </a:rPr>
              <a:t>校正后的 </a:t>
            </a:r>
            <a:r>
              <a:rPr lang="en-US" altLang="ja-JP" b="1" dirty="0">
                <a:effectLst/>
              </a:rPr>
              <a:t>$</a:t>
            </a:r>
            <a:r>
              <a:rPr lang="en-US" b="1" dirty="0">
                <a:effectLst/>
              </a:rPr>
              <a:t>R^2$ (Adjusted $R^2$)</a:t>
            </a:r>
            <a:r>
              <a:rPr lang="en-US" dirty="0">
                <a:effectLst/>
              </a:rPr>
              <a:t>。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4.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dbRDA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 (</a:t>
            </a:r>
            <a:r>
              <a:rPr lang="ja-JP" altLang="en-US" sz="1200" b="1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基于距离的冗余分析</a:t>
            </a:r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)</a:t>
            </a:r>
          </a:p>
          <a:p>
            <a:r>
              <a:rPr lang="ja-JP" altLang="en-US" sz="1200" b="1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约束 </a:t>
            </a:r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$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R^2$ (Constrained $R^2$)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：</a:t>
            </a:r>
          </a:p>
          <a:p>
            <a:pPr lvl="1"/>
            <a:r>
              <a:rPr lang="ja-JP" altLang="en-US" b="1">
                <a:effectLst/>
              </a:rPr>
              <a:t>含义</a:t>
            </a:r>
            <a:r>
              <a:rPr lang="ja-JP" altLang="en-US">
                <a:effectLst/>
              </a:rPr>
              <a:t>：指你的环境因子（解释变量矩阵）严格约束（解释）的那部分群落方差比例。它告诉你：“我所测量的这些环境指标（如 </a:t>
            </a:r>
            <a:r>
              <a:rPr lang="en-US" dirty="0">
                <a:effectLst/>
              </a:rPr>
              <a:t>pH、</a:t>
            </a:r>
            <a:r>
              <a:rPr lang="ja-JP" altLang="en-US">
                <a:effectLst/>
              </a:rPr>
              <a:t>温度等），到底决定了整个群落波动的百分之几”。</a:t>
            </a:r>
          </a:p>
          <a:p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$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F$ (F </a:t>
            </a:r>
            <a:r>
              <a:rPr lang="ja-JP" altLang="en-US" sz="1200" b="1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统计量</a:t>
            </a:r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)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：用于检验整个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dbRDA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 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模型或单独某个环境变量约束轴的显著性。</a:t>
            </a:r>
          </a:p>
          <a:p>
            <a:r>
              <a:rPr lang="ja-JP" altLang="en-US" sz="1200" b="1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轴 </a:t>
            </a:r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Axes，</a:t>
            </a:r>
            <a:r>
              <a:rPr lang="ja-JP" altLang="en-US" sz="1200" b="1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如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RDA1, RDA2)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：</a:t>
            </a:r>
          </a:p>
          <a:p>
            <a:pPr lvl="1"/>
            <a:r>
              <a:rPr lang="ja-JP" altLang="en-US" b="1">
                <a:effectLst/>
              </a:rPr>
              <a:t>含义</a:t>
            </a:r>
            <a:r>
              <a:rPr lang="ja-JP" altLang="en-US">
                <a:effectLst/>
              </a:rPr>
              <a:t>：</a:t>
            </a:r>
            <a:r>
              <a:rPr lang="en-US" dirty="0" err="1">
                <a:effectLst/>
              </a:rPr>
              <a:t>dbRDA</a:t>
            </a:r>
            <a:r>
              <a:rPr lang="en-US" dirty="0">
                <a:effectLst/>
              </a:rPr>
              <a:t> </a:t>
            </a:r>
            <a:r>
              <a:rPr lang="ja-JP" altLang="en-US">
                <a:effectLst/>
              </a:rPr>
              <a:t>是约束性排序，输出的“轴”代表了最大程度提取出的、由环境变量驱动的群落变化梯度。在画 </a:t>
            </a:r>
            <a:r>
              <a:rPr lang="en-US" dirty="0" err="1">
                <a:effectLst/>
              </a:rPr>
              <a:t>Triplot</a:t>
            </a:r>
            <a:r>
              <a:rPr lang="en-US" dirty="0">
                <a:effectLst/>
              </a:rPr>
              <a:t>（</a:t>
            </a:r>
            <a:r>
              <a:rPr lang="ja-JP" altLang="en-US">
                <a:effectLst/>
              </a:rPr>
              <a:t>三序图）时，坐标轴通常会标出每个轴解释的变异比例（如 </a:t>
            </a:r>
            <a:r>
              <a:rPr lang="en-US" dirty="0">
                <a:effectLst/>
              </a:rPr>
              <a:t>RDA1: 18.5%）。</a:t>
            </a:r>
            <a:r>
              <a:rPr lang="ja-JP" altLang="en-US">
                <a:effectLst/>
              </a:rPr>
              <a:t>通过分析样本点在这些轴上的坐标，可以直观看出哪些环境变量是导致群落失调的主要驱动力。</a:t>
            </a:r>
          </a:p>
          <a:p>
            <a:br>
              <a:rPr lang="ja-JP" altLang="en-US"/>
            </a:b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2C26D-2D48-0441-85EA-27BE546773DE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07120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69DB0-17A5-C1AB-6372-8C3A2A321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C878C6-85A3-0C22-54D2-818611A99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1A415-2894-B389-EE5A-0E3F1A863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69106-0E6E-8439-64A1-FE69DEE75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2C26D-2D48-0441-85EA-27BE546773D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58262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40B03-2FE2-58C0-3097-CD74E6886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ECDD3-1136-8946-EEB1-8DDE8BD9A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0E4F7-C2F9-BD7B-3723-B5AB947CD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就像是将一张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X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光片和一张临床照片重叠，看病灶位置是否重合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4B2DB-A7CC-A6E0-E77B-810F467B1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2C26D-2D48-0441-85EA-27BE546773D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25393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A640B-5243-985E-5BDB-830ECAB13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FF90EE-6282-5501-EE35-393E435A2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C972E-2662-9DED-469F-1E8ED5905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ACA7B-051C-4F20-5C6A-30C039410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2C26D-2D48-0441-85EA-27BE546773D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80987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C2F4B-7084-CF91-CE5D-D43E63B1F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39A7C0-5658-E917-24C1-A52ADBC0E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AC71C-1FAE-AB2D-29E8-672E2E4BF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216FD-7472-EA6B-3848-CEF05D5FF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2C26D-2D48-0441-85EA-27BE546773D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34116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这页是全场的地图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后面就是把它拆开讲。一句话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耦合强度从强到弱是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——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代谢对代谢 远大于 细菌对代谢 大于 细菌对细菌。你看最右边那组柱子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(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代谢对代谢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)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明显最高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;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左边两组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(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跟细菌有关的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)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都很矮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机器学习预测的 </a:t>
            </a:r>
            <a:r>
              <a:rPr 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R²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甚至是负的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意味着用口腔细菌基本猜不动尿液。结论就是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跨体液的信号主要在代谢层面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不在细菌层面。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2C26D-2D48-0441-85EA-27BE546773DE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08092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第一个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口腔菌群对泌尿道菌群。四把尺子全都不显著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——</a:t>
            </a:r>
            <a:r>
              <a:rPr 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Mantel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几乎是零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PERMANOVA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也不显著。直白说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嘴里有什么菌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跟尿里有什么菌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基本没关系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两边是相对独立的两个生态系统。中间网络图上那些连线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是未做严格校正的弱相关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经多重检验校正后一条都不剩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所以我不会强调它们。这和论文里口腔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–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肠道沿消化道紧密相连正好相反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——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很合理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因为口腔和泌尿道之间并没有直接通道。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2C26D-2D48-0441-85EA-27BE546773DE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01586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第一个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口腔菌群对尿液代谢组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。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这里出现了两类方法不一致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对称的 </a:t>
            </a:r>
            <a:r>
              <a:rPr 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Mantel/Procrustes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不显著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但有方向的 </a:t>
            </a:r>
            <a:r>
              <a:rPr 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PERMANOVA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显著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R²≈10%。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怎么理解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?——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不是整体格局对齐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而是少数几个口腔细菌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单独就能解释一部分尿液代谢的差异。也就是说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口腔菌可能更多是通过影响全身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代谢功能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而不是通过改变远端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菌群组成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来起作用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——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这正是微生物领域常说的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谁在场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不等于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干了什么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。这个 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10%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后面第 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9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页我会用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每个细菌单独贡献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再拆给你看。</a:t>
            </a:r>
            <a:endParaRPr lang="en-US" altLang="ja-JP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br>
              <a:rPr lang="ja-JP" altLang="en-US"/>
            </a:b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(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被追问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为什么两类方法打架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时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:) "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对称方法要求整体排布吻合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门槛高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;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有方向方法只要有一小撮特征稳定相关就能显著。两者不一致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恰恰说明信号是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局部、由少数特征驱动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的。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2C26D-2D48-0441-85EA-27BE546773DE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76491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第三个是全场最强的结果。唾液代谢组和尿液代谢组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——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四把尺子全部显著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机器学习能从唾液代谢稳健地预测尿液里大约 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70%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的代谢物。换句话说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两种体液的小分子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指纹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是高度同步的。原因很直观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唾液和尿液都跟血液相通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很多代谢物本来就是全身循环里共享的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血里高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唾液和尿里都跟着高。所以如果未来想用唾液这种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无创样本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去反映全身代谢状态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代谢组是最有希望的切入点。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2C26D-2D48-0441-85EA-27BE546773DE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279043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这一页我们做了一个更进阶的因果链分析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叫中介分析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大家在流行病学里很熟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——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就像问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牙周炎对动脉的影响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有多少是通过炎症这个中间环节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。我们把三层数据串成一条链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口腔细菌 → 通过泌尿道细菌 → 影响尿液代谢物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想看这条机制通路成不成立。</a:t>
            </a:r>
          </a:p>
          <a:p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我们没有盲目穷举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而是只挑前两环各自先有显著相关的链路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排序取前 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120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条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逐条用回归建模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还控制了年龄、性别和疾病分组。</a:t>
            </a:r>
          </a:p>
          <a:p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结果是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:120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条链路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校正后没有一条显著。哪怕最强的一条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间接效应也不显著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而且直接通路和间接通路方向相反、中介比例是负的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——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这在统计上就是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没有真正中介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的典型表现。</a:t>
            </a:r>
          </a:p>
          <a:p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为什么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?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因为这条链的第一环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——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口腔菌和泌尿菌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——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本来就几乎不相关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(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就是前面第五页那个结论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)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。第一环断了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整条链就搭不起来。 所以这是一个有价值的阴性结果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它帮我们排除了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细菌接力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这种机制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把真正的跨体液信号锁定在了代谢层面。当然要强调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这是横断面数据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我们讲的是关联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不是因果。</a:t>
            </a:r>
            <a:endParaRPr lang="en-US" altLang="ja-JP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en-US" altLang="ja-JP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en-US" altLang="ja-JP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ACME = Average Causal Mediation Effect = 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平均因果中介效应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,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就是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X 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对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Y 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的影响中经过中介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M 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的那部分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(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间接效应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)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。</a:t>
            </a:r>
          </a:p>
          <a:p>
            <a:pPr lvl="1"/>
            <a:r>
              <a:rPr lang="ja-JP" altLang="en-US" b="0" i="0">
                <a:effectLst/>
              </a:rPr>
              <a:t>本研究里 </a:t>
            </a:r>
            <a:r>
              <a:rPr lang="en-US" altLang="ja-JP" b="0" i="0" dirty="0">
                <a:effectLst/>
              </a:rPr>
              <a:t>= </a:t>
            </a:r>
            <a:r>
              <a:rPr lang="ja-JP" altLang="en-US" b="0" i="0">
                <a:effectLst/>
              </a:rPr>
              <a:t>「唾液菌 → 尿代谢物」这条影响中</a:t>
            </a:r>
            <a:r>
              <a:rPr lang="en-US" altLang="ja-JP" b="0" i="0" dirty="0">
                <a:effectLst/>
              </a:rPr>
              <a:t>,</a:t>
            </a:r>
            <a:r>
              <a:rPr lang="ja-JP" altLang="en-US" b="0" i="0">
                <a:effectLst/>
              </a:rPr>
              <a:t>绕道经过</a:t>
            </a:r>
            <a:r>
              <a:rPr lang="en-US" altLang="ja-JP" b="0" i="0" dirty="0">
                <a:effectLst/>
              </a:rPr>
              <a:t>"</a:t>
            </a:r>
            <a:r>
              <a:rPr lang="ja-JP" altLang="en-US" b="0" i="0">
                <a:effectLst/>
              </a:rPr>
              <a:t>尿液菌</a:t>
            </a:r>
            <a:r>
              <a:rPr lang="en-US" altLang="ja-JP" b="0" i="0" dirty="0">
                <a:effectLst/>
              </a:rPr>
              <a:t>"</a:t>
            </a:r>
            <a:r>
              <a:rPr lang="ja-JP" altLang="en-US" b="0" i="0">
                <a:effectLst/>
              </a:rPr>
              <a:t>实现的那一部分。</a:t>
            </a:r>
          </a:p>
          <a:p>
            <a:pPr lvl="1"/>
            <a:r>
              <a:rPr lang="ja-JP" altLang="en-US" b="0" i="0">
                <a:effectLst/>
              </a:rPr>
              <a:t>数学上 </a:t>
            </a:r>
            <a:r>
              <a:rPr lang="en-US" b="0" i="0" dirty="0">
                <a:effectLst/>
              </a:rPr>
              <a:t>ACME ≈ </a:t>
            </a:r>
            <a:r>
              <a:rPr lang="en-US" b="0" i="0" dirty="0" err="1">
                <a:effectLst/>
              </a:rPr>
              <a:t>a×b</a:t>
            </a:r>
            <a:r>
              <a:rPr lang="en-US" b="0" i="0" dirty="0">
                <a:effectLst/>
              </a:rPr>
              <a:t>(a </a:t>
            </a:r>
            <a:r>
              <a:rPr lang="ja-JP" altLang="en-US" b="0" i="0">
                <a:effectLst/>
              </a:rPr>
              <a:t>是 </a:t>
            </a:r>
            <a:r>
              <a:rPr lang="en-US" b="0" i="0" dirty="0">
                <a:effectLst/>
              </a:rPr>
              <a:t>X→M </a:t>
            </a:r>
            <a:r>
              <a:rPr lang="ja-JP" altLang="en-US" b="0" i="0">
                <a:effectLst/>
              </a:rPr>
              <a:t>的强度</a:t>
            </a:r>
            <a:r>
              <a:rPr lang="en-US" altLang="ja-JP" b="0" i="0" dirty="0">
                <a:effectLst/>
              </a:rPr>
              <a:t>,</a:t>
            </a:r>
            <a:r>
              <a:rPr lang="en-US" b="0" i="0" dirty="0">
                <a:effectLst/>
              </a:rPr>
              <a:t>b </a:t>
            </a:r>
            <a:r>
              <a:rPr lang="ja-JP" altLang="en-US" b="0" i="0">
                <a:effectLst/>
              </a:rPr>
              <a:t>是 </a:t>
            </a:r>
            <a:r>
              <a:rPr lang="en-US" b="0" i="0" dirty="0">
                <a:effectLst/>
              </a:rPr>
              <a:t>M→Y </a:t>
            </a:r>
            <a:r>
              <a:rPr lang="ja-JP" altLang="en-US" b="0" i="0">
                <a:effectLst/>
              </a:rPr>
              <a:t>的强度</a:t>
            </a:r>
            <a:r>
              <a:rPr lang="en-US" altLang="ja-JP" b="0" i="0" dirty="0">
                <a:effectLst/>
              </a:rPr>
              <a:t>)</a:t>
            </a:r>
            <a:r>
              <a:rPr lang="ja-JP" altLang="en-US" b="0" i="0">
                <a:effectLst/>
              </a:rPr>
              <a:t>。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ACME P = 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对这个间接效应做的显著性检验的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P 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值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,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检验的原假设是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"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间接效应 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= 0"</a:t>
            </a:r>
            <a:r>
              <a:rPr lang="ja-JP" altLang="en-US" sz="1200" b="0" i="0" kern="120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+mn-ea"/>
                <a:cs typeface="+mn-cs"/>
              </a:rPr>
              <a:t>。</a:t>
            </a:r>
          </a:p>
          <a:p>
            <a:pPr lvl="1"/>
            <a:r>
              <a:rPr lang="en-US" b="0" i="0" dirty="0">
                <a:effectLst/>
              </a:rPr>
              <a:t>P &lt; 0.05 → </a:t>
            </a:r>
            <a:r>
              <a:rPr lang="ja-JP" altLang="en-US" b="0" i="0">
                <a:effectLst/>
              </a:rPr>
              <a:t>间接效应显著不为零 → 有证据支持</a:t>
            </a:r>
            <a:r>
              <a:rPr lang="en-US" altLang="ja-JP" b="0" i="0" dirty="0">
                <a:effectLst/>
              </a:rPr>
              <a:t>"</a:t>
            </a:r>
            <a:r>
              <a:rPr lang="en-US" b="0" i="0" dirty="0">
                <a:effectLst/>
              </a:rPr>
              <a:t>X </a:t>
            </a:r>
            <a:r>
              <a:rPr lang="ja-JP" altLang="en-US" b="0" i="0">
                <a:effectLst/>
              </a:rPr>
              <a:t>通过 </a:t>
            </a:r>
            <a:r>
              <a:rPr lang="en-US" b="0" i="0" dirty="0">
                <a:effectLst/>
              </a:rPr>
              <a:t>M </a:t>
            </a:r>
            <a:r>
              <a:rPr lang="ja-JP" altLang="en-US" b="0" i="0">
                <a:effectLst/>
              </a:rPr>
              <a:t>影响 </a:t>
            </a:r>
            <a:r>
              <a:rPr lang="en-US" b="0" i="0" dirty="0">
                <a:effectLst/>
              </a:rPr>
              <a:t>Y"</a:t>
            </a:r>
            <a:r>
              <a:rPr lang="ja-JP" altLang="en-US" b="0" i="0">
                <a:effectLst/>
              </a:rPr>
              <a:t>这条中介通路成立。</a:t>
            </a:r>
          </a:p>
          <a:p>
            <a:pPr lvl="1"/>
            <a:r>
              <a:rPr lang="en-US" b="0" i="0" dirty="0">
                <a:effectLst/>
              </a:rPr>
              <a:t>P ≥ 0.05 → </a:t>
            </a:r>
            <a:r>
              <a:rPr lang="ja-JP" altLang="en-US" b="0" i="0">
                <a:effectLst/>
              </a:rPr>
              <a:t>不显著 → 不能认为存在中介</a:t>
            </a:r>
            <a:r>
              <a:rPr lang="en-US" altLang="ja-JP" b="0" i="0" dirty="0">
                <a:effectLst/>
              </a:rPr>
              <a:t>(</a:t>
            </a:r>
            <a:r>
              <a:rPr lang="ja-JP" altLang="en-US" b="0" i="0">
                <a:effectLst/>
              </a:rPr>
              <a:t>这条</a:t>
            </a:r>
            <a:r>
              <a:rPr lang="en-US" altLang="ja-JP" b="0" i="0" dirty="0">
                <a:effectLst/>
              </a:rPr>
              <a:t>"</a:t>
            </a:r>
            <a:r>
              <a:rPr lang="ja-JP" altLang="en-US" b="0" i="0">
                <a:effectLst/>
              </a:rPr>
              <a:t>绕道</a:t>
            </a:r>
            <a:r>
              <a:rPr lang="en-US" altLang="ja-JP" b="0" i="0" dirty="0">
                <a:effectLst/>
              </a:rPr>
              <a:t>"</a:t>
            </a:r>
            <a:r>
              <a:rPr lang="ja-JP" altLang="en-US" b="0" i="0">
                <a:effectLst/>
              </a:rPr>
              <a:t>可能就是零</a:t>
            </a:r>
            <a:r>
              <a:rPr lang="en-US" altLang="ja-JP" b="0" i="0" dirty="0">
                <a:effectLst/>
              </a:rPr>
              <a:t>/</a:t>
            </a:r>
            <a:r>
              <a:rPr lang="ja-JP" altLang="en-US" b="0" i="0">
                <a:effectLst/>
              </a:rPr>
              <a:t>噪声</a:t>
            </a:r>
            <a:r>
              <a:rPr lang="en-US" altLang="ja-JP" b="0" i="0" dirty="0">
                <a:effectLst/>
              </a:rPr>
              <a:t>)</a:t>
            </a:r>
            <a:r>
              <a:rPr lang="ja-JP" altLang="en-US" b="0" i="0">
                <a:effectLst/>
              </a:rPr>
              <a:t>。</a:t>
            </a:r>
          </a:p>
          <a:p>
            <a:br>
              <a:rPr lang="ja-JP" altLang="en-US"/>
            </a:br>
            <a:endParaRPr lang="ja-JP" altLang="en-US" sz="1200" kern="1200">
              <a:solidFill>
                <a:schemeClr val="tx1"/>
              </a:solidFill>
              <a:effectLst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2C26D-2D48-0441-85EA-27BE546773DE}" type="slidenum">
              <a:rPr lang="en-CN" smtClean="0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20094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这页是把前面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PERMANOVA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test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R</a:t>
            </a:r>
            <a:r>
              <a:rPr lang="en-US" altLang="zh-CN" sz="1200" kern="1200" baseline="30000" dirty="0">
                <a:solidFill>
                  <a:schemeClr val="tx1"/>
                </a:solidFill>
                <a:effectLst/>
                <a:ea typeface="+mn-ea"/>
                <a:cs typeface="+mn-cs"/>
              </a:rPr>
              <a:t>2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拆开看。我们对每一个口腔特征单独算它能解释尿液多少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——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做成直方图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三张图横轴统一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方便比。两个信息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第一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几乎每个特征单独的贡献都很小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大多 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2%–5%,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没有哪个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一锤定音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';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第二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代谢物那层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(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最下面一张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)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显著特征有 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700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多个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远多于细菌的几十个。所以跨体液关系是**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人多力量大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'——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很多小贡献者凑出来的**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而代谢层既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人多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又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力量稍大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是最强轴。</a:t>
            </a:r>
            <a:endParaRPr lang="en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2C26D-2D48-0441-85EA-27BE546773DE}" type="slidenum">
              <a:rPr lang="en-CN" smtClean="0"/>
              <a:pPr/>
              <a:t>14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1338032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我们可以得到四个结论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一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细菌跟细菌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两边基本独立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;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二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口腔细菌跟尿液代谢有局部、可解释的关联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提示影响的是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功能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而非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菌群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';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三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代谢跟代谢高度同步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是最强的跨体液轴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;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四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三层中介链不成立。 </a:t>
            </a:r>
            <a:endParaRPr lang="en-US" altLang="ja-JP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总而言之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口腔和泌尿之间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,'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细菌不互通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但代谢相连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'——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这跟解剖生理也对得上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两者没有直接的菌群通道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但共享血液循环。对临床的提示是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想用唾液无创地反映全身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/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泌尿代谢状态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代谢组比菌群更靠谱。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2C26D-2D48-0441-85EA-27BE546773DE}" type="slidenum">
              <a:rPr lang="en-CN" smtClean="0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559419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这里是我们用到的具体方法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。这个项目主要有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三个局限性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:</a:t>
            </a:r>
          </a:p>
          <a:p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一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这是横断面数据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只能讲相关、不能讲因果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;</a:t>
            </a:r>
          </a:p>
          <a:p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二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样本量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尤其 </a:t>
            </a:r>
            <a:r>
              <a:rPr 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PD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组只有 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6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例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小亚组结论要谨慎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;</a:t>
            </a:r>
          </a:p>
          <a:p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三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我们用到的数据是相对丰度。</a:t>
            </a:r>
            <a:endParaRPr lang="en-US" altLang="ja-JP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全部分析脚本和结果表都可复现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我们 </a:t>
            </a:r>
            <a:r>
              <a:rPr 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GTDB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和 </a:t>
            </a:r>
            <a:r>
              <a:rPr 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HROM 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两套数据库都跑过</a:t>
            </a:r>
            <a:r>
              <a:rPr lang="en-US" altLang="ja-JP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,</a:t>
            </a:r>
            <a:r>
              <a:rPr lang="ja-JP" altLang="en-US" sz="1200" kern="1200">
                <a:solidFill>
                  <a:schemeClr val="tx1"/>
                </a:solidFill>
                <a:effectLst/>
                <a:ea typeface="+mn-ea"/>
                <a:cs typeface="+mn-cs"/>
              </a:rPr>
              <a:t>结论一致。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2C26D-2D48-0441-85EA-27BE546773DE}" type="slidenum">
              <a:rPr lang="en-CN" smtClean="0"/>
              <a:t>16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3002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</a:defRPr>
            </a:lvl1pPr>
          </a:lstStyle>
          <a:p>
            <a:fld id="{5BCAD085-E8A6-8845-BD4E-CB4CCA059FC4}" type="datetimeFigureOut">
              <a:rPr lang="en-US" smtClean="0"/>
              <a:pPr/>
              <a:t>6/8/26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0" i="0" kern="1200">
          <a:solidFill>
            <a:schemeClr val="tx1"/>
          </a:solidFill>
          <a:latin typeface="Microsoft YaHei" panose="020B0503020204020204" pitchFamily="34" charset="-122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Microsoft YaHei" panose="020B0503020204020204" pitchFamily="34" charset="-122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Microsoft YaHei" panose="020B0503020204020204" pitchFamily="34" charset="-122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Microsoft YaHei" panose="020B0503020204020204" pitchFamily="34" charset="-122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Microsoft YaHei" panose="020B0503020204020204" pitchFamily="34" charset="-122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Microsoft YaHei" panose="020B0503020204020204" pitchFamily="34" charset="-122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dirty="0" err="1">
                <a:solidFill>
                  <a:srgbClr val="6FD0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跨体液多组学整合</a:t>
            </a:r>
            <a:r>
              <a:rPr sz="1400" dirty="0">
                <a:solidFill>
                  <a:srgbClr val="6FD0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 ·  Cross‑body‑site Multi‑omics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881360" cy="1134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唾液</a:t>
            </a:r>
            <a:r>
              <a:rPr sz="40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→ </a:t>
            </a:r>
            <a:r>
              <a:rPr sz="40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尿液</a:t>
            </a:r>
            <a:r>
              <a:rPr sz="40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跨位点关联分析</a:t>
            </a:r>
            <a:endParaRPr sz="40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dirty="0" err="1">
                <a:solidFill>
                  <a:srgbClr val="8FC1D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微生物组</a:t>
            </a:r>
            <a:r>
              <a:rPr sz="3000" dirty="0">
                <a:solidFill>
                  <a:srgbClr val="8FC1D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</a:t>
            </a:r>
            <a:r>
              <a:rPr sz="30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与</a:t>
            </a:r>
            <a:r>
              <a:rPr sz="30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</a:t>
            </a:r>
            <a:r>
              <a:rPr sz="3000" dirty="0" err="1">
                <a:solidFill>
                  <a:srgbClr val="7FE3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代谢组</a:t>
            </a:r>
            <a:r>
              <a:rPr sz="3000" dirty="0">
                <a:solidFill>
                  <a:srgbClr val="7FE3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</a:t>
            </a:r>
            <a:r>
              <a:rPr sz="30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的跨体液互作</a:t>
            </a:r>
            <a:endParaRPr sz="30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3840480"/>
            <a:ext cx="106070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dirty="0" err="1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方法参照</a:t>
            </a:r>
            <a:r>
              <a:rPr sz="1500" dirty="0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Zhang et al., Microbiome 2026 (</a:t>
            </a:r>
            <a:r>
              <a:rPr sz="1500" dirty="0" err="1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口腔</a:t>
            </a:r>
            <a:r>
              <a:rPr sz="1500" dirty="0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–</a:t>
            </a:r>
            <a:r>
              <a:rPr sz="1500" dirty="0" err="1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肠道</a:t>
            </a:r>
            <a:r>
              <a:rPr sz="1500" dirty="0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–</a:t>
            </a:r>
            <a:r>
              <a:rPr sz="1500" dirty="0" err="1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代谢物轴</a:t>
            </a:r>
            <a:r>
              <a:rPr sz="1500" dirty="0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)  ·  GTDB </a:t>
            </a:r>
            <a:r>
              <a:rPr sz="1500" dirty="0" err="1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物种注释</a:t>
            </a:r>
            <a:r>
              <a:rPr sz="1500" dirty="0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 ·  101 </a:t>
            </a:r>
            <a:r>
              <a:rPr sz="1500" dirty="0" err="1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受试者四层配对</a:t>
            </a:r>
            <a:endParaRPr sz="1500" dirty="0">
              <a:solidFill>
                <a:srgbClr val="CFE3E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8" y="4663440"/>
            <a:ext cx="3383280" cy="105156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7" y="4809744"/>
            <a:ext cx="30175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dirty="0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5340096"/>
            <a:ext cx="29718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dirty="0" err="1">
                <a:solidFill>
                  <a:srgbClr val="C6DBD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受试者</a:t>
            </a:r>
            <a:r>
              <a:rPr sz="1150" dirty="0">
                <a:solidFill>
                  <a:srgbClr val="C6DBD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× 4 </a:t>
            </a:r>
            <a:r>
              <a:rPr sz="1150" dirty="0" err="1">
                <a:solidFill>
                  <a:srgbClr val="C6DBD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数据层</a:t>
            </a:r>
            <a:endParaRPr sz="1150" dirty="0">
              <a:solidFill>
                <a:srgbClr val="C6DBD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61688" y="4663440"/>
            <a:ext cx="3383280" cy="105156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90288" y="4809744"/>
            <a:ext cx="30175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dirty="0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5340096"/>
            <a:ext cx="29718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dirty="0" err="1">
                <a:solidFill>
                  <a:srgbClr val="C6DBD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跨层关系</a:t>
            </a:r>
            <a:r>
              <a:rPr sz="1150" dirty="0">
                <a:solidFill>
                  <a:srgbClr val="C6DBD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 +  1 </a:t>
            </a:r>
            <a:r>
              <a:rPr sz="1150" dirty="0" err="1">
                <a:solidFill>
                  <a:srgbClr val="C6DBD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中介链</a:t>
            </a:r>
            <a:endParaRPr sz="1150" dirty="0">
              <a:solidFill>
                <a:srgbClr val="C6DBD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973568" y="4663440"/>
            <a:ext cx="3383280" cy="105156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02168" y="4809744"/>
            <a:ext cx="30175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dirty="0">
                <a:solidFill>
                  <a:srgbClr val="D9A4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0.17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5340096"/>
            <a:ext cx="29718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dirty="0" err="1">
                <a:solidFill>
                  <a:srgbClr val="C6DBD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代谢→代谢</a:t>
            </a:r>
            <a:r>
              <a:rPr sz="1150" dirty="0">
                <a:solidFill>
                  <a:srgbClr val="C6DBD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</a:t>
            </a:r>
            <a:r>
              <a:rPr sz="1150" dirty="0" err="1">
                <a:solidFill>
                  <a:srgbClr val="C6DBD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dbRDA</a:t>
            </a:r>
            <a:r>
              <a:rPr sz="1150" dirty="0">
                <a:solidFill>
                  <a:srgbClr val="C6DBD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R² (</a:t>
            </a:r>
            <a:r>
              <a:rPr sz="1150" dirty="0" err="1">
                <a:solidFill>
                  <a:srgbClr val="C6DBD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最强轴</a:t>
            </a:r>
            <a:r>
              <a:rPr sz="1150" dirty="0">
                <a:solidFill>
                  <a:srgbClr val="C6DBD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37376"/>
            <a:ext cx="106984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dirty="0" err="1">
                <a:solidFill>
                  <a:srgbClr val="9FBA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同一批受试者,唾液</a:t>
            </a:r>
            <a:r>
              <a:rPr sz="1100" dirty="0">
                <a:solidFill>
                  <a:srgbClr val="9FBA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(</a:t>
            </a:r>
            <a:r>
              <a:rPr sz="1100" dirty="0" err="1">
                <a:solidFill>
                  <a:srgbClr val="9FBA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口腔</a:t>
            </a:r>
            <a:r>
              <a:rPr sz="1100" dirty="0">
                <a:solidFill>
                  <a:srgbClr val="9FBA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)→</a:t>
            </a:r>
            <a:r>
              <a:rPr sz="1100" dirty="0" err="1">
                <a:solidFill>
                  <a:srgbClr val="9FBA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尿液</a:t>
            </a:r>
            <a:r>
              <a:rPr sz="1100" dirty="0">
                <a:solidFill>
                  <a:srgbClr val="9FBA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(</a:t>
            </a:r>
            <a:r>
              <a:rPr sz="1100" dirty="0" err="1">
                <a:solidFill>
                  <a:srgbClr val="9FBA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系统</a:t>
            </a:r>
            <a:r>
              <a:rPr sz="1100" dirty="0">
                <a:solidFill>
                  <a:srgbClr val="9FBA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)</a:t>
            </a:r>
            <a:r>
              <a:rPr sz="1100" dirty="0" err="1">
                <a:solidFill>
                  <a:srgbClr val="9FBA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方向的多组学跨层关联</a:t>
            </a:r>
            <a:r>
              <a:rPr sz="1100" dirty="0">
                <a:solidFill>
                  <a:srgbClr val="9FBA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 · 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Zhang et al., Microbiome 2026 · 跨体位微生物–代谢组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45365" y="358657"/>
            <a:ext cx="6199200" cy="255115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71374" y="512046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dirty="0" err="1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研究做了什么</a:t>
            </a:r>
            <a:endParaRPr sz="1600" b="1" i="0" dirty="0">
              <a:solidFill>
                <a:srgbClr val="2E6F9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16268" y="1026793"/>
            <a:ext cx="6133772" cy="1293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对象  </a:t>
            </a:r>
            <a:r>
              <a:rPr lang="en-US" altLang="ja-JP"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3 </a:t>
            </a:r>
            <a:r>
              <a:rPr lang="ja-JP" altLang="en-US"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个独立队列 </a:t>
            </a:r>
            <a:r>
              <a:rPr lang="en-US"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n=435;4 </a:t>
            </a:r>
            <a:r>
              <a:rPr lang="ja-JP" altLang="en-US"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个体位菌群</a:t>
            </a:r>
            <a:r>
              <a:rPr lang="en-US" altLang="ja-JP"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(</a:t>
            </a:r>
            <a:r>
              <a:rPr lang="ja-JP" altLang="en-US"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肠 </a:t>
            </a:r>
            <a:r>
              <a:rPr lang="en-US" altLang="ja-JP"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/ </a:t>
            </a:r>
            <a:r>
              <a:rPr lang="ja-JP" altLang="en-US"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口腔 </a:t>
            </a:r>
            <a:r>
              <a:rPr lang="en-US" altLang="ja-JP"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/ </a:t>
            </a:r>
            <a:r>
              <a:rPr lang="ja-JP" altLang="en-US"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皮肤 </a:t>
            </a:r>
            <a:r>
              <a:rPr lang="en-US" altLang="ja-JP"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/ </a:t>
            </a:r>
            <a:r>
              <a:rPr lang="ja-JP" altLang="en-US"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鼻</a:t>
            </a:r>
            <a:r>
              <a:rPr lang="en-US" altLang="ja-JP"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)+ </a:t>
            </a:r>
            <a:r>
              <a:rPr lang="ja-JP" altLang="en-US"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血浆代谢组</a:t>
            </a:r>
            <a:r>
              <a:rPr lang="en-US" altLang="ja-JP"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(814 </a:t>
            </a:r>
            <a:r>
              <a:rPr lang="ja-JP" altLang="en-US"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代谢物</a:t>
            </a:r>
            <a:r>
              <a:rPr lang="en-US" altLang="ja-JP"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)</a:t>
            </a:r>
            <a:r>
              <a:rPr lang="ja-JP" altLang="en-US"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endParaRPr lang="ja-JP" altLang="en-US" sz="1200" b="0" i="0">
              <a:solidFill>
                <a:srgbClr val="202A30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问题  </a:t>
            </a:r>
            <a:r>
              <a:rPr lang="ja-JP" altLang="en-US"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多体位菌群如何共同塑造血浆代谢组</a:t>
            </a:r>
            <a:r>
              <a:rPr lang="en-US" altLang="ja-JP"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?</a:t>
            </a:r>
            <a:r>
              <a:rPr lang="ja-JP" altLang="en-US"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体位之间有没有互作</a:t>
            </a:r>
            <a:r>
              <a:rPr lang="en-US" altLang="ja-JP"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?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endParaRPr lang="en-US" altLang="ja-JP" sz="1200" b="0" i="0" dirty="0">
              <a:solidFill>
                <a:srgbClr val="202A30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方法  </a:t>
            </a:r>
            <a:r>
              <a:rPr lang="en-US"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PERMANOVA </a:t>
            </a:r>
            <a:r>
              <a:rPr lang="ja-JP" altLang="en-US"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方差解释</a:t>
            </a:r>
            <a:r>
              <a:rPr lang="zh-CN" altLang="en-US"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lang="ja-JP" altLang="en-US"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机器学习预测</a:t>
            </a:r>
            <a:r>
              <a:rPr lang="en-US" altLang="ja-JP"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(</a:t>
            </a:r>
            <a:r>
              <a:rPr lang="en-US"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R²)</a:t>
            </a:r>
            <a:r>
              <a:rPr lang="zh-CN" altLang="en-US"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lang="en-US"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Spearman </a:t>
            </a:r>
            <a:r>
              <a:rPr lang="ja-JP" altLang="en-US"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相关网络</a:t>
            </a:r>
            <a:r>
              <a:rPr lang="ja-JP" altLang="en-US" sz="120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和</a:t>
            </a:r>
            <a:r>
              <a:rPr lang="ja-JP" altLang="en-US"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双向中介分析。</a:t>
            </a:r>
            <a:endParaRPr lang="ja-JP" altLang="en-US" sz="1200" b="0" i="0" dirty="0">
              <a:solidFill>
                <a:srgbClr val="202A3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551333" y="3201709"/>
            <a:ext cx="6198707" cy="261789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43942" y="329856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dirty="0" err="1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主要结论</a:t>
            </a:r>
            <a:endParaRPr sz="1600" b="1" i="0" dirty="0">
              <a:solidFill>
                <a:srgbClr val="1B998B"/>
              </a:solidFill>
              <a:latin typeface="PingFang SC"/>
              <a:ea typeface="PingFang SC"/>
              <a:cs typeface="PingFang SC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9645AF0-CACA-F541-16FB-68D57EF6A59B}"/>
              </a:ext>
            </a:extLst>
          </p:cNvPr>
          <p:cNvGrpSpPr/>
          <p:nvPr/>
        </p:nvGrpSpPr>
        <p:grpSpPr>
          <a:xfrm>
            <a:off x="5843942" y="3847106"/>
            <a:ext cx="5662879" cy="201168"/>
            <a:chOff x="6647688" y="2002536"/>
            <a:chExt cx="5662879" cy="201168"/>
          </a:xfrm>
        </p:grpSpPr>
        <p:sp>
          <p:nvSpPr>
            <p:cNvPr id="13" name="Oval 12"/>
            <p:cNvSpPr/>
            <p:nvPr/>
          </p:nvSpPr>
          <p:spPr>
            <a:xfrm>
              <a:off x="6647688" y="2093976"/>
              <a:ext cx="109728" cy="109728"/>
            </a:xfrm>
            <a:prstGeom prst="ellipse">
              <a:avLst/>
            </a:prstGeom>
            <a:solidFill>
              <a:srgbClr val="D9A4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03720" y="2002536"/>
              <a:ext cx="5406847" cy="19466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0" i="0" dirty="0" err="1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各体位菌群共解释血浆代谢</a:t>
              </a:r>
              <a:r>
                <a:rPr sz="1200" b="0" i="0" dirty="0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 30.1%;</a:t>
              </a:r>
              <a:r>
                <a:rPr sz="1200" b="0" i="0" dirty="0" err="1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肠</a:t>
              </a:r>
              <a:r>
                <a:rPr sz="1200" b="0" i="0" dirty="0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 18.4% &gt; </a:t>
              </a:r>
              <a:r>
                <a:rPr sz="1200" b="0" i="0" dirty="0" err="1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口腔</a:t>
              </a:r>
              <a:r>
                <a:rPr sz="1200" b="0" i="0" dirty="0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 14.7% &gt; </a:t>
              </a:r>
              <a:r>
                <a:rPr sz="1200" b="0" i="0" dirty="0" err="1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皮肤</a:t>
              </a:r>
              <a:r>
                <a:rPr sz="1200" b="0" i="0" dirty="0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 11.5% &gt; </a:t>
              </a:r>
              <a:r>
                <a:rPr sz="1200" b="0" i="0" dirty="0" err="1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鼻</a:t>
              </a:r>
              <a:r>
                <a:rPr sz="1200" b="0" i="0" dirty="0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 5.9%。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2218587-646C-6C8E-DB73-A847425A1527}"/>
              </a:ext>
            </a:extLst>
          </p:cNvPr>
          <p:cNvGrpSpPr/>
          <p:nvPr/>
        </p:nvGrpSpPr>
        <p:grpSpPr>
          <a:xfrm>
            <a:off x="5843942" y="4231052"/>
            <a:ext cx="5662879" cy="201168"/>
            <a:chOff x="6647688" y="2674620"/>
            <a:chExt cx="5662879" cy="201168"/>
          </a:xfrm>
        </p:grpSpPr>
        <p:sp>
          <p:nvSpPr>
            <p:cNvPr id="15" name="Oval 14"/>
            <p:cNvSpPr/>
            <p:nvPr/>
          </p:nvSpPr>
          <p:spPr>
            <a:xfrm>
              <a:off x="6647688" y="2766060"/>
              <a:ext cx="109728" cy="109728"/>
            </a:xfrm>
            <a:prstGeom prst="ellipse">
              <a:avLst/>
            </a:prstGeom>
            <a:solidFill>
              <a:srgbClr val="2E6F9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903720" y="2674620"/>
              <a:ext cx="5406847" cy="19466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0" i="0" dirty="0" err="1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组成</a:t>
              </a:r>
              <a:r>
                <a:rPr sz="1200" b="0" i="0" dirty="0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 ≠ </a:t>
              </a:r>
              <a:r>
                <a:rPr sz="1200" b="0" i="0" dirty="0" err="1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功能:口腔与肠道菌群组成迥异,却与代谢物关联相似</a:t>
              </a:r>
              <a:r>
                <a:rPr sz="1200" b="0" i="0" dirty="0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。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C68372D-64D3-1ED4-A8AB-836096ABD48F}"/>
              </a:ext>
            </a:extLst>
          </p:cNvPr>
          <p:cNvGrpSpPr/>
          <p:nvPr/>
        </p:nvGrpSpPr>
        <p:grpSpPr>
          <a:xfrm>
            <a:off x="5843942" y="4614998"/>
            <a:ext cx="5422392" cy="201168"/>
            <a:chOff x="6647688" y="3346704"/>
            <a:chExt cx="5422392" cy="201168"/>
          </a:xfrm>
        </p:grpSpPr>
        <p:sp>
          <p:nvSpPr>
            <p:cNvPr id="17" name="Oval 16"/>
            <p:cNvSpPr/>
            <p:nvPr/>
          </p:nvSpPr>
          <p:spPr>
            <a:xfrm>
              <a:off x="6647688" y="3438144"/>
              <a:ext cx="109728" cy="109728"/>
            </a:xfrm>
            <a:prstGeom prst="ellipse">
              <a:avLst/>
            </a:prstGeom>
            <a:solidFill>
              <a:srgbClr val="1B99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03720" y="3346704"/>
              <a:ext cx="5166360" cy="19466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0" i="0" dirty="0" err="1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口腔</a:t>
              </a:r>
              <a:r>
                <a:rPr sz="1200" b="0" i="0" dirty="0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–</a:t>
              </a:r>
              <a:r>
                <a:rPr sz="1200" b="0" i="0" dirty="0" err="1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肠道轴:广泛的协同</a:t>
              </a:r>
              <a:r>
                <a:rPr sz="1200" b="0" i="0" dirty="0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 / </a:t>
              </a:r>
              <a:r>
                <a:rPr sz="1200" b="0" i="0" dirty="0" err="1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增效互作;过半代谢物受多体位共同影响</a:t>
              </a:r>
              <a:r>
                <a:rPr sz="1200" b="0" i="0" dirty="0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。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AFE62B0-F310-68DD-DB97-9147CDC7D31E}"/>
              </a:ext>
            </a:extLst>
          </p:cNvPr>
          <p:cNvGrpSpPr/>
          <p:nvPr/>
        </p:nvGrpSpPr>
        <p:grpSpPr>
          <a:xfrm>
            <a:off x="5843942" y="4998944"/>
            <a:ext cx="5836615" cy="201169"/>
            <a:chOff x="6647688" y="4018787"/>
            <a:chExt cx="5836615" cy="201169"/>
          </a:xfrm>
        </p:grpSpPr>
        <p:sp>
          <p:nvSpPr>
            <p:cNvPr id="19" name="Oval 18"/>
            <p:cNvSpPr/>
            <p:nvPr/>
          </p:nvSpPr>
          <p:spPr>
            <a:xfrm>
              <a:off x="6647688" y="4110228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03720" y="4018787"/>
              <a:ext cx="5580583" cy="19466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0" i="0" dirty="0" err="1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中介:口腔→肠道→代谢物</a:t>
              </a:r>
              <a:r>
                <a:rPr sz="1200" b="0" i="0" dirty="0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 </a:t>
              </a:r>
              <a:r>
                <a:rPr sz="1200" b="0" i="0" dirty="0" err="1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的方向性中介</a:t>
              </a:r>
              <a:r>
                <a:rPr sz="1200" b="0" i="0" dirty="0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(</a:t>
              </a:r>
              <a:r>
                <a:rPr sz="1200" b="0" i="0" dirty="0" err="1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调控吲哚类、羧酸类等</a:t>
              </a:r>
              <a:r>
                <a:rPr sz="1200" b="0" i="0" dirty="0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)。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2775A32-73C1-3A16-7F54-A4AA36C6A495}"/>
              </a:ext>
            </a:extLst>
          </p:cNvPr>
          <p:cNvGrpSpPr/>
          <p:nvPr/>
        </p:nvGrpSpPr>
        <p:grpSpPr>
          <a:xfrm>
            <a:off x="5843942" y="5382893"/>
            <a:ext cx="5836615" cy="201168"/>
            <a:chOff x="6647688" y="4690872"/>
            <a:chExt cx="5836615" cy="201168"/>
          </a:xfrm>
        </p:grpSpPr>
        <p:sp>
          <p:nvSpPr>
            <p:cNvPr id="21" name="Oval 20"/>
            <p:cNvSpPr/>
            <p:nvPr/>
          </p:nvSpPr>
          <p:spPr>
            <a:xfrm>
              <a:off x="6647688" y="4782312"/>
              <a:ext cx="109728" cy="109728"/>
            </a:xfrm>
            <a:prstGeom prst="ellipse">
              <a:avLst/>
            </a:prstGeom>
            <a:solidFill>
              <a:srgbClr val="6A3D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903720" y="4690872"/>
              <a:ext cx="5580583" cy="19466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0" i="0" dirty="0" err="1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胰岛素抵抗</a:t>
              </a:r>
              <a:r>
                <a:rPr sz="1200" b="0" i="0" dirty="0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(IR)</a:t>
              </a:r>
              <a:r>
                <a:rPr sz="1200" b="0" i="0" dirty="0" err="1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人群该轴更活跃</a:t>
              </a:r>
              <a:r>
                <a:rPr sz="1200" b="0" i="0" dirty="0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 → </a:t>
              </a:r>
              <a:r>
                <a:rPr sz="1200" b="0" i="0" dirty="0" err="1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把微生物协同与代谢失调联系起来</a:t>
              </a:r>
              <a:r>
                <a:rPr sz="1200" b="0" i="0" dirty="0">
                  <a:solidFill>
                    <a:srgbClr val="202A30"/>
                  </a:solidFill>
                  <a:latin typeface="PingFang SC"/>
                  <a:ea typeface="PingFang SC"/>
                  <a:cs typeface="PingFang SC"/>
                </a:rPr>
                <a:t>。</a:t>
              </a: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502920" y="6336790"/>
            <a:ext cx="11247120" cy="396179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6419086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 err="1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我们的迁移</a:t>
            </a:r>
            <a:r>
              <a:rPr sz="1300" b="1" i="0" dirty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200" b="0" i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论文「口腔→肠道→血浆代谢物</a:t>
            </a:r>
            <a:r>
              <a:rPr sz="1200" b="0" i="0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」 ⇒ </a:t>
            </a:r>
            <a:r>
              <a:rPr sz="1200" b="0" i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本研究「唾液</a:t>
            </a:r>
            <a:r>
              <a:rPr sz="1200" b="0" i="0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(</a:t>
            </a:r>
            <a:r>
              <a:rPr sz="1200" b="0" i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口腔,近端</a:t>
            </a:r>
            <a:r>
              <a:rPr sz="1200" b="0" i="0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)→</a:t>
            </a:r>
            <a:r>
              <a:rPr sz="1200" b="0" i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尿液</a:t>
            </a:r>
            <a:r>
              <a:rPr sz="1200" b="0" i="0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(</a:t>
            </a:r>
            <a:r>
              <a:rPr sz="1200" b="0" i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系统,远端</a:t>
            </a:r>
            <a:r>
              <a:rPr sz="1200" b="0" i="0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)」,</a:t>
            </a:r>
            <a:r>
              <a:rPr sz="1200" b="0" i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同测微生物组+代谢组,沿用其方差解释</a:t>
            </a:r>
            <a:r>
              <a:rPr sz="1200" b="0" i="0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/ </a:t>
            </a:r>
            <a:r>
              <a:rPr sz="1200" b="0" i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网络</a:t>
            </a:r>
            <a:r>
              <a:rPr sz="1200" b="0" i="0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/ </a:t>
            </a:r>
            <a:r>
              <a:rPr sz="1200" b="0" i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中介框架</a:t>
            </a:r>
            <a:r>
              <a:rPr lang="zh-CN" altLang="en-US" sz="1200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。</a:t>
            </a:r>
            <a:endParaRPr sz="1200" b="0" i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CA416C7-A057-B13D-5DDE-E31E225DD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39950"/>
            <a:ext cx="5181009" cy="192359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CD9F78A-FAAA-3A7D-6CD2-70086B2E1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2793620"/>
            <a:ext cx="5181009" cy="31117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为什么做唾液→尿液跨层分析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研究设计与分析框架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669280" cy="45262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27048"/>
            <a:ext cx="51206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dirty="0" err="1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思路</a:t>
            </a:r>
            <a:endParaRPr sz="1600" b="1" i="0" dirty="0">
              <a:solidFill>
                <a:srgbClr val="2E6F9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95528" y="2916935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825496"/>
            <a:ext cx="4800600" cy="212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 dirty="0" err="1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本队列</a:t>
            </a:r>
            <a:r>
              <a:rPr lang="en-CN" sz="135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研究</a:t>
            </a:r>
            <a:r>
              <a:rPr sz="135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50" b="0" i="0" dirty="0" err="1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</a:t>
            </a:r>
            <a:r>
              <a:rPr sz="135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(</a:t>
            </a:r>
            <a:r>
              <a:rPr sz="1350" b="0" i="0" dirty="0" err="1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口腔,近端</a:t>
            </a:r>
            <a:r>
              <a:rPr sz="135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) → </a:t>
            </a:r>
            <a:r>
              <a:rPr sz="1350" b="0" i="0" dirty="0" err="1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尿液</a:t>
            </a:r>
            <a:r>
              <a:rPr sz="135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(</a:t>
            </a:r>
            <a:r>
              <a:rPr sz="1350" b="0" i="0" dirty="0" err="1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系统,远端</a:t>
            </a:r>
            <a:r>
              <a:rPr sz="135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) </a:t>
            </a:r>
            <a:r>
              <a:rPr sz="1350" b="0" i="0" dirty="0" err="1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方向</a:t>
            </a:r>
            <a:r>
              <a:rPr sz="135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4" name="Oval 13"/>
          <p:cNvSpPr/>
          <p:nvPr/>
        </p:nvSpPr>
        <p:spPr>
          <a:xfrm>
            <a:off x="795528" y="3666744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575303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每受试者同时有两体液的 微生物组(GTDB) 与 代谢组(LC-MS)。</a:t>
            </a:r>
          </a:p>
        </p:txBody>
      </p:sp>
      <p:sp>
        <p:nvSpPr>
          <p:cNvPr id="16" name="Oval 15"/>
          <p:cNvSpPr/>
          <p:nvPr/>
        </p:nvSpPr>
        <p:spPr>
          <a:xfrm>
            <a:off x="795528" y="4416552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325112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101 受试者四层完全配对 → 可做跨层关联与中介分析。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325880"/>
            <a:ext cx="525780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1517904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四项分析（均为 唾液→尿液 方向）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702552" y="2011680"/>
          <a:ext cx="470916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暴露 X (唾液)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结局 Y (尿液)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①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微生物组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微生物组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微生物组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代谢组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③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代谢组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代谢组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④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物种→尿物种→尿代谢物 (中介)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三层链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794982" y="4432708"/>
            <a:ext cx="3671192" cy="120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dirty="0" err="1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每个组合统一执行</a:t>
            </a:r>
            <a:r>
              <a:rPr sz="1250" b="1" i="0" dirty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：</a:t>
            </a:r>
          </a:p>
          <a:p>
            <a:pPr marL="171450" indent="-1714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Mantel + Procrustes </a:t>
            </a:r>
            <a:r>
              <a:rPr sz="1200" b="0" i="0" dirty="0" err="1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一致性</a:t>
            </a:r>
            <a:r>
              <a:rPr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</a:t>
            </a:r>
            <a:endParaRPr lang="en-US" sz="1200" b="0" i="0" dirty="0">
              <a:solidFill>
                <a:srgbClr val="202A30"/>
              </a:solidFill>
              <a:latin typeface="PingFang SC"/>
              <a:ea typeface="PingFang SC"/>
              <a:cs typeface="PingFang SC"/>
            </a:endParaRPr>
          </a:p>
          <a:p>
            <a:pPr marL="171450" indent="-1714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PERMANOVA/</a:t>
            </a:r>
            <a:r>
              <a:rPr lang="en-US" sz="120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sz="1200" dirty="0" err="1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dbRDA</a:t>
            </a:r>
            <a:r>
              <a:rPr lang="zh-CN" altLang="en-US" sz="120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b="0" i="0" dirty="0" err="1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方差解释</a:t>
            </a:r>
            <a:r>
              <a:rPr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</a:t>
            </a:r>
            <a:endParaRPr lang="en-US" sz="1200" b="0" i="0" dirty="0">
              <a:solidFill>
                <a:srgbClr val="202A30"/>
              </a:solidFill>
              <a:latin typeface="PingFang SC"/>
              <a:ea typeface="PingFang SC"/>
              <a:cs typeface="PingFang SC"/>
            </a:endParaRPr>
          </a:p>
          <a:p>
            <a:pPr marL="171450" indent="-1714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Spearman </a:t>
            </a:r>
            <a:r>
              <a:rPr sz="1200" b="0" i="0" dirty="0" err="1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相关网络</a:t>
            </a:r>
            <a:r>
              <a:rPr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(|r|≥0.3,P&lt;0.05)</a:t>
            </a:r>
            <a:endParaRPr lang="en-US" sz="1200" b="0" i="0" dirty="0">
              <a:solidFill>
                <a:srgbClr val="202A30"/>
              </a:solidFill>
              <a:latin typeface="PingFang SC"/>
              <a:ea typeface="PingFang SC"/>
              <a:cs typeface="PingFang SC"/>
            </a:endParaRPr>
          </a:p>
          <a:p>
            <a:pPr marL="171450" indent="-1714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200" b="0" i="0" dirty="0" err="1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RandomForest</a:t>
            </a:r>
            <a:r>
              <a:rPr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b="0" i="0" dirty="0" err="1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预测</a:t>
            </a:r>
            <a:r>
              <a:rPr sz="120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R²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98932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" y="59893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唯一不变的是“唾液→尿液”方向;沿微生物组与代谢组两个层面，系统刻画跨体液耦合强度。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Mantel · Procrustes · PERMANOVA · </a:t>
            </a:r>
            <a:r>
              <a:rPr sz="120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dbRDA</a:t>
            </a:r>
            <a:endParaRPr sz="1200" dirty="0">
              <a:solidFill>
                <a:srgbClr val="1B998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dirty="0" err="1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四种评价方法：特点与正确解读</a:t>
            </a:r>
            <a:endParaRPr sz="2700" dirty="0">
              <a:solidFill>
                <a:srgbClr val="0B3B4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612874"/>
              </p:ext>
            </p:extLst>
          </p:nvPr>
        </p:nvGraphicFramePr>
        <p:xfrm>
          <a:off x="502920" y="1371600"/>
          <a:ext cx="11247120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0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0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0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6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方法</a:t>
                      </a:r>
                      <a:endParaRPr sz="1250" b="0" i="0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类型</a:t>
                      </a:r>
                      <a:r>
                        <a:rPr sz="1250" b="0" i="0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 / </a:t>
                      </a:r>
                      <a:r>
                        <a:rPr sz="1250" b="0" i="0" dirty="0" err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方向</a:t>
                      </a:r>
                      <a:endParaRPr sz="1250" b="0" i="0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关键输出</a:t>
                      </a:r>
                      <a:endParaRPr sz="1250" b="0" i="0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解读要点</a:t>
                      </a:r>
                      <a:endParaRPr sz="1250" b="0" i="0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150" b="0" i="0" dirty="0">
                          <a:solidFill>
                            <a:srgbClr val="2E6F9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Mantel test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矩阵相关</a:t>
                      </a:r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 · </a:t>
                      </a:r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对称</a:t>
                      </a:r>
                      <a:endParaRPr sz="115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Mantel r, P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r&gt;0 </a:t>
                      </a:r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且</a:t>
                      </a:r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 P&lt;0.05 = </a:t>
                      </a:r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整体协同变异;r</a:t>
                      </a:r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 </a:t>
                      </a:r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绝对值天然偏小</a:t>
                      </a:r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(</a:t>
                      </a:r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勿套</a:t>
                      </a:r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 Pearson </a:t>
                      </a:r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经验</a:t>
                      </a:r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),</a:t>
                      </a:r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功效低、易低估</a:t>
                      </a:r>
                      <a:endParaRPr sz="115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150" b="0" i="0" dirty="0">
                          <a:solidFill>
                            <a:srgbClr val="2E6F9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Procrustes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构型叠合</a:t>
                      </a:r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 · </a:t>
                      </a:r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对称</a:t>
                      </a:r>
                      <a:endParaRPr sz="115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r, m², 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比</a:t>
                      </a:r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 Mantel </a:t>
                      </a:r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更稳、功效更高;可逐样本看残差</a:t>
                      </a:r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(</a:t>
                      </a:r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叠合图</a:t>
                      </a:r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);</a:t>
                      </a:r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依赖保留排序维度数</a:t>
                      </a:r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 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150" b="0" i="0" dirty="0">
                          <a:solidFill>
                            <a:srgbClr val="2E6F9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PERMANOVA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方差分解</a:t>
                      </a:r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 · Y~X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pseudo-F, R², P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R² = Y </a:t>
                      </a:r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被</a:t>
                      </a:r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 X </a:t>
                      </a:r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解释的方差比例;对组内离散度</a:t>
                      </a:r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(dispersion)敏感;R² </a:t>
                      </a:r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随预测变量数虚高</a:t>
                      </a:r>
                      <a:endParaRPr sz="115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150" b="0" i="0" dirty="0" err="1">
                          <a:solidFill>
                            <a:srgbClr val="2E6F95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dbRDA</a:t>
                      </a:r>
                      <a:endParaRPr sz="1150" b="0" i="0" dirty="0">
                        <a:solidFill>
                          <a:srgbClr val="2E6F95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约束排序</a:t>
                      </a:r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 · Y~X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约束</a:t>
                      </a:r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 R², F, P, </a:t>
                      </a:r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轴</a:t>
                      </a:r>
                      <a:endParaRPr sz="115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与</a:t>
                      </a:r>
                      <a:r>
                        <a:rPr sz="115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 PERMANOVA </a:t>
                      </a:r>
                      <a:r>
                        <a:rPr sz="115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同一模型,另给可视化约束轴;支持偏分析控制协变量</a:t>
                      </a:r>
                      <a:endParaRPr sz="115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367020"/>
            <a:ext cx="11247120" cy="1280160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5432852"/>
            <a:ext cx="10698480" cy="1134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dirty="0" err="1">
                <a:solidFill>
                  <a:srgbClr val="D9A4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关键</a:t>
            </a:r>
            <a:r>
              <a:rPr sz="1300" dirty="0">
                <a:solidFill>
                  <a:srgbClr val="D9A4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 </a:t>
            </a:r>
            <a:r>
              <a:rPr sz="13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四法</a:t>
            </a:r>
            <a:r>
              <a:rPr sz="13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= </a:t>
            </a:r>
            <a:r>
              <a:rPr sz="13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两类问题</a:t>
            </a:r>
            <a:r>
              <a:rPr sz="13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× </a:t>
            </a:r>
            <a:r>
              <a:rPr sz="13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各两种实现：</a:t>
            </a:r>
            <a:r>
              <a:rPr sz="1250" dirty="0" err="1">
                <a:solidFill>
                  <a:srgbClr val="8FC1D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对称一致性</a:t>
            </a:r>
            <a:r>
              <a:rPr sz="1200" dirty="0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[</a:t>
            </a:r>
            <a:r>
              <a:rPr sz="1200" dirty="0" err="1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Mantel↔Procrustes</a:t>
            </a:r>
            <a:r>
              <a:rPr sz="1200" dirty="0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]  vs  </a:t>
            </a:r>
            <a:r>
              <a:rPr sz="1250" dirty="0" err="1">
                <a:solidFill>
                  <a:srgbClr val="7FE3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非对称方差解释</a:t>
            </a:r>
            <a:r>
              <a:rPr sz="1200" dirty="0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[</a:t>
            </a:r>
            <a:r>
              <a:rPr sz="1200" dirty="0" err="1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PERMANOVA↔dbRDA</a:t>
            </a:r>
            <a:r>
              <a:rPr sz="1200" dirty="0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]。</a:t>
            </a: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PERMANOVA 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与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dbRDA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是同一模型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(R²/F/P 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必然基本一致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),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不算两份独立佐证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;</a:t>
            </a: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若仅非对称法显著、对称法不显著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→ 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少数强相关特征驱动了可解释方差,但整体构型并不一致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BF78B-6585-5340-5BC6-2A09E3550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51B5B8-E102-A2A7-0AEC-7CC83FCE57A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8E678A-B869-3F7A-3D06-A322511FE88B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9D4F0C-FFE1-8555-3186-31C453F39644}"/>
              </a:ext>
            </a:extLst>
          </p:cNvPr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AB665C-EE49-2383-31AE-246E9D49B52E}"/>
              </a:ext>
            </a:extLst>
          </p:cNvPr>
          <p:cNvSpPr txBox="1"/>
          <p:nvPr/>
        </p:nvSpPr>
        <p:spPr>
          <a:xfrm>
            <a:off x="502920" y="274320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Mantel · Procrustes · PERMANOVA · </a:t>
            </a:r>
            <a:r>
              <a:rPr sz="120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dbRDA</a:t>
            </a:r>
            <a:endParaRPr sz="1200" dirty="0">
              <a:solidFill>
                <a:srgbClr val="1B998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632081-83B9-D034-8336-99EC025C40BE}"/>
              </a:ext>
            </a:extLst>
          </p:cNvPr>
          <p:cNvSpPr txBox="1"/>
          <p:nvPr/>
        </p:nvSpPr>
        <p:spPr>
          <a:xfrm>
            <a:off x="502920" y="530352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en-US" sz="28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Mantel Test：</a:t>
            </a:r>
            <a:r>
              <a:rPr lang="ja-JP" altLang="en-US" sz="2800" b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临床与菌群的“同步性”</a:t>
            </a:r>
            <a:endParaRPr lang="ja-JP" altLang="en-US" sz="2800" dirty="0"/>
          </a:p>
        </p:txBody>
      </p:sp>
      <p:sp>
        <p:nvSpPr>
          <p:cNvPr id="11" name="Google Shape;116;p16">
            <a:extLst>
              <a:ext uri="{FF2B5EF4-FFF2-40B4-BE49-F238E27FC236}">
                <a16:creationId xmlns:a16="http://schemas.microsoft.com/office/drawing/2014/main" id="{03FD8A46-2C96-9F87-0478-7C0666EED515}"/>
              </a:ext>
            </a:extLst>
          </p:cNvPr>
          <p:cNvSpPr txBox="1"/>
          <p:nvPr/>
        </p:nvSpPr>
        <p:spPr>
          <a:xfrm>
            <a:off x="304800" y="1773468"/>
            <a:ext cx="6535280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00000"/>
              </a:lnSpc>
            </a:pPr>
            <a:r>
              <a:rPr lang="ja-JP" altLang="en-US" b="1"/>
              <a:t>临床意义：</a:t>
            </a:r>
            <a:r>
              <a:rPr lang="ja-JP" altLang="en-US"/>
              <a:t> 检验微生物网络变化与临床理化指标变化是否同步。</a:t>
            </a:r>
          </a:p>
          <a:p>
            <a:pPr>
              <a:lnSpc>
                <a:spcPct val="200000"/>
              </a:lnSpc>
            </a:pPr>
            <a:r>
              <a:rPr lang="ja-JP" altLang="en-US" b="1"/>
              <a:t>典型案例：</a:t>
            </a:r>
            <a:endParaRPr lang="ja-JP" altLang="en-US"/>
          </a:p>
          <a:p>
            <a:pPr>
              <a:lnSpc>
                <a:spcPct val="200000"/>
              </a:lnSpc>
            </a:pPr>
            <a:r>
              <a:rPr lang="en-US" dirty="0"/>
              <a:t>X</a:t>
            </a:r>
            <a:r>
              <a:rPr lang="ja-JP" altLang="en-US"/>
              <a:t>轴：受试者之间的环境变量欧氏距离差异。</a:t>
            </a:r>
          </a:p>
          <a:p>
            <a:pPr>
              <a:lnSpc>
                <a:spcPct val="200000"/>
              </a:lnSpc>
            </a:pPr>
            <a:r>
              <a:rPr lang="en-US" dirty="0"/>
              <a:t>Y</a:t>
            </a:r>
            <a:r>
              <a:rPr lang="ja-JP" altLang="en-US"/>
              <a:t>轴：受试者之间的菌群 </a:t>
            </a:r>
            <a:r>
              <a:rPr lang="en-US" dirty="0"/>
              <a:t>Bray-Curtis </a:t>
            </a:r>
            <a:r>
              <a:rPr lang="ja-JP" altLang="en-US"/>
              <a:t>距离差异。</a:t>
            </a:r>
          </a:p>
          <a:p>
            <a:pPr>
              <a:lnSpc>
                <a:spcPct val="200000"/>
              </a:lnSpc>
            </a:pPr>
            <a:r>
              <a:rPr lang="ja-JP" altLang="en-US" b="1"/>
              <a:t>视觉特征与判读：</a:t>
            </a:r>
            <a:endParaRPr lang="ja-JP" altLang="en-US"/>
          </a:p>
          <a:p>
            <a:pPr>
              <a:lnSpc>
                <a:spcPct val="200000"/>
              </a:lnSpc>
            </a:pPr>
            <a:r>
              <a:rPr lang="ja-JP" altLang="en-US"/>
              <a:t>观察散点是否围绕回归线呈现明显的</a:t>
            </a:r>
            <a:r>
              <a:rPr lang="ja-JP" altLang="en-US" b="1"/>
              <a:t>正向攀升趋势</a:t>
            </a:r>
            <a:r>
              <a:rPr lang="ja-JP" altLang="en-US"/>
              <a:t>。</a:t>
            </a:r>
            <a:endParaRPr lang="en-US" altLang="ja-JP" dirty="0"/>
          </a:p>
          <a:p>
            <a:pPr>
              <a:lnSpc>
                <a:spcPct val="200000"/>
              </a:lnSpc>
            </a:pPr>
            <a:r>
              <a:rPr lang="ja-JP" altLang="en-US"/>
              <a:t>如图示，环境理化特征差异越大的两个病人，其口腔菌群组成差异也随之成比例拉大。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576A25-91EB-1810-33F4-F24D1A9DF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080" y="1963280"/>
            <a:ext cx="5210175" cy="405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10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A50FA-D7F4-CBAA-2B20-C20835E6D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35774A-3F0A-7349-6761-E6E5B1A34A2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92641C-6C55-BD9D-00B2-4F93505F5C8F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109A9A-8B8F-9829-138A-9E4BB97E2AED}"/>
              </a:ext>
            </a:extLst>
          </p:cNvPr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7CFA7-185E-95EF-2925-55467D347918}"/>
              </a:ext>
            </a:extLst>
          </p:cNvPr>
          <p:cNvSpPr txBox="1"/>
          <p:nvPr/>
        </p:nvSpPr>
        <p:spPr>
          <a:xfrm>
            <a:off x="502920" y="274320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Mantel · Procrustes · PERMANOVA · </a:t>
            </a:r>
            <a:r>
              <a:rPr sz="120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dbRDA</a:t>
            </a:r>
            <a:endParaRPr sz="1200" dirty="0">
              <a:solidFill>
                <a:srgbClr val="1B998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C9372D-9840-84A7-B809-A5BE0B60E595}"/>
              </a:ext>
            </a:extLst>
          </p:cNvPr>
          <p:cNvSpPr txBox="1"/>
          <p:nvPr/>
        </p:nvSpPr>
        <p:spPr>
          <a:xfrm>
            <a:off x="502920" y="530352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en-US" sz="28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Procrustes：</a:t>
            </a:r>
            <a:r>
              <a:rPr lang="ja-JP" altLang="en-US" sz="2800" b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多组学的“影像重叠”</a:t>
            </a:r>
            <a:endParaRPr lang="ja-JP" altLang="en-US" sz="2800" dirty="0"/>
          </a:p>
        </p:txBody>
      </p:sp>
      <p:sp>
        <p:nvSpPr>
          <p:cNvPr id="11" name="Google Shape;116;p16">
            <a:extLst>
              <a:ext uri="{FF2B5EF4-FFF2-40B4-BE49-F238E27FC236}">
                <a16:creationId xmlns:a16="http://schemas.microsoft.com/office/drawing/2014/main" id="{B659CAAE-F842-7C42-90B4-DCE7F8A1641A}"/>
              </a:ext>
            </a:extLst>
          </p:cNvPr>
          <p:cNvSpPr txBox="1"/>
          <p:nvPr/>
        </p:nvSpPr>
        <p:spPr>
          <a:xfrm>
            <a:off x="304800" y="1773468"/>
            <a:ext cx="6535280" cy="3888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00000"/>
              </a:lnSpc>
              <a:spcAft>
                <a:spcPts val="1125"/>
              </a:spcAft>
            </a:pPr>
            <a:r>
              <a:rPr lang="ja-JP" altLang="en-US" b="1">
                <a:solidFill>
                  <a:srgbClr val="334155"/>
                </a:solidFill>
                <a:latin typeface="Lato" panose="020F0502020204030203" pitchFamily="34" charset="0"/>
              </a:rPr>
              <a:t>临床</a:t>
            </a:r>
            <a:r>
              <a:rPr lang="ja-JP" altLang="en-US">
                <a:solidFill>
                  <a:srgbClr val="334155"/>
                </a:solidFill>
                <a:latin typeface="Lato" panose="020F0502020204030203" pitchFamily="34" charset="0"/>
              </a:rPr>
              <a:t>意义： 验证两套测序结果（如微生物组测序结果与代谢组学结果）是否揭示了相同的人群分类规律。</a:t>
            </a:r>
          </a:p>
          <a:p>
            <a:pPr>
              <a:lnSpc>
                <a:spcPct val="200000"/>
              </a:lnSpc>
              <a:spcAft>
                <a:spcPts val="1125"/>
              </a:spcAft>
            </a:pPr>
            <a:r>
              <a:rPr lang="ja-JP" altLang="en-US" b="1">
                <a:solidFill>
                  <a:srgbClr val="334155"/>
                </a:solidFill>
                <a:latin typeface="Lato" panose="020F0502020204030203" pitchFamily="34" charset="0"/>
              </a:rPr>
              <a:t>视觉特征：旋转残差连线图</a:t>
            </a:r>
            <a:endParaRPr lang="ja-JP" altLang="en-US">
              <a:solidFill>
                <a:srgbClr val="334155"/>
              </a:solidFill>
              <a:latin typeface="Lato" panose="020F0502020204030203" pitchFamily="34" charset="0"/>
            </a:endParaRPr>
          </a:p>
          <a:p>
            <a:pPr>
              <a:lnSpc>
                <a:spcPct val="200000"/>
              </a:lnSpc>
              <a:spcBef>
                <a:spcPts val="1125"/>
              </a:spcBef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rgbClr val="334155"/>
                </a:solidFill>
                <a:latin typeface="Lato" panose="020F0502020204030203" pitchFamily="34" charset="0"/>
              </a:rPr>
              <a:t>图中的</a:t>
            </a:r>
            <a:r>
              <a:rPr lang="ja-JP" altLang="en-US" b="1">
                <a:solidFill>
                  <a:srgbClr val="334155"/>
                </a:solidFill>
                <a:latin typeface="Lato" panose="020F0502020204030203" pitchFamily="34" charset="0"/>
              </a:rPr>
              <a:t>每个点对及连线</a:t>
            </a:r>
            <a:r>
              <a:rPr lang="ja-JP" altLang="en-US">
                <a:solidFill>
                  <a:srgbClr val="334155"/>
                </a:solidFill>
                <a:latin typeface="Lato" panose="020F0502020204030203" pitchFamily="34" charset="0"/>
              </a:rPr>
              <a:t>表示同一个病人在两套降维数据空间中的位置差异（残差）。</a:t>
            </a:r>
          </a:p>
          <a:p>
            <a:pPr>
              <a:lnSpc>
                <a:spcPct val="200000"/>
              </a:lnSpc>
              <a:spcBef>
                <a:spcPts val="1125"/>
              </a:spcBef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rgbClr val="334155"/>
                </a:solidFill>
                <a:latin typeface="Lato" panose="020F0502020204030203" pitchFamily="34" charset="0"/>
              </a:rPr>
              <a:t>连线越短，说明两套组学数据的一致性极高。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64CBD0-4C33-D99A-9E93-4D76CBFEE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187" y="274320"/>
            <a:ext cx="4295280" cy="3681668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9C620834-5D1E-8F33-1617-EE634E73C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054" y="4056314"/>
            <a:ext cx="4327546" cy="243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362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60EAC-9B19-3C57-D4DF-8DB2914AA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1A56A7-A0DF-01DF-FFEA-AAAC51B2B05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190B7B9-7BCD-3E76-C416-E9CC69524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7077" y="1521751"/>
            <a:ext cx="6677122" cy="4642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FFD0AD5-1EF8-2C96-B0CF-6EC78909B437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FEFA24-0D4B-6A61-133A-80D9EC968016}"/>
              </a:ext>
            </a:extLst>
          </p:cNvPr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29494-B528-759E-F74F-BEE84564565A}"/>
              </a:ext>
            </a:extLst>
          </p:cNvPr>
          <p:cNvSpPr txBox="1"/>
          <p:nvPr/>
        </p:nvSpPr>
        <p:spPr>
          <a:xfrm>
            <a:off x="502920" y="274320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Mantel · Procrustes · PERMANOVA · </a:t>
            </a:r>
            <a:r>
              <a:rPr sz="120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dbRDA</a:t>
            </a:r>
            <a:endParaRPr sz="1200" dirty="0">
              <a:solidFill>
                <a:srgbClr val="1B998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32ADD-FE12-8F28-3C70-8445B98089B4}"/>
              </a:ext>
            </a:extLst>
          </p:cNvPr>
          <p:cNvSpPr txBox="1"/>
          <p:nvPr/>
        </p:nvSpPr>
        <p:spPr>
          <a:xfrm>
            <a:off x="502920" y="530352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PERMANOVA</a:t>
            </a:r>
            <a:r>
              <a:rPr lang="zh-CN" altLang="en-US" sz="28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： 证明分组意义的“终极武器”</a:t>
            </a:r>
            <a:endParaRPr lang="en-US" sz="2800" dirty="0"/>
          </a:p>
        </p:txBody>
      </p:sp>
      <p:sp>
        <p:nvSpPr>
          <p:cNvPr id="11" name="Google Shape;116;p16">
            <a:extLst>
              <a:ext uri="{FF2B5EF4-FFF2-40B4-BE49-F238E27FC236}">
                <a16:creationId xmlns:a16="http://schemas.microsoft.com/office/drawing/2014/main" id="{7065878D-AD5A-886E-D9D5-794BAC4DC8B4}"/>
              </a:ext>
            </a:extLst>
          </p:cNvPr>
          <p:cNvSpPr txBox="1"/>
          <p:nvPr/>
        </p:nvSpPr>
        <p:spPr>
          <a:xfrm>
            <a:off x="502920" y="1350153"/>
            <a:ext cx="4794157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00000"/>
              </a:lnSpc>
            </a:pPr>
            <a:r>
              <a:rPr lang="ja-JP" altLang="en-CN" b="1">
                <a:solidFill>
                  <a:srgbClr val="000000"/>
                </a:solidFill>
                <a:latin typeface="+mj-ea"/>
                <a:ea typeface="+mj-ea"/>
                <a:cs typeface="Merriweather"/>
                <a:sym typeface="Merriweather"/>
              </a:rPr>
              <a:t>临床意义</a:t>
            </a:r>
            <a:r>
              <a:rPr lang="zh-CN" altLang="en-US" b="1" dirty="0">
                <a:solidFill>
                  <a:srgbClr val="000000"/>
                </a:solidFill>
                <a:latin typeface="+mj-ea"/>
                <a:ea typeface="+mj-ea"/>
                <a:cs typeface="Merriweather"/>
                <a:sym typeface="Merriweather"/>
              </a:rPr>
              <a:t>：</a:t>
            </a:r>
            <a:r>
              <a:rPr lang="ja-JP" altLang="en-US">
                <a:latin typeface="+mj-ea"/>
                <a:ea typeface="+mj-ea"/>
              </a:rPr>
              <a:t>证明疾病组 </a:t>
            </a:r>
            <a:r>
              <a:rPr lang="en-US" dirty="0">
                <a:latin typeface="+mj-ea"/>
                <a:ea typeface="+mj-ea"/>
              </a:rPr>
              <a:t>vs. </a:t>
            </a:r>
            <a:r>
              <a:rPr lang="ja-JP" altLang="en-US">
                <a:latin typeface="+mj-ea"/>
                <a:ea typeface="+mj-ea"/>
              </a:rPr>
              <a:t>健康组（或不同治疗组）的菌群确实不同。</a:t>
            </a:r>
            <a:endParaRPr lang="en-US" altLang="ja-JP" dirty="0">
              <a:latin typeface="+mj-ea"/>
              <a:ea typeface="+mj-ea"/>
            </a:endParaRPr>
          </a:p>
          <a:p>
            <a:pPr>
              <a:lnSpc>
                <a:spcPct val="200000"/>
              </a:lnSpc>
            </a:pPr>
            <a:r>
              <a:rPr lang="ja-JP" altLang="en-US" b="1">
                <a:latin typeface="+mj-ea"/>
                <a:ea typeface="+mj-ea"/>
              </a:rPr>
              <a:t>视觉核心：</a:t>
            </a:r>
            <a:r>
              <a:rPr lang="en-US" b="1" dirty="0">
                <a:latin typeface="+mj-ea"/>
                <a:ea typeface="+mj-ea"/>
              </a:rPr>
              <a:t>PCoA </a:t>
            </a:r>
            <a:r>
              <a:rPr lang="ja-JP" altLang="en-US" b="1">
                <a:latin typeface="+mj-ea"/>
                <a:ea typeface="+mj-ea"/>
              </a:rPr>
              <a:t>散点与置信圈</a:t>
            </a:r>
            <a:endParaRPr lang="ja-JP" altLang="en-US">
              <a:latin typeface="+mj-ea"/>
              <a:ea typeface="+mj-ea"/>
            </a:endParaRPr>
          </a:p>
          <a:p>
            <a:pPr>
              <a:lnSpc>
                <a:spcPct val="200000"/>
              </a:lnSpc>
            </a:pPr>
            <a:r>
              <a:rPr lang="ja-JP" altLang="en-US" b="1">
                <a:latin typeface="+mj-ea"/>
                <a:ea typeface="+mj-ea"/>
              </a:rPr>
              <a:t>点：</a:t>
            </a:r>
            <a:r>
              <a:rPr lang="ja-JP" altLang="en-US">
                <a:latin typeface="+mj-ea"/>
                <a:ea typeface="+mj-ea"/>
              </a:rPr>
              <a:t> 每个点代表一个受试者的微生态样本。</a:t>
            </a:r>
          </a:p>
          <a:p>
            <a:pPr>
              <a:lnSpc>
                <a:spcPct val="200000"/>
              </a:lnSpc>
            </a:pPr>
            <a:r>
              <a:rPr lang="ja-JP" altLang="en-US" b="1">
                <a:latin typeface="+mj-ea"/>
                <a:ea typeface="+mj-ea"/>
              </a:rPr>
              <a:t>椭圆：</a:t>
            </a:r>
            <a:r>
              <a:rPr lang="ja-JP" altLang="en-US">
                <a:latin typeface="+mj-ea"/>
                <a:ea typeface="+mj-ea"/>
              </a:rPr>
              <a:t> 代表该分组 </a:t>
            </a:r>
            <a:r>
              <a:rPr lang="en-US" altLang="ja-JP" dirty="0">
                <a:latin typeface="+mj-ea"/>
                <a:ea typeface="+mj-ea"/>
              </a:rPr>
              <a:t>95% </a:t>
            </a:r>
            <a:r>
              <a:rPr lang="ja-JP" altLang="en-US">
                <a:latin typeface="+mj-ea"/>
                <a:ea typeface="+mj-ea"/>
              </a:rPr>
              <a:t>的核心置信区间。</a:t>
            </a:r>
          </a:p>
          <a:p>
            <a:pPr>
              <a:lnSpc>
                <a:spcPct val="200000"/>
              </a:lnSpc>
            </a:pPr>
            <a:r>
              <a:rPr lang="ja-JP" altLang="en-US" b="1">
                <a:latin typeface="+mj-ea"/>
                <a:ea typeface="+mj-ea"/>
              </a:rPr>
              <a:t>判读：</a:t>
            </a:r>
            <a:r>
              <a:rPr lang="ja-JP" altLang="en-US">
                <a:latin typeface="+mj-ea"/>
                <a:ea typeface="+mj-ea"/>
              </a:rPr>
              <a:t> 蓝红两个椭圆在空间中明显剥离，说明组间差异极大概率不是随机误差。</a:t>
            </a:r>
          </a:p>
          <a:p>
            <a:pPr>
              <a:lnSpc>
                <a:spcPct val="200000"/>
              </a:lnSpc>
            </a:pPr>
            <a:r>
              <a:rPr lang="ja-JP" altLang="en-US" b="1">
                <a:latin typeface="+mj-ea"/>
                <a:ea typeface="+mj-ea"/>
              </a:rPr>
              <a:t>结果汇报标准：</a:t>
            </a:r>
            <a:r>
              <a:rPr lang="en-US" b="1" dirty="0">
                <a:latin typeface="+mj-ea"/>
                <a:ea typeface="+mj-ea"/>
              </a:rPr>
              <a:t>P &lt; 0.05, R² = 0.18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+mj-ea"/>
                <a:ea typeface="+mj-ea"/>
              </a:rPr>
              <a:t>（</a:t>
            </a:r>
            <a:r>
              <a:rPr lang="ja-JP" altLang="en-US" b="1">
                <a:latin typeface="+mj-ea"/>
                <a:ea typeface="+mj-ea"/>
              </a:rPr>
              <a:t>分组解释了</a:t>
            </a:r>
            <a:r>
              <a:rPr lang="en-US" altLang="ja-JP" b="1" dirty="0">
                <a:latin typeface="+mj-ea"/>
                <a:ea typeface="+mj-ea"/>
              </a:rPr>
              <a:t>18%</a:t>
            </a:r>
            <a:r>
              <a:rPr lang="ja-JP" altLang="en-US" b="1">
                <a:latin typeface="+mj-ea"/>
                <a:ea typeface="+mj-ea"/>
              </a:rPr>
              <a:t>的变异）</a:t>
            </a:r>
            <a:endParaRPr lang="ja-JP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19837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EE650-B3B9-F171-142F-D2E7F8373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73EC0F-468B-0A95-E67C-59427FD5C29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3FCCE0-10EB-B8FF-1B26-E4B9743BCC2F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3FE268-0B15-6E26-A322-FE251AA18B40}"/>
              </a:ext>
            </a:extLst>
          </p:cNvPr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B38C52-5A7B-FAB8-9958-0437B04890E9}"/>
              </a:ext>
            </a:extLst>
          </p:cNvPr>
          <p:cNvSpPr txBox="1"/>
          <p:nvPr/>
        </p:nvSpPr>
        <p:spPr>
          <a:xfrm>
            <a:off x="502920" y="274320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Mantel · Procrustes · PERMANOVA · </a:t>
            </a:r>
            <a:r>
              <a:rPr sz="120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dbRDA</a:t>
            </a:r>
            <a:endParaRPr sz="1200" dirty="0">
              <a:solidFill>
                <a:srgbClr val="1B998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C24ECF-CB5D-5931-A4A3-8647BE19FBD9}"/>
              </a:ext>
            </a:extLst>
          </p:cNvPr>
          <p:cNvSpPr txBox="1"/>
          <p:nvPr/>
        </p:nvSpPr>
        <p:spPr>
          <a:xfrm>
            <a:off x="502920" y="530352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en-US" sz="2800" b="1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dbRDA</a:t>
            </a:r>
            <a:r>
              <a:rPr lang="en-US" sz="28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：</a:t>
            </a:r>
            <a:r>
              <a:rPr lang="ja-JP" altLang="en-US" sz="2800" b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谁驱动了疾病？</a:t>
            </a:r>
            <a:endParaRPr lang="ja-JP" altLang="en-US" sz="2800" dirty="0"/>
          </a:p>
        </p:txBody>
      </p:sp>
      <p:sp>
        <p:nvSpPr>
          <p:cNvPr id="11" name="Google Shape;116;p16">
            <a:extLst>
              <a:ext uri="{FF2B5EF4-FFF2-40B4-BE49-F238E27FC236}">
                <a16:creationId xmlns:a16="http://schemas.microsoft.com/office/drawing/2014/main" id="{69ED07E5-288C-F542-51BC-529746D550F7}"/>
              </a:ext>
            </a:extLst>
          </p:cNvPr>
          <p:cNvSpPr txBox="1"/>
          <p:nvPr/>
        </p:nvSpPr>
        <p:spPr>
          <a:xfrm>
            <a:off x="502920" y="1310172"/>
            <a:ext cx="4794157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00000"/>
              </a:lnSpc>
            </a:pPr>
            <a:r>
              <a:rPr lang="ja-JP" altLang="en-US" b="1">
                <a:solidFill>
                  <a:srgbClr val="334155"/>
                </a:solidFill>
                <a:latin typeface="+mj-ea"/>
                <a:ea typeface="+mj-ea"/>
              </a:rPr>
              <a:t>临床意义：</a:t>
            </a:r>
            <a:r>
              <a:rPr lang="ja-JP" altLang="en-US">
                <a:solidFill>
                  <a:srgbClr val="334155"/>
                </a:solidFill>
                <a:latin typeface="+mj-ea"/>
                <a:ea typeface="+mj-ea"/>
              </a:rPr>
              <a:t> 找出到底哪些临床因子驱动了菌群的变化。</a:t>
            </a:r>
            <a:endParaRPr lang="ja-JP" altLang="en-US">
              <a:latin typeface="+mj-ea"/>
              <a:ea typeface="+mj-ea"/>
            </a:endParaRPr>
          </a:p>
          <a:p>
            <a:pPr>
              <a:lnSpc>
                <a:spcPct val="200000"/>
              </a:lnSpc>
            </a:pPr>
            <a:r>
              <a:rPr lang="ja-JP" altLang="en-US" b="1">
                <a:latin typeface="+mj-ea"/>
                <a:ea typeface="+mj-ea"/>
              </a:rPr>
              <a:t>视觉核心：</a:t>
            </a:r>
            <a:r>
              <a:rPr lang="en-US" b="1" dirty="0" err="1">
                <a:latin typeface="+mj-ea"/>
                <a:ea typeface="+mj-ea"/>
              </a:rPr>
              <a:t>Triplot</a:t>
            </a:r>
            <a:r>
              <a:rPr lang="en-US" b="1" dirty="0">
                <a:latin typeface="+mj-ea"/>
                <a:ea typeface="+mj-ea"/>
              </a:rPr>
              <a:t>（</a:t>
            </a:r>
            <a:r>
              <a:rPr lang="ja-JP" altLang="en-US" b="1">
                <a:latin typeface="+mj-ea"/>
                <a:ea typeface="+mj-ea"/>
              </a:rPr>
              <a:t>三序图）</a:t>
            </a:r>
            <a:endParaRPr lang="ja-JP" altLang="en-US">
              <a:latin typeface="+mj-ea"/>
              <a:ea typeface="+mj-ea"/>
            </a:endParaRPr>
          </a:p>
          <a:p>
            <a:pPr>
              <a:lnSpc>
                <a:spcPct val="200000"/>
              </a:lnSpc>
            </a:pPr>
            <a:r>
              <a:rPr lang="ja-JP" altLang="en-US" b="1">
                <a:latin typeface="+mj-ea"/>
                <a:ea typeface="+mj-ea"/>
              </a:rPr>
              <a:t>射线箭头：</a:t>
            </a:r>
            <a:r>
              <a:rPr lang="ja-JP" altLang="en-US">
                <a:latin typeface="+mj-ea"/>
                <a:ea typeface="+mj-ea"/>
              </a:rPr>
              <a:t> 代表临床干预或生化指标。箭头越长，对群落的解释力越强。</a:t>
            </a:r>
          </a:p>
          <a:p>
            <a:pPr>
              <a:lnSpc>
                <a:spcPct val="200000"/>
              </a:lnSpc>
            </a:pPr>
            <a:r>
              <a:rPr lang="ja-JP" altLang="en-US" b="1">
                <a:latin typeface="+mj-ea"/>
                <a:ea typeface="+mj-ea"/>
              </a:rPr>
              <a:t>物种投影：</a:t>
            </a:r>
            <a:r>
              <a:rPr lang="ja-JP" altLang="en-US">
                <a:latin typeface="+mj-ea"/>
                <a:ea typeface="+mj-ea"/>
              </a:rPr>
              <a:t> </a:t>
            </a:r>
            <a:r>
              <a:rPr lang="en-US" i="1" dirty="0">
                <a:latin typeface="+mj-ea"/>
                <a:ea typeface="+mj-ea"/>
              </a:rPr>
              <a:t>Fusobacterium</a:t>
            </a:r>
            <a:r>
              <a:rPr lang="en-US" dirty="0">
                <a:latin typeface="+mj-ea"/>
                <a:ea typeface="+mj-ea"/>
              </a:rPr>
              <a:t> </a:t>
            </a:r>
            <a:r>
              <a:rPr lang="ja-JP" altLang="en-US">
                <a:latin typeface="+mj-ea"/>
                <a:ea typeface="+mj-ea"/>
              </a:rPr>
              <a:t>落在 </a:t>
            </a:r>
            <a:r>
              <a:rPr lang="en-US" dirty="0">
                <a:latin typeface="+mj-ea"/>
                <a:ea typeface="+mj-ea"/>
              </a:rPr>
              <a:t>Smoking </a:t>
            </a:r>
            <a:r>
              <a:rPr lang="ja-JP" altLang="en-US">
                <a:latin typeface="+mj-ea"/>
                <a:ea typeface="+mj-ea"/>
              </a:rPr>
              <a:t>箭头的正向延伸区域，说明吸烟强烈富集了该类细菌。</a:t>
            </a:r>
          </a:p>
          <a:p>
            <a:pPr>
              <a:lnSpc>
                <a:spcPct val="200000"/>
              </a:lnSpc>
            </a:pPr>
            <a:r>
              <a:rPr lang="ja-JP" altLang="en-US" b="1">
                <a:latin typeface="+mj-ea"/>
                <a:ea typeface="+mj-ea"/>
              </a:rPr>
              <a:t>样本漂移：</a:t>
            </a:r>
            <a:r>
              <a:rPr lang="ja-JP" altLang="en-US">
                <a:latin typeface="+mj-ea"/>
                <a:ea typeface="+mj-ea"/>
              </a:rPr>
              <a:t> 橙色的疾病样本点顺着强驱动因子发生了明显的聚集与漂移。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C5996E-1B19-9A37-CE87-6EB0175B7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727" y="1564172"/>
            <a:ext cx="5919539" cy="448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49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一图看全</a:t>
            </a:r>
            <a:endParaRPr sz="1200" dirty="0">
              <a:solidFill>
                <a:srgbClr val="1B998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dirty="0" err="1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结果速览：三类跨层关系的耦合强度</a:t>
            </a:r>
            <a:endParaRPr sz="2700" dirty="0">
              <a:solidFill>
                <a:srgbClr val="0B3B4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4</a:t>
            </a:r>
          </a:p>
        </p:txBody>
      </p:sp>
      <p:pic>
        <p:nvPicPr>
          <p:cNvPr id="8" name="Picture 7" descr="synthesis_coup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6126480" cy="3958648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472281"/>
              </p:ext>
            </p:extLst>
          </p:nvPr>
        </p:nvGraphicFramePr>
        <p:xfrm>
          <a:off x="6903720" y="1554480"/>
          <a:ext cx="5074921" cy="2157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133">
                  <a:extLst>
                    <a:ext uri="{9D8B030D-6E8A-4147-A177-3AD203B41FA5}">
                      <a16:colId xmlns:a16="http://schemas.microsoft.com/office/drawing/2014/main" val="2896431963"/>
                    </a:ext>
                  </a:extLst>
                </a:gridCol>
                <a:gridCol w="982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8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8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 i="0" dirty="0" err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关系</a:t>
                      </a:r>
                      <a:endParaRPr sz="1150" b="0" i="0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Mantel r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0" i="0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Procrustes r</a:t>
                      </a:r>
                      <a:endParaRPr sz="1150" b="0" i="0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 dirty="0" err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dbRDA</a:t>
                      </a:r>
                      <a:r>
                        <a:rPr sz="1150" b="0" i="0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 R²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 dirty="0" err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显著对</a:t>
                      </a:r>
                      <a:endParaRPr sz="1150" b="0" i="0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RF R²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微生物</a:t>
                      </a:r>
                      <a:r>
                        <a:rPr sz="12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→</a:t>
                      </a:r>
                      <a:endParaRPr lang="en-US" sz="120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  <a:p>
                      <a:pPr algn="l"/>
                      <a:r>
                        <a:rPr sz="120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微生物</a:t>
                      </a:r>
                      <a:endParaRPr sz="120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0.002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0.182</a:t>
                      </a:r>
                      <a:endParaRPr sz="120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0.079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792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-0.059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微生物</a:t>
                      </a:r>
                      <a:r>
                        <a:rPr sz="12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→</a:t>
                      </a:r>
                      <a:endParaRPr lang="en-US" sz="120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  <a:p>
                      <a:pPr algn="l"/>
                      <a:r>
                        <a:rPr sz="120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代谢</a:t>
                      </a:r>
                      <a:endParaRPr sz="120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-0.055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0.167</a:t>
                      </a:r>
                      <a:endParaRPr sz="120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0.102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967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-0.067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代谢</a:t>
                      </a:r>
                      <a:r>
                        <a:rPr sz="12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→</a:t>
                      </a:r>
                      <a:endParaRPr lang="en-US" sz="120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  <a:p>
                      <a:pPr algn="l"/>
                      <a:r>
                        <a:rPr sz="120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代谢</a:t>
                      </a:r>
                      <a:endParaRPr sz="120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0.313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0.368</a:t>
                      </a:r>
                      <a:endParaRPr sz="120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0.169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4985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0.163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903720" y="3977639"/>
            <a:ext cx="5074920" cy="17830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2320" y="4114800"/>
            <a:ext cx="4389120" cy="780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dirty="0" err="1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耦合强度排序</a:t>
            </a:r>
            <a:endParaRPr sz="1300" dirty="0">
              <a:solidFill>
                <a:srgbClr val="2E6F9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代谢组→代谢组</a:t>
            </a:r>
            <a:r>
              <a:rPr sz="1250" dirty="0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 </a:t>
            </a:r>
            <a:r>
              <a:rPr sz="125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≫  </a:t>
            </a:r>
            <a:r>
              <a:rPr sz="1250" dirty="0" err="1">
                <a:solidFill>
                  <a:srgbClr val="D9A4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微生物→代谢</a:t>
            </a:r>
            <a:r>
              <a:rPr sz="1250" dirty="0">
                <a:solidFill>
                  <a:srgbClr val="D9A4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 </a:t>
            </a:r>
            <a:r>
              <a:rPr sz="125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&gt;  </a:t>
            </a:r>
            <a:r>
              <a:rPr sz="1250" dirty="0" err="1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微生物→微生物</a:t>
            </a:r>
            <a:endParaRPr sz="1250" dirty="0">
              <a:solidFill>
                <a:srgbClr val="2E6F9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跨体液信号主要存在于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代谢层面，而非微生物组成层面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97880"/>
            <a:ext cx="82296" cy="6400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4088" y="6119335"/>
            <a:ext cx="10972800" cy="1971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结论</a:t>
            </a:r>
            <a:r>
              <a:rPr sz="1200" dirty="0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唾液与尿液的代谢组高度耦合;微生物组跨体液耦合弱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→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两体液是相对独立的微生态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物种</a:t>
            </a:r>
            <a:r>
              <a:rPr sz="1200" dirty="0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× </a:t>
            </a:r>
            <a:r>
              <a:rPr sz="120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物种</a:t>
            </a:r>
            <a:endParaRPr sz="1200" dirty="0">
              <a:solidFill>
                <a:srgbClr val="1B998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dirty="0" err="1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分析一：唾液微生物组</a:t>
            </a:r>
            <a:r>
              <a:rPr sz="2700" dirty="0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→ </a:t>
            </a:r>
            <a:r>
              <a:rPr sz="2700" dirty="0" err="1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尿液微生物组</a:t>
            </a:r>
            <a:endParaRPr sz="2700" dirty="0">
              <a:solidFill>
                <a:srgbClr val="0B3B4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5</a:t>
            </a:r>
          </a:p>
        </p:txBody>
      </p:sp>
      <p:pic>
        <p:nvPicPr>
          <p:cNvPr id="8" name="Picture 7" descr="P1_procrus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212080" cy="3367805"/>
          </a:xfrm>
          <a:prstGeom prst="rect">
            <a:avLst/>
          </a:prstGeom>
        </p:spPr>
      </p:pic>
      <p:pic>
        <p:nvPicPr>
          <p:cNvPr id="9" name="Picture 8" descr="P1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371600"/>
            <a:ext cx="5627076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892040"/>
            <a:ext cx="11247120" cy="731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4983479"/>
            <a:ext cx="2537460" cy="464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dirty="0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0.002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Mantel r (P=0.480)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7580" y="4983479"/>
            <a:ext cx="2537460" cy="464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dirty="0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0.182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Procrustes r (P=0.400)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983479"/>
            <a:ext cx="2537460" cy="464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dirty="0">
                <a:solidFill>
                  <a:srgbClr val="00A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0.079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PERMANOVA R² (P=0.510)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1140" y="4983479"/>
            <a:ext cx="2537460" cy="464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dirty="0">
                <a:solidFill>
                  <a:srgbClr val="00A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0.079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dirty="0" err="1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dbRDA</a:t>
            </a:r>
            <a:r>
              <a:rPr sz="105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R² (P=0.510)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4088" y="5921295"/>
            <a:ext cx="10972800" cy="4103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 err="1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结论</a:t>
            </a:r>
            <a:r>
              <a:rPr sz="1200" dirty="0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四法一致:对称的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Mantel/Procrustes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不显著、非对称的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PERMANOVA≈dbRDA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(R²=0.079)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亦不显著;仅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792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对物种弱关联、RF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R²&lt;0 →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口腔与泌尿道是独立生态系统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物种</a:t>
            </a:r>
            <a:r>
              <a:rPr sz="1200" dirty="0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× </a:t>
            </a:r>
            <a:r>
              <a:rPr sz="120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代谢物</a:t>
            </a:r>
            <a:endParaRPr sz="1200" dirty="0">
              <a:solidFill>
                <a:srgbClr val="1B998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dirty="0" err="1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分析二：唾液微生物组</a:t>
            </a:r>
            <a:r>
              <a:rPr sz="2700" dirty="0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→ </a:t>
            </a:r>
            <a:r>
              <a:rPr sz="2700" dirty="0" err="1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尿液代谢组</a:t>
            </a:r>
            <a:endParaRPr sz="2700" dirty="0">
              <a:solidFill>
                <a:srgbClr val="0B3B4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6</a:t>
            </a:r>
          </a:p>
        </p:txBody>
      </p:sp>
      <p:pic>
        <p:nvPicPr>
          <p:cNvPr id="8" name="Picture 7" descr="P2_procrus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212080" cy="3367805"/>
          </a:xfrm>
          <a:prstGeom prst="rect">
            <a:avLst/>
          </a:prstGeom>
        </p:spPr>
      </p:pic>
      <p:pic>
        <p:nvPicPr>
          <p:cNvPr id="9" name="Picture 8" descr="P2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371600"/>
            <a:ext cx="5627076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892040"/>
            <a:ext cx="11247120" cy="731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4983479"/>
            <a:ext cx="2537460" cy="464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dirty="0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-0.055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Mantel r (P=0.840)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7580" y="4983479"/>
            <a:ext cx="2537460" cy="464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dirty="0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0.167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Procrustes r (P=0.570)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983479"/>
            <a:ext cx="2537460" cy="464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dirty="0">
                <a:solidFill>
                  <a:srgbClr val="00A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0.102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PERMANOVA R² (P=0.023)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1140" y="4983479"/>
            <a:ext cx="2537460" cy="464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dirty="0">
                <a:solidFill>
                  <a:srgbClr val="00A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0.102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dirty="0" err="1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dbRDA</a:t>
            </a:r>
            <a:r>
              <a:rPr sz="105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R² (P=0.023)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4088" y="5923957"/>
            <a:ext cx="10972800" cy="405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 err="1">
                <a:solidFill>
                  <a:srgbClr val="D9A4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结论</a:t>
            </a:r>
            <a:r>
              <a:rPr sz="1200" dirty="0">
                <a:solidFill>
                  <a:srgbClr val="D9A4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对称法不显著、但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PERMANOVA≈dbRDA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R²=0.102(P=0.023)→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少数强相关特征驱动了可解释方差;显著对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(967)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远多于物种→物种,印证“组成≠功能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最强的跨体液轴</a:t>
            </a:r>
            <a:endParaRPr sz="1200" dirty="0">
              <a:solidFill>
                <a:srgbClr val="1B998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dirty="0" err="1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分析三：唾液代谢组</a:t>
            </a:r>
            <a:r>
              <a:rPr sz="2700" dirty="0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→ </a:t>
            </a:r>
            <a:r>
              <a:rPr sz="2700" dirty="0" err="1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尿液代谢组</a:t>
            </a:r>
            <a:endParaRPr sz="2700" dirty="0">
              <a:solidFill>
                <a:srgbClr val="0B3B4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7</a:t>
            </a:r>
          </a:p>
        </p:txBody>
      </p:sp>
      <p:pic>
        <p:nvPicPr>
          <p:cNvPr id="8" name="Picture 7" descr="P3_procrus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4663440" cy="3013299"/>
          </a:xfrm>
          <a:prstGeom prst="rect">
            <a:avLst/>
          </a:prstGeom>
        </p:spPr>
      </p:pic>
      <p:pic>
        <p:nvPicPr>
          <p:cNvPr id="9" name="Picture 8" descr="P3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25880"/>
            <a:ext cx="4206240" cy="2734056"/>
          </a:xfrm>
          <a:prstGeom prst="rect">
            <a:avLst/>
          </a:prstGeom>
        </p:spPr>
      </p:pic>
      <p:pic>
        <p:nvPicPr>
          <p:cNvPr id="10" name="Picture 9" descr="P3_rf_R2h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1554480"/>
            <a:ext cx="2788920" cy="167335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892040"/>
            <a:ext cx="11247120" cy="731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4983479"/>
            <a:ext cx="2537460" cy="464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dirty="0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0.313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Mantel r (P=0.001)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7580" y="4983479"/>
            <a:ext cx="2537460" cy="464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dirty="0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0.368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Procrustes r (P=0.001)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983479"/>
            <a:ext cx="2537460" cy="464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dirty="0">
                <a:solidFill>
                  <a:srgbClr val="00A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0.169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PERMANOVA R² (P=0.001)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1140" y="4983479"/>
            <a:ext cx="2537460" cy="464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dirty="0">
                <a:solidFill>
                  <a:srgbClr val="00A0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0.169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dirty="0" err="1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dbRDA</a:t>
            </a:r>
            <a:r>
              <a:rPr sz="105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R² (P=0.001)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4088" y="6026324"/>
            <a:ext cx="10972800" cy="2003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结论</a:t>
            </a:r>
            <a:r>
              <a:rPr sz="1200" dirty="0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四法全部显著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(Mantel/Procrustes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一致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+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PERMANOVA≈dbRDA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R²=0.169);RF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可预测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70%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尿液代谢物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→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两体液共享系统循环代谢物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mediation (</a:t>
            </a:r>
            <a:r>
              <a:rPr sz="120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校正年龄</a:t>
            </a:r>
            <a:r>
              <a:rPr sz="1200" dirty="0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/</a:t>
            </a:r>
            <a:r>
              <a:rPr sz="120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性别</a:t>
            </a:r>
            <a:r>
              <a:rPr sz="1200" dirty="0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/</a:t>
            </a:r>
            <a:r>
              <a:rPr sz="120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疾病组</a:t>
            </a:r>
            <a:r>
              <a:rPr sz="1200" dirty="0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dirty="0" err="1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分析四：三层中介</a:t>
            </a:r>
            <a:r>
              <a:rPr sz="2700" dirty="0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 </a:t>
            </a:r>
            <a:r>
              <a:rPr sz="2700" dirty="0" err="1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唾液物种</a:t>
            </a:r>
            <a:r>
              <a:rPr sz="2700" dirty="0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→ </a:t>
            </a:r>
            <a:r>
              <a:rPr sz="2700" dirty="0" err="1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尿液物种</a:t>
            </a:r>
            <a:r>
              <a:rPr sz="2700" dirty="0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→ </a:t>
            </a:r>
            <a:r>
              <a:rPr sz="2700" dirty="0" err="1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尿液代谢物</a:t>
            </a:r>
            <a:endParaRPr sz="2700" dirty="0">
              <a:solidFill>
                <a:srgbClr val="0B3B4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669280" cy="182880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5212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dirty="0" err="1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中介链路设计</a:t>
            </a:r>
            <a:endParaRPr sz="1400" dirty="0">
              <a:solidFill>
                <a:srgbClr val="2E6F9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286000"/>
            <a:ext cx="1417320" cy="731520"/>
          </a:xfrm>
          <a:prstGeom prst="round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1417320" cy="347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唾液物种</a:t>
            </a:r>
            <a:r>
              <a:rPr sz="11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
(</a:t>
            </a:r>
            <a:r>
              <a:rPr sz="11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暴露</a:t>
            </a:r>
            <a:r>
              <a:rPr sz="11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450592"/>
            <a:ext cx="457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286000"/>
            <a:ext cx="1417320" cy="731520"/>
          </a:xfrm>
          <a:prstGeom prst="round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60320" y="2377440"/>
            <a:ext cx="1417320" cy="347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尿液物种</a:t>
            </a:r>
            <a:r>
              <a:rPr sz="11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
(</a:t>
            </a:r>
            <a:r>
              <a:rPr sz="11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中介</a:t>
            </a:r>
            <a:r>
              <a:rPr sz="11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50592"/>
            <a:ext cx="457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286000"/>
            <a:ext cx="1417320" cy="73152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377440"/>
            <a:ext cx="1417320" cy="347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尿液代谢物</a:t>
            </a:r>
            <a:r>
              <a:rPr sz="11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
(</a:t>
            </a:r>
            <a:r>
              <a:rPr sz="11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结局</a:t>
            </a:r>
            <a:r>
              <a:rPr sz="11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29000"/>
            <a:ext cx="56692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3584448"/>
            <a:ext cx="5212080" cy="12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400" dirty="0" err="1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扫描结果</a:t>
            </a:r>
            <a:endParaRPr sz="1400" dirty="0">
              <a:solidFill>
                <a:srgbClr val="2E6F9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候选中介三元组</a:t>
            </a:r>
            <a:r>
              <a:rPr sz="125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 </a:t>
            </a:r>
            <a:r>
              <a:rPr sz="1500" dirty="0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120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ACME </a:t>
            </a:r>
            <a:r>
              <a:rPr sz="125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名义显著</a:t>
            </a:r>
            <a:r>
              <a:rPr sz="125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(P&lt;0.05)  </a:t>
            </a:r>
            <a:r>
              <a:rPr sz="1500" dirty="0">
                <a:solidFill>
                  <a:srgbClr val="D9A4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0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ACME FDR&lt;0.10  </a:t>
            </a:r>
            <a:r>
              <a:rPr sz="1500" dirty="0">
                <a:solidFill>
                  <a:srgbClr val="C039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5303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dirty="0" err="1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中介效应最强的链路（前</a:t>
            </a:r>
            <a:r>
              <a:rPr sz="1300" dirty="0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6，按 ACME P）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00800" y="1783080"/>
          <a:ext cx="534924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 i="0" dirty="0" err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唾液物种</a:t>
                      </a:r>
                      <a:endParaRPr sz="1150" b="0" i="0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 err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尿液物种</a:t>
                      </a:r>
                      <a:endParaRPr sz="1150" b="0" i="0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 err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尿代谢物</a:t>
                      </a:r>
                      <a:endParaRPr sz="1150" b="0" i="0" dirty="0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ACME P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Bacteroides_D_sp</a:t>
                      </a:r>
                      <a:endParaRPr sz="110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PWLR01_sp02083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P8617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0.120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CAJPSE01_sp90537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Prevotella_buc</a:t>
                      </a:r>
                      <a:endParaRPr sz="110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P8759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0.240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Alloprevotella_t</a:t>
                      </a:r>
                      <a:endParaRPr sz="110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Nesterenkonia</a:t>
                      </a:r>
                      <a:r>
                        <a:rPr sz="11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_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P5196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0.307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Veillonella_sp01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Nesterenkonia</a:t>
                      </a:r>
                      <a:r>
                        <a:rPr sz="11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_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P5196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0.320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Streptococcus_cr</a:t>
                      </a:r>
                      <a:endParaRPr sz="110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Novosphingobiu</a:t>
                      </a:r>
                      <a:endParaRPr sz="110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P9288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0.333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Streptococcus_ps</a:t>
                      </a:r>
                      <a:endParaRPr sz="110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 err="1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Duncaniella_mu</a:t>
                      </a:r>
                      <a:endParaRPr sz="1100" b="0" i="0" dirty="0">
                        <a:solidFill>
                          <a:srgbClr val="202A3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PingFang SC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P17583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02A3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PingFang SC"/>
                        </a:rPr>
                        <a:t>0.387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02920" y="5897880"/>
            <a:ext cx="82296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4088" y="6119334"/>
            <a:ext cx="10972800" cy="1971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 err="1">
                <a:solidFill>
                  <a:srgbClr val="C039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结论</a:t>
            </a:r>
            <a:r>
              <a:rPr sz="1200" dirty="0">
                <a:solidFill>
                  <a:srgbClr val="C039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经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FDR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校正后无显著中介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(120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条候选,FDR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&gt;0.10) →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唾液菌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–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尿液菌耦合弱，难成连贯中介链;跨体液信号集中于代谢层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adonis2 · 单特征解释尿液端方差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逐特征 PERMANOVA：每个显著特征的 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pic>
        <p:nvPicPr>
          <p:cNvPr id="8" name="Picture 7" descr="perfeature_permanova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60704"/>
            <a:ext cx="4919472" cy="49194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040880" y="1353312"/>
            <a:ext cx="4297680" cy="13258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40880" y="1353312"/>
            <a:ext cx="91440" cy="132588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96912" y="1463040"/>
            <a:ext cx="3840480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dirty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① </a:t>
            </a:r>
            <a:r>
              <a:rPr sz="1250" b="1" i="0" dirty="0" err="1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唾液物种→尿液微生物组</a:t>
            </a:r>
            <a:r>
              <a:rPr lang="zh-CN" altLang="en-US" sz="1250" b="1" i="0" dirty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 </a:t>
            </a:r>
            <a:endParaRPr lang="en-US" altLang="zh-CN" sz="1250" b="1" i="0" dirty="0">
              <a:solidFill>
                <a:srgbClr val="2E6F9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altLang="zh-CN" sz="1250" b="1" i="0" dirty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(PERMANOVA R</a:t>
            </a:r>
            <a:r>
              <a:rPr lang="en-US" altLang="zh-CN" sz="1250" b="1" i="0" baseline="30000" dirty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2 </a:t>
            </a:r>
            <a:r>
              <a:rPr lang="en-US" altLang="zh-CN" sz="1250" b="1" i="0" dirty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= 0.079, </a:t>
            </a:r>
            <a:r>
              <a:rPr lang="en-US" altLang="zh-CN" sz="1250" b="1" i="1" dirty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p</a:t>
            </a:r>
            <a:r>
              <a:rPr lang="en-US" altLang="zh-CN" sz="1250" b="1" i="0" dirty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 = 0.510)</a:t>
            </a:r>
            <a:r>
              <a:rPr lang="zh-CN" altLang="en-US" sz="1250" b="1" i="0" dirty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  </a:t>
            </a:r>
            <a:endParaRPr lang="en-CN" sz="1250" b="1" i="0" dirty="0">
              <a:solidFill>
                <a:srgbClr val="2E6F9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96912" y="1955088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ja-JP" altLang="en-US"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显著特征 </a:t>
            </a:r>
            <a:r>
              <a:rPr lang="en-US" altLang="ja-JP" sz="1500" b="1" i="0" dirty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27</a:t>
            </a:r>
            <a:r>
              <a:rPr lang="ja-JP" altLang="en-US"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ja-JP" sz="1150" b="0" i="0" dirty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/ 950</a:t>
            </a:r>
            <a:r>
              <a:rPr lang="ja-JP" altLang="en-US"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lang="en-US" sz="1050" b="0" i="0" dirty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(P&lt;0.05)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15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R² </a:t>
            </a:r>
            <a:r>
              <a:rPr lang="ja-JP" altLang="en-US"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中位 </a:t>
            </a:r>
            <a:r>
              <a:rPr lang="en-US" altLang="ja-JP" sz="1250" b="1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0.030</a:t>
            </a:r>
            <a:r>
              <a:rPr lang="ja-JP" altLang="en-US"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 最大 </a:t>
            </a:r>
            <a:r>
              <a:rPr lang="en-US" altLang="ja-JP" sz="1250" b="1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834640"/>
            <a:ext cx="4297680" cy="13258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40880" y="2834640"/>
            <a:ext cx="91440" cy="13258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96912" y="2944368"/>
            <a:ext cx="3840480" cy="6283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dirty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② </a:t>
            </a:r>
            <a:r>
              <a:rPr sz="1250" b="1" i="0" dirty="0" err="1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唾液物种→尿液代谢组</a:t>
            </a:r>
            <a:endParaRPr lang="en-US" sz="1250" b="1" i="0" dirty="0">
              <a:solidFill>
                <a:srgbClr val="D9A44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50" b="1" i="0" dirty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(PERMANOVA R2 = 0.102, </a:t>
            </a:r>
            <a:r>
              <a:rPr lang="en-US" sz="1250" b="1" i="1" dirty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p</a:t>
            </a:r>
            <a:r>
              <a:rPr lang="en-US" sz="1250" b="1" i="0" dirty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 = 0.023)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sz="1250" b="1" i="0" dirty="0">
              <a:solidFill>
                <a:srgbClr val="D9A44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96912" y="3436416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显著特征 </a:t>
            </a:r>
            <a:r>
              <a:rPr sz="15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42</a:t>
            </a: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/ 950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 (P&lt;0.05)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R² 中位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0.024</a:t>
            </a: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 最大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0.074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4315968"/>
            <a:ext cx="4297680" cy="13258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40880" y="4315968"/>
            <a:ext cx="91440" cy="13258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96912" y="4425696"/>
            <a:ext cx="3840480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dirty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③ </a:t>
            </a:r>
            <a:r>
              <a:rPr sz="1250" b="1" i="0" dirty="0" err="1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唾液代谢物→尿液代谢组</a:t>
            </a:r>
            <a:endParaRPr lang="en-US" sz="1250" b="1" i="0" dirty="0">
              <a:solidFill>
                <a:srgbClr val="1B998B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50" b="1" i="0" dirty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(PERMANOVA R2 = 0.169, </a:t>
            </a:r>
            <a:r>
              <a:rPr lang="en-US" sz="1250" b="1" i="1" dirty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p</a:t>
            </a:r>
            <a:r>
              <a:rPr lang="en-US" sz="1250" b="1" i="0" dirty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 = 0.001)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4917744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 dirty="0" err="1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显著特征</a:t>
            </a:r>
            <a:r>
              <a:rPr sz="115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b="1" i="0" dirty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718</a:t>
            </a:r>
            <a:r>
              <a:rPr sz="1150" b="0" i="0" dirty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/ 1926</a:t>
            </a:r>
            <a:r>
              <a:rPr sz="1050" b="0" i="0" dirty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 (P&lt;0.05)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R² </a:t>
            </a:r>
            <a:r>
              <a:rPr sz="1150" b="0" i="0" dirty="0" err="1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中位</a:t>
            </a:r>
            <a:r>
              <a:rPr sz="115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50" b="1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0.023</a:t>
            </a:r>
            <a:r>
              <a:rPr sz="115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1150" b="0" i="0" dirty="0" err="1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最大</a:t>
            </a:r>
            <a:r>
              <a:rPr sz="1150" b="0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50" b="1" i="0" dirty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0.092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088176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6088176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绝大多数显著特征单特征 R² 都很小(多 2–5%) → 跨体液信号由大量小贡献特征共同构成,而非少数主导者;代谢物层显著数更多、R² 更高。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结论</a:t>
            </a:r>
            <a:endParaRPr sz="1200" dirty="0">
              <a:solidFill>
                <a:srgbClr val="1B998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dirty="0" err="1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主要发现与生物学解读</a:t>
            </a:r>
            <a:endParaRPr sz="2700" dirty="0">
              <a:solidFill>
                <a:srgbClr val="0B3B4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dirty="0">
                <a:solidFill>
                  <a:srgbClr val="6B7A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5532120" cy="10972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" y="1572768"/>
            <a:ext cx="5029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dirty="0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③ </a:t>
            </a:r>
            <a:r>
              <a:rPr sz="1400" dirty="0" err="1">
                <a:solidFill>
                  <a:srgbClr val="1B99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代谢组→代谢组：最强轴</a:t>
            </a:r>
            <a:endParaRPr sz="1400" dirty="0">
              <a:solidFill>
                <a:srgbClr val="1B998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4983480" cy="67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群落级一致显著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(Mantel 0.31,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dbRDA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R²=0.17)。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RF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稳健预测大量尿液代谢物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反映两体液共享系统循环代谢物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53212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73952" y="1572768"/>
            <a:ext cx="5029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dirty="0">
                <a:solidFill>
                  <a:srgbClr val="D9A4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② </a:t>
            </a:r>
            <a:r>
              <a:rPr sz="1400" dirty="0" err="1">
                <a:solidFill>
                  <a:srgbClr val="D9A4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微生物→代谢：局部关联</a:t>
            </a:r>
            <a:endParaRPr sz="1400" dirty="0">
              <a:solidFill>
                <a:srgbClr val="D9A44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983480" cy="67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显著对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(967)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远多于物种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–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物种层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口腔菌影响远端代谢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&gt;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影响远端菌群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印证“组成不必然决定功能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57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3657600"/>
            <a:ext cx="5532120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8952" y="3858768"/>
            <a:ext cx="5029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dirty="0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① </a:t>
            </a:r>
            <a:r>
              <a:rPr sz="1400" dirty="0" err="1">
                <a:solidFill>
                  <a:srgbClr val="2E6F9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微生物→微生物：最弱</a:t>
            </a:r>
            <a:endParaRPr sz="1400" dirty="0">
              <a:solidFill>
                <a:srgbClr val="2E6F9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4297680"/>
            <a:ext cx="4983480" cy="67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整体群落几乎不一致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(Mantel≈0)。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口腔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vs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泌尿道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=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独立微生态系统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仅个别物种弱关联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5532120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73952" y="3858768"/>
            <a:ext cx="5029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dirty="0">
                <a:solidFill>
                  <a:srgbClr val="C039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④ </a:t>
            </a:r>
            <a:r>
              <a:rPr sz="1400" dirty="0" err="1">
                <a:solidFill>
                  <a:srgbClr val="C039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中介链：不显著</a:t>
            </a:r>
            <a:endParaRPr sz="1400" dirty="0">
              <a:solidFill>
                <a:srgbClr val="C0392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4297680"/>
            <a:ext cx="4983480" cy="67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120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条候选,FDR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校正后均不显著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菌群耦合弱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→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无连贯中介通路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与论文紧密口腔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–</a:t>
            </a:r>
            <a:r>
              <a:rPr sz="12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肠道轴形成对照</a:t>
            </a:r>
            <a:r>
              <a:rPr sz="12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943600"/>
            <a:ext cx="82296" cy="54864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4088" y="6119334"/>
            <a:ext cx="10972800" cy="1971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 err="1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结论</a:t>
            </a:r>
            <a:r>
              <a:rPr sz="1200" dirty="0">
                <a:solidFill>
                  <a:srgbClr val="0B3B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唾液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–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尿液轴：微生物组弱耦合、代谢组强耦合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— 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符合两体液经血液循环过滤连接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(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而非消化道连续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)</a:t>
            </a:r>
            <a:r>
              <a:rPr sz="1300" dirty="0" err="1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的生理学</a:t>
            </a:r>
            <a:r>
              <a:rPr sz="1300" dirty="0">
                <a:solidFill>
                  <a:srgbClr val="202A3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Microsoft YaHei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方法与参考</a:t>
            </a:r>
            <a:endParaRPr sz="2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577840" cy="2383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dirty="0" err="1">
                <a:solidFill>
                  <a:srgbClr val="7FE3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方法</a:t>
            </a:r>
            <a:endParaRPr sz="1500" dirty="0">
              <a:solidFill>
                <a:srgbClr val="7FE3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微生物组：物种水平;流行度+丰度联合过滤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(≥5%样本&amp;RA&gt;0.01%);Bray-Curtis(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一致性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)、CLR(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相关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/RF)。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代谢组：正+负离子合并，log2(x+1);z-score 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欧氏距离;相关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/RF 取方差前400。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一致性：Mantel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(Spearman)+Procrustes/protest(999置换)。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方差解释：唾液端主坐标轴约束的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dbRDA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(vegan::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dbrda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)。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相关网络：Spearman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|r|≥0.3 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且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P&lt;0.05(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并报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BH-FDR);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igraph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/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ggraph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预测：RandomForest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5折交叉验证逐特征 R²。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• 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中介：mediation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::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mediate，校正年龄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/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性别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/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疾病组，FDR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</a:t>
            </a:r>
            <a:r>
              <a:rPr sz="1200" dirty="0" err="1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控制</a:t>
            </a: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394960" cy="2056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dirty="0" err="1">
                <a:solidFill>
                  <a:srgbClr val="7FE3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参考与产出</a:t>
            </a:r>
            <a:endParaRPr sz="1500" dirty="0">
              <a:solidFill>
                <a:srgbClr val="7FE3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>
                <a:solidFill>
                  <a:srgbClr val="DFEAE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Zhang J, et al. Cross-body site microbial interactions influence the human plasma metabolome. Microbiome. 2026;14:147.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endParaRPr sz="1200" dirty="0">
              <a:solidFill>
                <a:srgbClr val="DFEAE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dirty="0" err="1">
                <a:solidFill>
                  <a:srgbClr val="8FC1D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报告：GTDB_cross_site_multiomics.html</a:t>
            </a:r>
            <a:endParaRPr sz="1200" dirty="0">
              <a:solidFill>
                <a:srgbClr val="8FC1D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dirty="0" err="1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脚本：crossomics_helpers.R</a:t>
            </a:r>
            <a:r>
              <a:rPr sz="1150" dirty="0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/ </a:t>
            </a:r>
            <a:r>
              <a:rPr sz="1150" dirty="0" err="1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GTDB_cross_site_multiomics.Rmd（参数化</a:t>
            </a:r>
            <a:r>
              <a:rPr sz="1150" dirty="0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</a:t>
            </a:r>
            <a:r>
              <a:rPr sz="1150" dirty="0" err="1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db</a:t>
            </a:r>
            <a:r>
              <a:rPr sz="1150" dirty="0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=GTDB）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dirty="0" err="1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结果表：crossomics</a:t>
            </a:r>
            <a:r>
              <a:rPr sz="1150" dirty="0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/tables/*.csv  </a:t>
            </a:r>
            <a:r>
              <a:rPr sz="1150" dirty="0" err="1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图：crossomics</a:t>
            </a:r>
            <a:r>
              <a:rPr sz="1150" dirty="0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/figures/*.</a:t>
            </a:r>
            <a:r>
              <a:rPr sz="1150" dirty="0" err="1">
                <a:solidFill>
                  <a:srgbClr val="CFE3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png</a:t>
            </a:r>
            <a:endParaRPr sz="1150" dirty="0">
              <a:solidFill>
                <a:srgbClr val="CFE3E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972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dirty="0" err="1">
                <a:solidFill>
                  <a:srgbClr val="9FBA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局限：横断面、相对丰度、PD</a:t>
            </a:r>
            <a:r>
              <a:rPr sz="1100" dirty="0">
                <a:solidFill>
                  <a:srgbClr val="9FBA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</a:t>
            </a:r>
            <a:r>
              <a:rPr sz="1100" dirty="0" err="1">
                <a:solidFill>
                  <a:srgbClr val="9FBA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组</a:t>
            </a:r>
            <a:r>
              <a:rPr sz="1100" dirty="0">
                <a:solidFill>
                  <a:srgbClr val="9FBA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/>
              </a:rPr>
              <a:t> n=6;中介为关联性解释,非因果。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4454</Words>
  <Application>Microsoft Macintosh PowerPoint</Application>
  <PresentationFormat>Widescreen</PresentationFormat>
  <Paragraphs>348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Microsoft YaHei</vt:lpstr>
      <vt:lpstr>PingFang SC</vt:lpstr>
      <vt:lpstr>Arial</vt:lpstr>
      <vt:lpstr>DM Sans</vt:lpstr>
      <vt:lpstr>Lato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ZHANG Yufeng</cp:lastModifiedBy>
  <cp:revision>45</cp:revision>
  <dcterms:created xsi:type="dcterms:W3CDTF">2013-01-27T09:14:16Z</dcterms:created>
  <dcterms:modified xsi:type="dcterms:W3CDTF">2026-06-08T11:23:51Z</dcterms:modified>
  <cp:category/>
</cp:coreProperties>
</file>