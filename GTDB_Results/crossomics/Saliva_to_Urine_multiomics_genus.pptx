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1"/>
  </p:normalViewPr>
  <p:slideViewPr>
    <p:cSldViewPr snapToGrid="0" snapToObjects="1">
      <p:cViewPr varScale="1">
        <p:scale>
          <a:sx n="110" d="100"/>
          <a:sy n="110" d="100"/>
        </p:scale>
        <p:origin x="5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FD0C4"/>
                </a:solidFill>
                <a:latin typeface="PingFang SC"/>
                <a:ea typeface="PingFang SC"/>
                <a:cs typeface="PingFang SC"/>
              </a:rPr>
              <a:t>跨体液多组学整合  ·  Cross‑body‑site Multi‑omics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8813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唾液 → 尿液 跨位点关联分析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8FC1DF"/>
                </a:solidFill>
                <a:latin typeface="PingFang SC"/>
                <a:ea typeface="PingFang SC"/>
                <a:cs typeface="PingFang SC"/>
              </a:rPr>
              <a:t>微生物组 </a:t>
            </a:r>
            <a:r>
              <a:rPr sz="3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与 </a:t>
            </a:r>
            <a:r>
              <a:rPr sz="30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代谢组 </a:t>
            </a:r>
            <a:r>
              <a:rPr sz="3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的跨体液互作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8404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方法参照 Zhang et al., Microbiome 2026 (口腔–肠道–代谢物轴)  ·  GTDB 物种注释  ·  101 受试者四层配对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663440"/>
            <a:ext cx="3383280" cy="105156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4809744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5340096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6DBDE"/>
                </a:solidFill>
                <a:latin typeface="PingFang SC"/>
                <a:ea typeface="PingFang SC"/>
                <a:cs typeface="PingFang SC"/>
              </a:rPr>
              <a:t>受试者 × 4 数据层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4663440"/>
            <a:ext cx="3383280" cy="105156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4809744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5340096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6DBDE"/>
                </a:solidFill>
                <a:latin typeface="PingFang SC"/>
                <a:ea typeface="PingFang SC"/>
                <a:cs typeface="PingFang SC"/>
              </a:rPr>
              <a:t>跨层关系  +  1 中介链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4663440"/>
            <a:ext cx="3383280" cy="105156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4809744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0.17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5340096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6DBDE"/>
                </a:solidFill>
                <a:latin typeface="PingFang SC"/>
                <a:ea typeface="PingFang SC"/>
                <a:cs typeface="PingFang SC"/>
              </a:rPr>
              <a:t>代谢→代谢 dbRDA R² (最强轴)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3737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ABE"/>
                </a:solidFill>
                <a:latin typeface="PingFang SC"/>
                <a:ea typeface="PingFang SC"/>
                <a:cs typeface="PingFang SC"/>
              </a:rPr>
              <a:t>同一批受试者,唾液(口腔)→尿液(系统)方向的多组学跨层关联  · 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为什么做唾液→尿液跨层分析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研究设计与分析框架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669280" cy="45262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2704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思路（迁移自论文）</a:t>
            </a:r>
          </a:p>
        </p:txBody>
      </p:sp>
      <p:sp>
        <p:nvSpPr>
          <p:cNvPr id="10" name="Oval 9"/>
          <p:cNvSpPr/>
          <p:nvPr/>
        </p:nvSpPr>
        <p:spPr>
          <a:xfrm>
            <a:off x="795528" y="2167127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4800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论文研究 口腔→肠道→血浆代谢物 的跨体位微生物–代谢互作。</a:t>
            </a:r>
          </a:p>
        </p:txBody>
      </p:sp>
      <p:sp>
        <p:nvSpPr>
          <p:cNvPr id="12" name="Oval 11"/>
          <p:cNvSpPr/>
          <p:nvPr/>
        </p:nvSpPr>
        <p:spPr>
          <a:xfrm>
            <a:off x="795528" y="2916935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825496"/>
            <a:ext cx="4800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本队列迁移为 唾液(口腔,近端) → 尿液(系统,远端) 方向。</a:t>
            </a:r>
          </a:p>
        </p:txBody>
      </p:sp>
      <p:sp>
        <p:nvSpPr>
          <p:cNvPr id="14" name="Oval 13"/>
          <p:cNvSpPr/>
          <p:nvPr/>
        </p:nvSpPr>
        <p:spPr>
          <a:xfrm>
            <a:off x="795528" y="3666744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575303"/>
            <a:ext cx="4800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每受试者同时有两体液的 微生物组(GTDB) 与 代谢组(LC-MS)。</a:t>
            </a:r>
          </a:p>
        </p:txBody>
      </p:sp>
      <p:sp>
        <p:nvSpPr>
          <p:cNvPr id="16" name="Oval 15"/>
          <p:cNvSpPr/>
          <p:nvPr/>
        </p:nvSpPr>
        <p:spPr>
          <a:xfrm>
            <a:off x="795528" y="4416552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325112"/>
            <a:ext cx="4800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101 受试者四层完全配对 → 可做跨层关联与中介分析。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325880"/>
            <a:ext cx="525780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0840" y="1517904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四项分析（均为 唾液→尿液 方向）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702552" y="2011680"/>
          <a:ext cx="470916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暴露 X (唾液)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结局 Y (尿液)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①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微生物组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微生物组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微生物组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代谢组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③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代谢组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代谢组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④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菌属→尿菌→尿代谢物 (中介)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三层链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720840" y="4754880"/>
            <a:ext cx="4709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每个组合统一执行：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Mantel + Procrustes 一致性 · dbRDA 方差解释 · Spearman 相关网络(|r|≥0.3,P&lt;0.05) · RandomForest 预测 R²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98932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" y="59893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唯一不变的是“唾液→尿液”方向;沿微生物组与代谢组两个层面，系统刻画跨体液耦合强度。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一图看全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结果速览：三类跨层关系的耦合强度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pic>
        <p:nvPicPr>
          <p:cNvPr id="8" name="Picture 7" descr="synthesis_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126480" cy="3958648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03720" y="1554480"/>
          <a:ext cx="5074920" cy="2157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关系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Mantel r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dbRDA R²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显著对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RF R²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① 微生物→微生物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-0.013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0.066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78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-0.082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② 微生物→代谢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-0.044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0.091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-0.068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③ 代谢→代谢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0.313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0.169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4985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0.152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903720" y="3977639"/>
            <a:ext cx="4846320" cy="17830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4114800"/>
            <a:ext cx="43891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耦合强度排序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代谢组→代谢组 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≫  </a:t>
            </a:r>
            <a:r>
              <a:rPr sz="12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微生物→代谢 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&gt;  </a:t>
            </a: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微生物→微生物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跨体液信号主要存在于 代谢层面，而非微生物组成层面。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97880"/>
            <a:ext cx="82296" cy="6400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58978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唾液与尿液的代谢组高度耦合;微生物组跨体液耦合弱 → 两体液是相对独立的微生态。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菌属 × 菌属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分析一：唾液微生物组 → 尿液微生物组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pic>
        <p:nvPicPr>
          <p:cNvPr id="8" name="Picture 7" descr="P1_procrus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212080" cy="3367805"/>
          </a:xfrm>
          <a:prstGeom prst="rect">
            <a:avLst/>
          </a:prstGeom>
        </p:spPr>
      </p:pic>
      <p:pic>
        <p:nvPicPr>
          <p:cNvPr id="9" name="Picture 8" descr="P1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71600"/>
            <a:ext cx="5627076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892040"/>
            <a:ext cx="11247120" cy="731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983479"/>
            <a:ext cx="1975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-0.013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Mantel r (P=0.570)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5224" y="4983479"/>
            <a:ext cx="1975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0.161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Procrustes (P=0.610)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4983479"/>
            <a:ext cx="1975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0.066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dbRDA R²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4071" y="4983479"/>
            <a:ext cx="1975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78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显著菌属对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3496" y="4983479"/>
            <a:ext cx="1975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-0.082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RF 平均R²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806440"/>
            <a:ext cx="82296" cy="64008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" y="5806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整体群落几乎不一致(Mantel≈0,P不显著);仅 78 对菌属弱关联 → 口腔与泌尿道是独立生态系统。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菌属 × 代谢物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分析二：唾液微生物组 → 尿液代谢组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pic>
        <p:nvPicPr>
          <p:cNvPr id="8" name="Picture 7" descr="P2_procrus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212080" cy="3367805"/>
          </a:xfrm>
          <a:prstGeom prst="rect">
            <a:avLst/>
          </a:prstGeom>
        </p:spPr>
      </p:pic>
      <p:pic>
        <p:nvPicPr>
          <p:cNvPr id="9" name="Picture 8" descr="P2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71600"/>
            <a:ext cx="5627076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892040"/>
            <a:ext cx="11247120" cy="731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983479"/>
            <a:ext cx="1975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-0.044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Mantel r (P=0.810)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5224" y="4983479"/>
            <a:ext cx="1975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0.178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Procrustes (P=0.360)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4983479"/>
            <a:ext cx="1975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0.091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dbRDA R²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4071" y="4983479"/>
            <a:ext cx="1975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512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显著对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3496" y="4983479"/>
            <a:ext cx="1975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-0.068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RF 平均R²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806440"/>
            <a:ext cx="82296" cy="6400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" y="5806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菌属→代谢物显著对(512)远多于菌属→菌属 → 口腔菌对远端代谢表型的影响比对远端菌群组成更直接(“组成≠功能”)。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最强的跨体液轴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分析三：唾液代谢组 → 尿液代谢组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pic>
        <p:nvPicPr>
          <p:cNvPr id="8" name="Picture 7" descr="P3_procrus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663440" cy="3013299"/>
          </a:xfrm>
          <a:prstGeom prst="rect">
            <a:avLst/>
          </a:prstGeom>
        </p:spPr>
      </p:pic>
      <p:pic>
        <p:nvPicPr>
          <p:cNvPr id="9" name="Picture 8" descr="P3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25880"/>
            <a:ext cx="4206240" cy="2734056"/>
          </a:xfrm>
          <a:prstGeom prst="rect">
            <a:avLst/>
          </a:prstGeom>
        </p:spPr>
      </p:pic>
      <p:pic>
        <p:nvPicPr>
          <p:cNvPr id="10" name="Picture 9" descr="P3_rf_R2h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554480"/>
            <a:ext cx="2788920" cy="167335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892040"/>
            <a:ext cx="11247120" cy="731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983479"/>
            <a:ext cx="1975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0.313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Mantel r (P=0.001)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5224" y="4983479"/>
            <a:ext cx="1975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0.368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Procrustes (P=0.001)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4983479"/>
            <a:ext cx="1975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0.169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dbRDA R² (P=0.001)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4071" y="4983479"/>
            <a:ext cx="1975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4985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显著对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83496" y="4983479"/>
            <a:ext cx="1975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72%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RF R²&gt;5% 比例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806440"/>
            <a:ext cx="82296" cy="6400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5806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代谢组显著耦合(Mantel/Procrustes/dbRDA 全显著);RF 可由唾液代谢组稳健预测大量尿液代谢物 → 两体液共享系统循环代谢物。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mediation (校正年龄/性别/疾病组)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分析四：三层中介  唾液菌属 → 尿液菌属 → 尿液代谢物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669280" cy="182880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中介链路设计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86000"/>
            <a:ext cx="1417320" cy="731520"/>
          </a:xfrm>
          <a:prstGeom prst="round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1417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唾液菌属
(暴露 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45059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286000"/>
            <a:ext cx="1417320" cy="731520"/>
          </a:xfrm>
          <a:prstGeom prst="round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0" y="2377440"/>
            <a:ext cx="1417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尿液菌属
(中介 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5059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286000"/>
            <a:ext cx="1417320" cy="73152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400" y="2377440"/>
            <a:ext cx="1417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尿液代谢物
(结局 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29000"/>
            <a:ext cx="56692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584448"/>
            <a:ext cx="52120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扫描结果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候选中介三元组  </a:t>
            </a:r>
            <a:r>
              <a:rPr sz="15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43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ACME 名义显著 (P&lt;0.05)  </a:t>
            </a:r>
            <a:r>
              <a:rPr sz="15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0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ACME FDR&lt;0.10  </a:t>
            </a:r>
            <a:r>
              <a:rPr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中介效应最强的链路（前 6，按 ACME P）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00800" y="1783080"/>
          <a:ext cx="534924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唾液菌属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尿液菌属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尿代谢物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ACME P</a:t>
                      </a:r>
                    </a:p>
                  </a:txBody>
                  <a:tcPr marL="73152" marR="54864" marT="18288" marB="18288" anchor="ctr">
                    <a:solidFill>
                      <a:srgbClr val="0B3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Peptoanaerobacte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Sulfuritalea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P4170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0.207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Gallibacter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Haemophilus_A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P23518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0.353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Bifidobacterium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Sulfuritalea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P4170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0.360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Phytobacter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P4170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0.420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Bifidobacterium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Sulfuritalea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P13524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0.440</a:t>
                      </a:r>
                    </a:p>
                  </a:txBody>
                  <a:tcPr marL="73152" marR="54864" marT="18288" marB="18288" anchor="ctr"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Tannerella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Phytobacter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P4170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0.467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02920" y="5897880"/>
            <a:ext cx="82296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" y="58978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经 FDR 校正后无显著中介(43 条候选,FDR&gt;0.10) → 唾液菌–尿液菌耦合弱，难成连贯中介链;跨体液信号集中于代谢层。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主要发现与生物学解读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5532120" cy="10972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57276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③ 代谢组→代谢组：最强轴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49834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群落级一致显著(Mantel 0.31, dbRDA R²=0.17)。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RF 稳健预测大量尿液代谢物。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反映两体液共享系统循环代谢物。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53212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57276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② 微生物→代谢：局部关联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9834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显著对(512)远多于菌属–菌属层。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口腔菌影响远端代谢 &gt; 影响远端菌群。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印证“组成不必然决定功能”。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57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657600"/>
            <a:ext cx="5532120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85876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① 微生物→微生物：最弱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97680"/>
            <a:ext cx="49834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整体群落几乎不一致(Mantel≈0)。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口腔 vs 泌尿道 = 独立微生态系统。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仅个别菌属弱关联。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5532120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3952" y="385876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④ 中介链：不显著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97680"/>
            <a:ext cx="49834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43 条候选,FDR 校正后均不显著。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菌群耦合弱 → 无连贯中介通路。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与论文紧密口腔–肠道轴形成对照。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943600"/>
            <a:ext cx="82296" cy="54864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" y="5943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唾液–尿液轴：微生物组弱耦合、代谢组强耦合 — 符合两体液经血液循环过滤连接(而非消化道连续)的生理学。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方法与参考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5778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方法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微生物组：物种→属求和，&gt;10%流行度;Bray-Curtis(一致性)、CLR(相关/RF)。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代谢组：正+负离子合并，log2(x+1);z-score 欧氏距离;相关/RF 取方差前400。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一致性：Mantel(Spearman)+Procrustes/protest(999置换)。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方差解释：唾液端主坐标轴约束的 dbRDA(vegan::dbrda)。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相关网络：Spearman |r|≥0.3 且 P&lt;0.05(并报 BH-FDR);igraph/ggraph。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预测：RandomForest 5折交叉验证逐特征 R²。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中介：mediation::mediate，校正年龄/性别/疾病组，FDR 控制。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3949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参考与产出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Zhang J, et al. Cross-body site microbial interactions influence the human plasma metabolome. Microbiome. 2026;14:147.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endParaRPr sz="1200" b="0" i="0">
              <a:solidFill>
                <a:srgbClr val="DFEAEC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8FC1DF"/>
                </a:solidFill>
                <a:latin typeface="PingFang SC"/>
                <a:ea typeface="PingFang SC"/>
                <a:cs typeface="PingFang SC"/>
              </a:rPr>
              <a:t>报告：GTDB_cross_site_multiomics.html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脚本：crossomics_helpers.R / GTDB_cross_site_multiomics.Rmd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结果表：crossomics/tables/*.csv  图：crossomics/figures/*.png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ABE"/>
                </a:solidFill>
                <a:latin typeface="PingFang SC"/>
                <a:ea typeface="PingFang SC"/>
                <a:cs typeface="PingFang SC"/>
              </a:rPr>
              <a:t>局限：横断面、相对丰度、PD 组 n=6;中介为关联性解释,非因果。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836</Words>
  <Application>Microsoft Macintosh PowerPoint</Application>
  <PresentationFormat>Widescreen</PresentationFormat>
  <Paragraphs>186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PingFang SC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ZHANG Yufeng</cp:lastModifiedBy>
  <cp:revision>1</cp:revision>
  <dcterms:created xsi:type="dcterms:W3CDTF">2013-01-27T09:14:16Z</dcterms:created>
  <dcterms:modified xsi:type="dcterms:W3CDTF">2026-06-07T10:45:06Z</dcterms:modified>
  <cp:category/>
</cp:coreProperties>
</file>