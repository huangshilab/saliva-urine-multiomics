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Relationship Id="rId3" Type="http://schemas.openxmlformats.org/officeDocument/2006/relationships/image" Target="../media/image7.png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64592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6355080"/>
            <a:ext cx="12191695" cy="502920"/>
          </a:xfrm>
          <a:prstGeom prst="rect">
            <a:avLst/>
          </a:prstGeom>
          <a:solidFill>
            <a:srgbClr val="072B3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143000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6FD0C4"/>
                </a:solidFill>
                <a:latin typeface="PingFang SC"/>
                <a:ea typeface="PingFang SC"/>
                <a:cs typeface="PingFang SC"/>
              </a:rPr>
              <a:t>跨体液多组学整合  ·  Cross‑body‑site Multi‑omics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1691640"/>
            <a:ext cx="1088136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4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唾液 → 尿液 跨位点关联分析</a:t>
            </a:r>
          </a:p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3000" b="1" i="0">
                <a:solidFill>
                  <a:srgbClr val="8FC1DF"/>
                </a:solidFill>
                <a:latin typeface="PingFang SC"/>
                <a:ea typeface="PingFang SC"/>
                <a:cs typeface="PingFang SC"/>
              </a:rPr>
              <a:t>微生物组 </a:t>
            </a:r>
            <a:r>
              <a:rPr sz="3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与 </a:t>
            </a:r>
            <a:r>
              <a:rPr sz="30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代谢组 </a:t>
            </a:r>
            <a:r>
              <a:rPr sz="30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的跨体液互作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49808" y="3840480"/>
            <a:ext cx="1060704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方法参照 Zhang et al., Microbiome 2026 (口腔–肠道–代谢物轴)  ·  HROM 物种注释  ·  95 例(已排除 PD 组)四层配对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749808" y="4663440"/>
            <a:ext cx="3383280" cy="1051560"/>
          </a:xfrm>
          <a:prstGeom prst="roundRect">
            <a:avLst/>
          </a:prstGeom>
          <a:solidFill>
            <a:srgbClr val="10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78407" y="480974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95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96695" y="5340096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6DBDE"/>
                </a:solidFill>
                <a:latin typeface="PingFang SC"/>
                <a:ea typeface="PingFang SC"/>
                <a:cs typeface="PingFang SC"/>
              </a:rPr>
              <a:t>受试者 × 4 数据层 (排除PD)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361688" y="4663440"/>
            <a:ext cx="3383280" cy="1051560"/>
          </a:xfrm>
          <a:prstGeom prst="roundRect">
            <a:avLst/>
          </a:prstGeom>
          <a:solidFill>
            <a:srgbClr val="10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590288" y="480974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08576" y="5340096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6DBDE"/>
                </a:solidFill>
                <a:latin typeface="PingFang SC"/>
                <a:ea typeface="PingFang SC"/>
                <a:cs typeface="PingFang SC"/>
              </a:rPr>
              <a:t>跨层关系  +  1 中介链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7973568" y="4663440"/>
            <a:ext cx="3383280" cy="1051560"/>
          </a:xfrm>
          <a:prstGeom prst="roundRect">
            <a:avLst/>
          </a:prstGeom>
          <a:solidFill>
            <a:srgbClr val="104753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02168" y="4809744"/>
            <a:ext cx="3017520" cy="502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0.18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20456" y="5340096"/>
            <a:ext cx="29718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6DBDE"/>
                </a:solidFill>
                <a:latin typeface="PingFang SC"/>
                <a:ea typeface="PingFang SC"/>
                <a:cs typeface="PingFang SC"/>
              </a:rPr>
              <a:t>代谢→代谢 dbRDA R² (最强轴)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31520" y="6437376"/>
            <a:ext cx="10698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ABE"/>
                </a:solidFill>
                <a:latin typeface="PingFang SC"/>
                <a:ea typeface="PingFang SC"/>
                <a:cs typeface="PingFang SC"/>
              </a:rPr>
              <a:t>同一批受试者,唾液(口腔)→尿液(系统)方向的多组学跨层关联  ·  2026-06-07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Zhang et al., Microbiome 2026 · 跨体位微生物–代谢组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方法学来源：我们借鉴的原始研究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2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623560" cy="4160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27048"/>
            <a:ext cx="507492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研究做了什么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95528" y="2057400"/>
            <a:ext cx="5038344" cy="3291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对象 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3 个独立队列 n=435;4 个体位菌群(肠 / 口腔 / 皮肤 / 鼻)+ 血浆代谢组(814 代谢物)。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问题 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多体位菌群如何共同塑造血浆代谢组?体位之间有没有互作?</a:t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5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 algn="l">
              <a:lnSpc>
                <a:spcPct val="128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方法 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PERMANOVA 方差解释 · GBDT 机器学习预测(R²) · Spearman 相关网络 · 双向中介分析 · 体位交互项模型。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355080" y="1325880"/>
            <a:ext cx="5349240" cy="416052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629400" y="1517904"/>
            <a:ext cx="48006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主要结论</a:t>
            </a:r>
          </a:p>
        </p:txBody>
      </p:sp>
      <p:sp>
        <p:nvSpPr>
          <p:cNvPr id="13" name="Oval 12"/>
          <p:cNvSpPr/>
          <p:nvPr/>
        </p:nvSpPr>
        <p:spPr>
          <a:xfrm>
            <a:off x="6647688" y="2093976"/>
            <a:ext cx="109728" cy="109728"/>
          </a:xfrm>
          <a:prstGeom prst="ellipse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903720" y="2002536"/>
            <a:ext cx="44805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各体位菌群共解释血浆代谢 30.1%;肠 18.4% &gt; 口腔 14.7% &gt; 皮肤 11.5% &gt; 鼻 5.9%。</a:t>
            </a:r>
          </a:p>
        </p:txBody>
      </p:sp>
      <p:sp>
        <p:nvSpPr>
          <p:cNvPr id="15" name="Oval 14"/>
          <p:cNvSpPr/>
          <p:nvPr/>
        </p:nvSpPr>
        <p:spPr>
          <a:xfrm>
            <a:off x="6647688" y="2766060"/>
            <a:ext cx="109728" cy="109728"/>
          </a:xfrm>
          <a:prstGeom prst="ellipse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903720" y="2674620"/>
            <a:ext cx="44805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组成 ≠ 功能:口腔与肠道菌群组成迥异,却与代谢物关联相似。</a:t>
            </a:r>
          </a:p>
        </p:txBody>
      </p:sp>
      <p:sp>
        <p:nvSpPr>
          <p:cNvPr id="17" name="Oval 16"/>
          <p:cNvSpPr/>
          <p:nvPr/>
        </p:nvSpPr>
        <p:spPr>
          <a:xfrm>
            <a:off x="6647688" y="3438144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903720" y="3346704"/>
            <a:ext cx="44805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口腔–肠道轴:广泛的协同 / 增效互作;过半代谢物受多体位共同影响。</a:t>
            </a:r>
          </a:p>
        </p:txBody>
      </p:sp>
      <p:sp>
        <p:nvSpPr>
          <p:cNvPr id="19" name="Oval 18"/>
          <p:cNvSpPr/>
          <p:nvPr/>
        </p:nvSpPr>
        <p:spPr>
          <a:xfrm>
            <a:off x="6647688" y="4110228"/>
            <a:ext cx="109728" cy="109728"/>
          </a:xfrm>
          <a:prstGeom prst="ellipse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03720" y="4018787"/>
            <a:ext cx="44805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中介:口腔→肠道→代谢物 的方向性中介(调控吲哚类、羧酸类等)。</a:t>
            </a:r>
          </a:p>
        </p:txBody>
      </p:sp>
      <p:sp>
        <p:nvSpPr>
          <p:cNvPr id="21" name="Oval 20"/>
          <p:cNvSpPr/>
          <p:nvPr/>
        </p:nvSpPr>
        <p:spPr>
          <a:xfrm>
            <a:off x="6647688" y="4782312"/>
            <a:ext cx="109728" cy="109728"/>
          </a:xfrm>
          <a:prstGeom prst="ellipse">
            <a:avLst/>
          </a:prstGeom>
          <a:solidFill>
            <a:srgbClr val="6A3D9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903720" y="4690872"/>
            <a:ext cx="4480559" cy="65836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胰岛素抵抗(IR)人群该轴更活跃 → 把微生物协同与代谢失调联系起来。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502920" y="5650992"/>
            <a:ext cx="11247120" cy="676656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749808" y="5733288"/>
            <a:ext cx="10972800" cy="53035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我们的迁移  </a:t>
            </a:r>
            <a:r>
              <a:rPr sz="12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论文「口腔→肠道→血浆代谢物」 ⇒ 本研究「唾液(口腔,近端)→尿液(系统,远端)」,同测微生物组+代谢组,沿用其方差解释 / 网络 / 中介框架。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为什么做唾液→尿液跨层分析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研究设计与分析框架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3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25880"/>
            <a:ext cx="5669280" cy="45262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77240" y="1527048"/>
            <a:ext cx="512064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6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思路（迁移自论文）</a:t>
            </a:r>
          </a:p>
        </p:txBody>
      </p:sp>
      <p:sp>
        <p:nvSpPr>
          <p:cNvPr id="10" name="Oval 9"/>
          <p:cNvSpPr/>
          <p:nvPr/>
        </p:nvSpPr>
        <p:spPr>
          <a:xfrm>
            <a:off x="795528" y="2167127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051560" y="2075688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论文研究 口腔→肠道→血浆代谢物 的跨体位微生物–代谢互作。</a:t>
            </a:r>
          </a:p>
        </p:txBody>
      </p:sp>
      <p:sp>
        <p:nvSpPr>
          <p:cNvPr id="12" name="Oval 11"/>
          <p:cNvSpPr/>
          <p:nvPr/>
        </p:nvSpPr>
        <p:spPr>
          <a:xfrm>
            <a:off x="795528" y="2916935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1051560" y="2825496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本队列迁移为 唾液(口腔,近端) → 尿液(系统,远端) 方向。</a:t>
            </a:r>
          </a:p>
        </p:txBody>
      </p:sp>
      <p:sp>
        <p:nvSpPr>
          <p:cNvPr id="14" name="Oval 13"/>
          <p:cNvSpPr/>
          <p:nvPr/>
        </p:nvSpPr>
        <p:spPr>
          <a:xfrm>
            <a:off x="795528" y="3666744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1051560" y="3575303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每受试者同时有两体液的 微生物组(HROM) 与 代谢组(LC-MS)。</a:t>
            </a:r>
          </a:p>
        </p:txBody>
      </p:sp>
      <p:sp>
        <p:nvSpPr>
          <p:cNvPr id="16" name="Oval 15"/>
          <p:cNvSpPr/>
          <p:nvPr/>
        </p:nvSpPr>
        <p:spPr>
          <a:xfrm>
            <a:off x="795528" y="4416552"/>
            <a:ext cx="109728" cy="109728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1051560" y="4325112"/>
            <a:ext cx="48006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8000"/>
              </a:lnSpc>
              <a:spcBef>
                <a:spcPts val="0"/>
              </a:spcBef>
              <a:spcAft>
                <a:spcPts val="200"/>
              </a:spcAft>
            </a:pPr>
            <a:r>
              <a:rPr sz="13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101 受试者四层完全配对 → 可做跨层关联与中介分析。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46520" y="1325880"/>
            <a:ext cx="5257800" cy="452628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720840" y="1517904"/>
            <a:ext cx="470916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四项分析（均为 唾液→尿液 方向）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702552" y="2011680"/>
          <a:ext cx="4709160" cy="230428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457200"/>
                <a:gridCol w="2743200"/>
                <a:gridCol w="1508760"/>
              </a:tblGrid>
              <a:tr h="402336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#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暴露 X (唾液)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结局 Y (尿液)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①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微生物组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微生物组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②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微生物组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代谢组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③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代谢组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代谢组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475488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C0392B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④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物种→尿物种→尿代谢物 (中介)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三层链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6720840" y="4754880"/>
            <a:ext cx="470916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每个组合统一执行：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Mantel + Procrustes 一致性 · dbRDA 方差解释 · Spearman 相关网络(|r|≥0.3,P&lt;0.05) · RandomForest 预测 R²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02920" y="598932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98932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唯一不变的是“唾液→尿液”方向;沿微生物组与代谢组两个层面，系统刻画跨体液耦合强度。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Mantel · Procrustes · PERMANOVA · dbRDA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四种评价方法：特点与正确解读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4</a:t>
            </a:r>
          </a:p>
        </p:txBody>
      </p: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02920" y="1371600"/>
          <a:ext cx="11247120" cy="37856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1920240"/>
                <a:gridCol w="2194560"/>
                <a:gridCol w="5303520"/>
              </a:tblGrid>
              <a:tr h="420624"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方法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类型 / 方向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关键输出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2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解读要点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Mantel test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矩阵相关 · 对称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Mantel r, P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r&gt;0 且 P&lt;0.05 = 整体协同变异;r 绝对值天然偏小(勿套 Pearson 经验),功效低、易低估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Procrustes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构型叠合 · 对称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r, m², P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比 Mantel 更稳、功效更高;可逐样本看残差(叠合图);依赖保留排序维度数 k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PERMANOVA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方差分解 · Y~X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pseudo-F, R², P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R² = Y 被 X 解释的方差比例;对组内离散度(dispersion)敏感;R² 随预测变量数虚高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8412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2E6F95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dbRDA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约束排序 · Y~X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约束 R², F, P, 轴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与 PERMANOVA 同一模型,另给可视化约束轴;支持偏分析控制协变量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9" name="Rounded Rectangle 8"/>
          <p:cNvSpPr/>
          <p:nvPr/>
        </p:nvSpPr>
        <p:spPr>
          <a:xfrm>
            <a:off x="502920" y="5074920"/>
            <a:ext cx="11247120" cy="1280160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7240" y="5175504"/>
            <a:ext cx="10698480" cy="10972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关键  </a:t>
            </a:r>
            <a:r>
              <a:rPr sz="13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四法 = 两类问题 × 各两种实现：</a:t>
            </a:r>
            <a:r>
              <a:rPr sz="1250" b="1" i="0">
                <a:solidFill>
                  <a:srgbClr val="8FC1DF"/>
                </a:solidFill>
                <a:latin typeface="PingFang SC"/>
                <a:ea typeface="PingFang SC"/>
                <a:cs typeface="PingFang SC"/>
              </a:rPr>
              <a:t>对称一致性</a:t>
            </a:r>
            <a:r>
              <a:rPr sz="120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[Mantel↔Procrustes]  vs  </a:t>
            </a:r>
            <a:r>
              <a:rPr sz="125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非对称方差解释</a:t>
            </a:r>
            <a:r>
              <a:rPr sz="120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[PERMANOVA↔dbRDA]。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PERMANOVA 与 dbRDA 是同一模型(R²/F/P 必然基本一致),不算两份独立佐证;</a:t>
            </a:r>
          </a:p>
          <a:p>
            <a:pPr algn="l">
              <a:lnSpc>
                <a:spcPct val="12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若仅非对称法显著、对称法不显著 → 少数强相关特征驱动了可解释方差,但整体构型并不一致。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一图看全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结果速览：三类跨层关系的耦合强度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5</a:t>
            </a:r>
          </a:p>
        </p:txBody>
      </p:sp>
      <p:pic>
        <p:nvPicPr>
          <p:cNvPr id="8" name="Picture 7" descr="synthesis_coupling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02920" y="1417320"/>
            <a:ext cx="6126480" cy="3958648"/>
          </a:xfrm>
          <a:prstGeom prst="rect">
            <a:avLst/>
          </a:prstGeom>
        </p:spPr>
      </p:pic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6903720" y="1554480"/>
          <a:ext cx="5074920" cy="2157984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828800"/>
                <a:gridCol w="868680"/>
                <a:gridCol w="868680"/>
                <a:gridCol w="731520"/>
                <a:gridCol w="777240"/>
              </a:tblGrid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关系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Mantel r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dbRDA R²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显著对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RF R²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① 微生物→微生物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0.003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0.073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600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-0.064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② 微生物→代谢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-0.006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0.102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7237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-0.069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566928">
                <a:tc>
                  <a:txBody>
                    <a:bodyPr wrap="square"/>
                    <a:lstStyle/>
                    <a:p>
                      <a:pPr algn="l"/>
                      <a:r>
                        <a:rPr sz="12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③ 代谢→代谢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0.294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0.176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48144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2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0.081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10" name="Rounded Rectangle 9"/>
          <p:cNvSpPr/>
          <p:nvPr/>
        </p:nvSpPr>
        <p:spPr>
          <a:xfrm>
            <a:off x="6903720" y="3977639"/>
            <a:ext cx="4846320" cy="17830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132320" y="4114800"/>
            <a:ext cx="4389120" cy="16459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耦合强度排序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代谢组→代谢组 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≫  </a:t>
            </a:r>
            <a:r>
              <a:rPr sz="12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微生物→代谢 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&gt;  </a:t>
            </a: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微生物→微生物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跨体液信号主要存在于 代谢层面，而非微生物组成层面。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02920" y="5897880"/>
            <a:ext cx="82296" cy="6400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704088" y="589788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唾液与尿液的代谢组高度耦合;微生物组跨体液耦合弱 → 两体液是相对独立的微生态。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物种 × 物种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分析一：唾液微生物组 → 尿液微生物组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6</a:t>
            </a:r>
          </a:p>
        </p:txBody>
      </p:sp>
      <p:pic>
        <p:nvPicPr>
          <p:cNvPr id="8" name="Picture 7" descr="P1_procrus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212080" cy="3367805"/>
          </a:xfrm>
          <a:prstGeom prst="rect">
            <a:avLst/>
          </a:prstGeom>
        </p:spPr>
      </p:pic>
      <p:pic>
        <p:nvPicPr>
          <p:cNvPr id="9" name="Picture 8" descr="P1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371600"/>
            <a:ext cx="5627076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892040"/>
            <a:ext cx="11247120" cy="731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0.003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Mantel r (P=0.460)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758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0.160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Procrustes r (P=0.590)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0.073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PERMANOVA R² (P=0.650)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114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0.073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dbRDA R² (P=0.650)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806440"/>
            <a:ext cx="82296" cy="64008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80644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四法一致:对称的 Mantel/Procrustes 不显著、非对称的 PERMANOVA≈dbRDA(R²=0.073)亦不显著;仅 600 对物种弱关联、RF R²&lt;0 → 口腔与泌尿道是独立生态系统。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物种 × 代谢物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分析二：唾液微生物组 → 尿液代谢组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7</a:t>
            </a:r>
          </a:p>
        </p:txBody>
      </p:sp>
      <p:pic>
        <p:nvPicPr>
          <p:cNvPr id="8" name="Picture 7" descr="P2_procrus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5212080" cy="3367805"/>
          </a:xfrm>
          <a:prstGeom prst="rect">
            <a:avLst/>
          </a:prstGeom>
        </p:spPr>
      </p:pic>
      <p:pic>
        <p:nvPicPr>
          <p:cNvPr id="9" name="Picture 8" descr="P2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532120" y="1371600"/>
            <a:ext cx="5627076" cy="3657600"/>
          </a:xfrm>
          <a:prstGeom prst="rect">
            <a:avLst/>
          </a:prstGeom>
        </p:spPr>
      </p:pic>
      <p:sp>
        <p:nvSpPr>
          <p:cNvPr id="10" name="Rounded Rectangle 9"/>
          <p:cNvSpPr/>
          <p:nvPr/>
        </p:nvSpPr>
        <p:spPr>
          <a:xfrm>
            <a:off x="502920" y="4892040"/>
            <a:ext cx="11247120" cy="731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-0.006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Mantel r (P=0.570)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9758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0.175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Procrustes r (P=0.470)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0936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0.102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PERMANOVA R² (P=0.086)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12114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0.102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dbRDA R² (P=0.086)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5806440"/>
            <a:ext cx="82296" cy="6400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04088" y="580644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对称法不显著、但 PERMANOVA≈dbRDA R²=0.102(P=0.086)→ 少数强相关特征驱动了可解释方差;显著对(7237)远多于物种→物种,印证“组成≠功能”。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最强的跨体液轴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分析三：唾液代谢组 → 尿液代谢组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8</a:t>
            </a:r>
          </a:p>
        </p:txBody>
      </p:sp>
      <p:pic>
        <p:nvPicPr>
          <p:cNvPr id="8" name="Picture 7" descr="P3_procruste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663440" cy="3013299"/>
          </a:xfrm>
          <a:prstGeom prst="rect">
            <a:avLst/>
          </a:prstGeom>
        </p:spPr>
      </p:pic>
      <p:pic>
        <p:nvPicPr>
          <p:cNvPr id="9" name="Picture 8" descr="P3_network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29200" y="1325880"/>
            <a:ext cx="4206240" cy="2734056"/>
          </a:xfrm>
          <a:prstGeom prst="rect">
            <a:avLst/>
          </a:prstGeom>
        </p:spPr>
      </p:pic>
      <p:pic>
        <p:nvPicPr>
          <p:cNvPr id="10" name="Picture 9" descr="P3_rf_R2hist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89720" y="1554480"/>
            <a:ext cx="2788920" cy="1673351"/>
          </a:xfrm>
          <a:prstGeom prst="rect">
            <a:avLst/>
          </a:prstGeom>
        </p:spPr>
      </p:pic>
      <p:sp>
        <p:nvSpPr>
          <p:cNvPr id="11" name="Rounded Rectangle 10"/>
          <p:cNvSpPr/>
          <p:nvPr/>
        </p:nvSpPr>
        <p:spPr>
          <a:xfrm>
            <a:off x="502920" y="4892040"/>
            <a:ext cx="11247120" cy="73152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0.294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Mantel r (P=0.001)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9758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0.353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Procrustes r (P=0.001)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0936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0.176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PERMANOVA R² (P=0.001)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121140" y="4983479"/>
            <a:ext cx="2537460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800" b="1" i="0">
                <a:solidFill>
                  <a:srgbClr val="00A087"/>
                </a:solidFill>
                <a:latin typeface="PingFang SC"/>
                <a:ea typeface="PingFang SC"/>
                <a:cs typeface="PingFang SC"/>
              </a:rPr>
              <a:t>0.176</a:t>
            </a:r>
          </a:p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dbRDA R² (P=0.001)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02920" y="5806440"/>
            <a:ext cx="82296" cy="6400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704088" y="580644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四法全部显著(Mantel/Procrustes 一致 + PERMANOVA≈dbRDA R²=0.176);RF 可预测 53% 尿液代谢物 → 两体液共享系统循环代谢物。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mediation (校正年龄/性别/疾病组)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分析四：三层中介  唾液物种 → 尿液物种 → 尿液代谢物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9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417320"/>
            <a:ext cx="5669280" cy="182880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731520" y="1572768"/>
            <a:ext cx="52120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中介链路设计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77240" y="2286000"/>
            <a:ext cx="1417320" cy="731520"/>
          </a:xfrm>
          <a:prstGeom prst="round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7240" y="2377440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唾液物种
(暴露 X)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148840" y="245059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2560320" y="2286000"/>
            <a:ext cx="1417320" cy="731520"/>
          </a:xfrm>
          <a:prstGeom prst="round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2560320" y="2377440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尿液物种
(中介 M)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931920" y="2450592"/>
            <a:ext cx="457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→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343400" y="2286000"/>
            <a:ext cx="1417320" cy="731520"/>
          </a:xfrm>
          <a:prstGeom prst="round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343400" y="2377440"/>
            <a:ext cx="1417320" cy="5943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ctr">
              <a:lnSpc>
                <a:spcPct val="9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尿液代谢物
(结局 Y)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02920" y="3429000"/>
            <a:ext cx="5669280" cy="22860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31520" y="3584448"/>
            <a:ext cx="5212080" cy="21031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扫描结果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候选中介三元组  </a:t>
            </a:r>
            <a:r>
              <a:rPr sz="15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120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ACME 名义显著 (P&lt;0.05)  </a:t>
            </a:r>
            <a:r>
              <a:rPr sz="15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0</a:t>
            </a:r>
          </a:p>
          <a:p>
            <a:pPr algn="l">
              <a:lnSpc>
                <a:spcPct val="135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ACME FDR&lt;0.10  </a:t>
            </a:r>
            <a:r>
              <a:rPr sz="15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400800" y="1371600"/>
            <a:ext cx="530352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中介效应最强的链路（前 6，按 ACME P）</a:t>
            </a:r>
          </a:p>
        </p:txBody>
      </p:sp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400800" y="1783080"/>
          <a:ext cx="5349240" cy="3127248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737360"/>
                <a:gridCol w="1554480"/>
                <a:gridCol w="1097280"/>
                <a:gridCol w="960120"/>
              </a:tblGrid>
              <a:tr h="384048"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唾液物种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尿液物种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尿代谢物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ACME P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g__Bulleidia_HRO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s__Veillonella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P_Kainic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0.073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s__Porphyromonas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s__Veillonella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N_Parace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0.087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s__Porphyromonas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s__Veillonella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P_N-(2,5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0.093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g__Neisseria_HRO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s__Aggregatiba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P_N-(2,5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0.107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g__Bulleidia_HRO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s__Veillonella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N_3,4-Di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0.120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457200">
                <a:tc>
                  <a:txBody>
                    <a:bodyPr wrap="square"/>
                    <a:lstStyle/>
                    <a:p>
                      <a:pPr algn="l"/>
                      <a:r>
                        <a:rPr sz="11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s__Porphyromonas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s__Veillonella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P_Kainic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1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0.127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2" name="Rectangle 21"/>
          <p:cNvSpPr/>
          <p:nvPr/>
        </p:nvSpPr>
        <p:spPr>
          <a:xfrm>
            <a:off x="502920" y="5897880"/>
            <a:ext cx="82296" cy="64008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04088" y="5897880"/>
            <a:ext cx="10972800" cy="64008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经 FDR 校正后无显著中介(120 条候选,FDR&gt;0.10) → 唾液菌–尿液菌耦合弱，难成连贯中介链;跨体液信号集中于代谢层。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adonis2 · 单特征解释尿液端方差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逐特征 PERMANOVA：每个显著特征的 R²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10</a:t>
            </a:r>
          </a:p>
        </p:txBody>
      </p:sp>
      <p:pic>
        <p:nvPicPr>
          <p:cNvPr id="8" name="Picture 7" descr="perfeature_permanova_his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371600"/>
            <a:ext cx="4480560" cy="448056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463040"/>
            <a:ext cx="4297680" cy="13258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7498079" y="1463040"/>
            <a:ext cx="91440" cy="132588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754111" y="1572768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① 唾液物种→尿液微生物组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54111" y="1965960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显著特征 </a:t>
            </a:r>
            <a:r>
              <a:rPr sz="15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112</a:t>
            </a: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/ 1713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 (P&lt;0.05)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R² 中位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0.043</a:t>
            </a: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  最大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0.107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2944368"/>
            <a:ext cx="4297680" cy="13258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7498079" y="2944368"/>
            <a:ext cx="91440" cy="1325880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7754111" y="3054096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② 唾液物种→尿液代谢组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54111" y="3447288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显著特征 </a:t>
            </a:r>
            <a:r>
              <a:rPr sz="15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80</a:t>
            </a: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/ 1713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 (P&lt;0.05)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R² 中位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0.024</a:t>
            </a: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  最大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0.114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4425696"/>
            <a:ext cx="4297680" cy="13258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7498079" y="4425696"/>
            <a:ext cx="91440" cy="132588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7754111" y="4535424"/>
            <a:ext cx="38404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③ 唾液代谢物→尿液代谢组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754111" y="4928616"/>
            <a:ext cx="3840480" cy="7315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显著特征 </a:t>
            </a:r>
            <a:r>
              <a:rPr sz="15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343</a:t>
            </a: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/ 884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 (P&lt;0.05)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R² 中位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0.028</a:t>
            </a: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  最大 </a:t>
            </a:r>
            <a:r>
              <a:rPr sz="12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0.125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98932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704088" y="598932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绝大多数显著特征单特征 R² 都很小(多 2–5%) → 跨体液信号由大量小贡献特征共同构成,而非少数主导者;代谢物层显著数更多、R² 更高。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对应 Zhang et al. Fig 2a · 联合 PERMANOVA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论文式累计方差解释 + 95% 置信区间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11</a:t>
            </a:r>
          </a:p>
        </p:txBody>
      </p:sp>
      <p:pic>
        <p:nvPicPr>
          <p:cNvPr id="8" name="Picture 7" descr="permanova_cumulative_R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57200" y="1417320"/>
            <a:ext cx="6949440" cy="2779776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635240" y="1417320"/>
            <a:ext cx="41605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872983" y="1554480"/>
            <a:ext cx="3703320" cy="2011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三步法(适配小样本)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① 逐特征 adonis2 海选显著(P&lt;0.05)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② 显著特征→前10主成分→一个联合 adonis2 求累计 R²(共享方差只计一次,有界)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③ 无放回再抽样得 95% CI(避免有放回 bootstrap 的零距离虚高)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635240" y="3703320"/>
            <a:ext cx="4160520" cy="205740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872983" y="3840480"/>
            <a:ext cx="3703320" cy="1920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与论文最直接可比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② 唾液菌群 → 尿液代谢组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累计 R² = </a:t>
            </a:r>
            <a:r>
              <a:rPr sz="20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24.1%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95% CI </a:t>
            </a:r>
            <a:r>
              <a:rPr sz="12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21.8% – 29.9%</a:t>
            </a:r>
            <a:r>
              <a:rPr sz="11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P=0.001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≈ 论文 口腔 14.7% / 肠道 18.4% 同类指标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594360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04088" y="594360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去共线后的真实联合解释度约 20–25%(P&lt;0.01,有界);而单变量 R² 朴素累加会溢出&gt;100%,只反映特征冗余、不可作总解释度。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面向动物实验验证的选靶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候选代谢物：健康/疾病有差异 且 两部位共享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12</a:t>
            </a:r>
          </a:p>
        </p:txBody>
      </p:sp>
      <p:pic>
        <p:nvPicPr>
          <p:cNvPr id="8" name="Picture 7" descr="shared_disease_scat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5943600" cy="4245428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6720840" y="1371600"/>
            <a:ext cx="5029200" cy="1170432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976872" y="1463040"/>
            <a:ext cx="4526280" cy="1005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筛选漏斗  </a:t>
            </a: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两部位共享 522 → 两部位均 P&lt;0.05 且同向 9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(健康 N=34  vs  疾病 P/PD/PC/PCD n=67;Wilcoxon + BH-FDR)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720840" y="2697480"/>
            <a:ext cx="5029200" cy="1874519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9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976872" y="2788920"/>
            <a:ext cx="452628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✅ 优先候选(内源性·可购·疾病中均↓)</a:t>
            </a:r>
          </a:p>
        </p:txBody>
      </p:sp>
      <p:sp>
        <p:nvSpPr>
          <p:cNvPr id="13" name="Oval 12"/>
          <p:cNvSpPr/>
          <p:nvPr/>
        </p:nvSpPr>
        <p:spPr>
          <a:xfrm>
            <a:off x="7013448" y="3273552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223759" y="3182112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Propionic acid 丙酸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短链脂肪酸·微生物来源·抗炎</a:t>
            </a:r>
          </a:p>
        </p:txBody>
      </p:sp>
      <p:sp>
        <p:nvSpPr>
          <p:cNvPr id="15" name="Oval 14"/>
          <p:cNvSpPr/>
          <p:nvPr/>
        </p:nvSpPr>
        <p:spPr>
          <a:xfrm>
            <a:off x="7013448" y="3703320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223759" y="3611879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2-Hydroxyphenylacetic acid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微生物芳香族代谢物</a:t>
            </a:r>
          </a:p>
        </p:txBody>
      </p:sp>
      <p:sp>
        <p:nvSpPr>
          <p:cNvPr id="17" name="Oval 16"/>
          <p:cNvSpPr/>
          <p:nvPr/>
        </p:nvSpPr>
        <p:spPr>
          <a:xfrm>
            <a:off x="7013448" y="4133087"/>
            <a:ext cx="91440" cy="91440"/>
          </a:xfrm>
          <a:prstGeom prst="ellipse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223759" y="4041648"/>
            <a:ext cx="4206240" cy="4114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N-lauroylethanolamine</a:t>
            </a: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  N-酰基乙醇胺类脂质介质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6720840" y="4709160"/>
            <a:ext cx="5029200" cy="96012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976872" y="4791456"/>
            <a:ext cx="45262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⚠️ 排除  </a:t>
            </a: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Tri-isobutylphosphate = 工业增塑剂,非内源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⚠️ 待确证  </a:t>
            </a: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3 个长 IUPAC 名结构需标准品 MS/MS 比对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11480" y="594360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12648" y="594360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三个优先候选在疾病组均↓ → 假说:疾病伴随保护性微生物/脂质代谢物耗竭 → 可直接设计“补充干预”动物实验验证。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按优先级从左到右排列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候选代谢物分布形态与判读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13</a:t>
            </a:r>
          </a:p>
        </p:txBody>
      </p:sp>
      <p:pic>
        <p:nvPicPr>
          <p:cNvPr id="8" name="Picture 7" descr="shared_disease_boxplot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25880"/>
            <a:ext cx="7459980" cy="406908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8595360" y="1325880"/>
            <a:ext cx="3154680" cy="173736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9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796528" y="1417320"/>
            <a:ext cx="2770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[OK] 优先(1–3)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814816" y="1746504"/>
            <a:ext cx="2734056" cy="1188719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Propionic acid、N-lauroylethanol、2-Hydroxyphenyla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箱体紧凑、无零值堆积;健康→疾病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位移小但两体液同向稳定下降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→ 可信,优先选靶(丙酸居首)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8595360" y="3200400"/>
            <a:ext cx="3154680" cy="214884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8796528" y="3291840"/>
            <a:ext cx="2770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[?] 待确证(4–8)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814816" y="3621024"/>
            <a:ext cx="2734056" cy="1600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零值伪影/膳食或表面活性剂污染嫌疑,须标准品+MS/MS: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(E)-1-(4-methylquinazolin-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2-(methyl(2H-pyrazolo[3,4-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N-(4-((6aR,8aS)-4-hydroxy-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N,N-Dimethyltetradecylamin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Harman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8595360" y="5458968"/>
            <a:ext cx="3154680" cy="141732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C039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796528" y="5550407"/>
            <a:ext cx="2770632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[X] 排除(9)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814816" y="5879592"/>
            <a:ext cx="2734056" cy="8686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Tri-isobutylphosph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分布干净、统计最强,但为工业增塑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剂等外源污染物 → 不作靶点</a:t>
            </a:r>
          </a:p>
        </p:txBody>
      </p:sp>
      <p:sp>
        <p:nvSpPr>
          <p:cNvPr id="18" name="Rectangle 17"/>
          <p:cNvSpPr/>
          <p:nvPr/>
        </p:nvSpPr>
        <p:spPr>
          <a:xfrm>
            <a:off x="411480" y="5623560"/>
            <a:ext cx="82296" cy="566928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12648" y="5623560"/>
            <a:ext cx="7726679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统计最强的两个恰恰最不该买 → 候选必须按“内源性/可购/已确证”分层,不能只按 p 值取前 N 个。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P / PD / PC / PCD 各自 vs 健康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疾病亚组特异性：候选是“肾病相关”而非牙周炎本身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14</a:t>
            </a:r>
          </a:p>
        </p:txBody>
      </p:sp>
      <p:pic>
        <p:nvPicPr>
          <p:cNvPr id="8" name="Picture 7" descr="candidate_subgroup_hea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024716" cy="3931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726679" y="1371600"/>
            <a:ext cx="4023360" cy="196596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982711" y="1463040"/>
            <a:ext cx="352044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★ 关键发现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三个优先候选的显著效应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全部只出现在 PC 与 PCD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——正是两个含【肾病】的组;</a:t>
            </a:r>
          </a:p>
          <a:p>
            <a:pPr algn="l">
              <a:lnSpc>
                <a:spcPct val="118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P(单纯牙周炎)、PD 均无。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726679" y="3474720"/>
            <a:ext cx="4023360" cy="1600200"/>
          </a:xfrm>
          <a:prstGeom prst="roundRect">
            <a:avLst/>
          </a:prstGeom>
          <a:solidFill>
            <a:srgbClr val="FFFFFF"/>
          </a:solidFill>
          <a:ln w="1651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955279" y="3566160"/>
            <a:ext cx="3566160" cy="310896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不是样本量假象 — 看效应量(丙酸 log2FC)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7955279" y="3931920"/>
          <a:ext cx="3712464" cy="91440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914400"/>
                <a:gridCol w="658368"/>
                <a:gridCol w="658368"/>
                <a:gridCol w="658368"/>
                <a:gridCol w="822960"/>
              </a:tblGrid>
              <a:tr h="292608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/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PD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PCD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唾液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+0.17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-0.47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-0.85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-0.85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0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尿液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-0.03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-0.44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-0.71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00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-0.48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7955279" y="5138928"/>
            <a:ext cx="356616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P 组效应量≈0(非“测不出”);PD n=6 居中但把握度不足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11480" y="5577840"/>
            <a:ext cx="82296" cy="59436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12648" y="5577840"/>
            <a:ext cx="11064240" cy="59436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直接含义:动物主模型应以【慢性肾病 CKD】为核心(腺嘌呤/5，6 肾切除),牙周炎作为叠加因素——与最初“以牙周炎为主”的设想相反。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无 eGFR → 改用有序梯度 + 牙周炎人群内 + 多变量校正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肾病梯度趋势与独立性：夯实“肾病相关”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15</a:t>
            </a:r>
          </a:p>
        </p:txBody>
      </p:sp>
      <p:pic>
        <p:nvPicPr>
          <p:cNvPr id="8" name="Picture 7" descr="kidney_gradien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11480" y="1371600"/>
            <a:ext cx="6838121" cy="3931920"/>
          </a:xfrm>
          <a:prstGeom prst="rect">
            <a:avLst/>
          </a:prstGeom>
        </p:spPr>
      </p:pic>
      <p:sp>
        <p:nvSpPr>
          <p:cNvPr id="9" name="Rounded Rectangle 8"/>
          <p:cNvSpPr/>
          <p:nvPr/>
        </p:nvSpPr>
        <p:spPr>
          <a:xfrm>
            <a:off x="7498079" y="1371600"/>
            <a:ext cx="4251960" cy="1371600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726679" y="1463040"/>
            <a:ext cx="3794760" cy="12344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⚠️ 数据可得性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本队列无 eGFR/肌酐/BUN,仅有肾病 0/1 标记</a:t>
            </a:r>
          </a:p>
          <a:p>
            <a:pPr algn="l">
              <a:lnSpc>
                <a:spcPct val="116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→ 不做“假 eGFR 分级”,改用三项更严格检验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7498079" y="2880360"/>
            <a:ext cx="4251960" cy="6400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7699248" y="2935224"/>
            <a:ext cx="3849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① 有序梯度趋势 (Jonckheere–Terpstra)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0 无肾病 → 1 肾病 → 2 糖尿病肾病</a:t>
            </a:r>
          </a:p>
        </p:txBody>
      </p:sp>
      <p:sp>
        <p:nvSpPr>
          <p:cNvPr id="13" name="Rounded Rectangle 12"/>
          <p:cNvSpPr/>
          <p:nvPr/>
        </p:nvSpPr>
        <p:spPr>
          <a:xfrm>
            <a:off x="7498079" y="3593591"/>
            <a:ext cx="4251960" cy="6400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7699248" y="3648456"/>
            <a:ext cx="3849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② 仅牙周炎人群内比较 (n=18 vs 49)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所有人都有牙周炎 → 排除牙周炎驱动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7498079" y="4306824"/>
            <a:ext cx="4251960" cy="6400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7699248" y="4361688"/>
            <a:ext cx="3849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③ 多变量校正</a:t>
            </a:r>
          </a:p>
          <a:p>
            <a:pPr algn="l">
              <a:lnSpc>
                <a:spcPct val="11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~ 肾病+牙周炎+糖尿病+年龄+性别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7498079" y="5074920"/>
            <a:ext cx="4251960" cy="658368"/>
          </a:xfrm>
          <a:prstGeom prst="roundRect">
            <a:avLst/>
          </a:prstGeom>
          <a:solidFill>
            <a:srgbClr val="FFFFFF"/>
          </a:solidFill>
          <a:ln w="19050">
            <a:solidFill>
              <a:srgbClr val="1B9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699248" y="5148072"/>
            <a:ext cx="3849624" cy="5486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丙酸唾液: </a:t>
            </a:r>
            <a:r>
              <a:rPr sz="11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JT P=3e-09</a:t>
            </a: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  ρ=-0.59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校正后独立: β=-1.00, P=0.0001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943600"/>
            <a:ext cx="82296" cy="548640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594360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丙酸是唯一三项全部通过的候选;2-羟基苯乙酸唾液无趋势(JT P=0.11)、校正后 ns → 应降级。梯度分析同时夯实结论并在候选间做出判别。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跨体液 · 跨亚组 · 剂量方案 — 一页立项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丙酸 (Propionic acid)：首选靶点证据汇总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16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98448"/>
            <a:ext cx="3611880" cy="8686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40080" y="13716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2/2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58368" y="181051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唾液+尿液均显著且同向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4206240" y="1298448"/>
            <a:ext cx="3611880" cy="8686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4434840" y="13716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-0.59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53128" y="181051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肾病梯度 ρ (唾液,单调下降)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8001000" y="1298448"/>
            <a:ext cx="3611880" cy="86868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229600" y="1371600"/>
            <a:ext cx="32004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0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P=0.0001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247888" y="1810512"/>
            <a:ext cx="3200400" cy="292608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校正牙周炎/糖尿病后仍独立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411480" y="2331720"/>
            <a:ext cx="3611880" cy="2697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2E6F9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40080" y="242316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① 跨体液(共享)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58368" y="2816352"/>
            <a:ext cx="3118104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唾液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log2FC −0.77, FDR 1.7e-05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尿液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log2FC −0.37, P 8.6e-03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两体液同向下降,属 522 个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共享代谢物之一 → 系统性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而非单一体液局部现象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4206240" y="2331720"/>
            <a:ext cx="3611880" cy="2697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D9A441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4434840" y="2423160"/>
            <a:ext cx="31546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② 跨亚组 · 肾病梯度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7" y="2816352"/>
            <a:ext cx="3118104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P(单纯牙周炎) log2FC ≈ </a:t>
            </a:r>
            <a:r>
              <a:rPr sz="11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0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PC/PCD(含肾病) </a:t>
            </a:r>
            <a:r>
              <a:rPr sz="11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−0.85/−0.71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JT 单调趋势 P=3e-09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牙周炎人群内仍显著 P=7e-05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→ 效应源自肾病,非牙周炎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8001000" y="2331720"/>
            <a:ext cx="3749039" cy="2697480"/>
          </a:xfrm>
          <a:prstGeom prst="roundRect">
            <a:avLst/>
          </a:prstGeom>
          <a:solidFill>
            <a:srgbClr val="FFFFFF"/>
          </a:solidFill>
          <a:ln w="17780">
            <a:solidFill>
              <a:srgbClr val="1B998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8229600" y="2423160"/>
            <a:ext cx="3291839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③ 剂量与验证方案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247888" y="2816352"/>
            <a:ext cx="3255263" cy="21488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丙酸钠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150–200 mM 自由饮水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(或灌胃 1 g/kg/d)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模型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腺嘌呤 CKD ± 结扎牙周炎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时程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造模前 7d 预给药 → 14d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靶点验证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LC-MS 测鼠唾液/尿/血清</a:t>
            </a:r>
          </a:p>
          <a:p>
            <a:pPr algn="l">
              <a:lnSpc>
                <a:spcPct val="122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货源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Sigma P1880 丙酸钠 ≥99%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411480" y="5138928"/>
            <a:ext cx="11338560" cy="749808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658368" y="5230368"/>
            <a:ext cx="10972800" cy="62179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为什么是丙酸(而非另两个候选)  </a:t>
            </a:r>
            <a:r>
              <a:rPr sz="11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三项肾病检验(梯度趋势 / 牙周炎人群内 / 多变量校正)中,</a:t>
            </a:r>
            <a:r>
              <a:rPr sz="115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只有丙酸全部通过</a:t>
            </a:r>
            <a:r>
              <a:rPr sz="11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;N-月桂酰乙醇胺尿液不稳,2-羟基苯乙酸唾液无趋势。</a:t>
            </a:r>
          </a:p>
        </p:txBody>
      </p:sp>
      <p:sp>
        <p:nvSpPr>
          <p:cNvPr id="28" name="Rectangle 27"/>
          <p:cNvSpPr/>
          <p:nvPr/>
        </p:nvSpPr>
        <p:spPr>
          <a:xfrm>
            <a:off x="411480" y="6053328"/>
            <a:ext cx="82296" cy="56692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12648" y="6053328"/>
            <a:ext cx="11064240" cy="56692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立项一句话:丙酸在唾液与尿液同步耗竭、随肾病严重度单调下降、且独立于牙周炎与糖尿病 → 以 CKD 小鼠补充丙酸钠验证其保护作用。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补充干预 · 两阶段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小鼠验证实验设计（依亚组结果调整为 CKD 为核心）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17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11480" y="1298448"/>
            <a:ext cx="11338560" cy="566928"/>
          </a:xfrm>
          <a:prstGeom prst="round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58368" y="1371600"/>
            <a:ext cx="10972800" cy="4572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第 0 步(买了先做这个)  </a:t>
            </a:r>
            <a:r>
              <a:rPr sz="115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当前注释为谱库匹配(~Level 2) → 标准品先做保留时间+二级谱确证,再进动物实验;标准品一物两用。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411480" y="2011680"/>
            <a:ext cx="5486400" cy="365760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8368" y="2103120"/>
            <a:ext cx="502920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模型与分组(C57BL/6)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8368" y="2487168"/>
            <a:ext cx="507492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阶段一  </a:t>
            </a: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腺嘌呤饮食 CKD ± 补充干预</a:t>
            </a:r>
          </a:p>
          <a:p>
            <a:pPr algn="l">
              <a:lnSpc>
                <a:spcPct val="12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阶段二  </a:t>
            </a:r>
            <a:r>
              <a:rPr sz="11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CKD + 结扎牙周炎(共病模型)</a:t>
            </a:r>
          </a:p>
        </p:txBody>
      </p:sp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658368" y="3401568"/>
          <a:ext cx="3977640" cy="1956816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548640"/>
                <a:gridCol w="2651760"/>
                <a:gridCol w="777240"/>
              </a:tblGrid>
              <a:tr h="310896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组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处理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FFFFFF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n</a:t>
                      </a:r>
                    </a:p>
                  </a:txBody>
                  <a:tcPr anchor="ctr" marL="73152" marR="54864" marT="18288" marB="18288">
                    <a:solidFill>
                      <a:srgbClr val="0B3B47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G1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Sham + 溶剂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8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G2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CKD + 溶剂(疾病对照)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G3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CKD + 丙酸钠 低剂量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G4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CKD + 丙酸钠 高剂量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10</a:t>
                      </a:r>
                    </a:p>
                  </a:txBody>
                  <a:tcPr anchor="ctr" marL="73152" marR="54864" marT="18288" marB="18288">
                    <a:solidFill>
                      <a:srgbClr val="FFFFFF"/>
                    </a:solidFill>
                  </a:tcPr>
                </a:tc>
              </a:tr>
              <a:tr h="329184">
                <a:tc>
                  <a:txBody>
                    <a:bodyPr wrap="square"/>
                    <a:lstStyle/>
                    <a:p>
                      <a:pPr algn="l"/>
                      <a:r>
                        <a:rPr sz="1050" b="1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G5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丙酸钠单独(毒性对照)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l"/>
                      <a:r>
                        <a:rPr sz="1050" b="0" i="0">
                          <a:solidFill>
                            <a:srgbClr val="202A30"/>
                          </a:solidFill>
                          <a:latin typeface="PingFang SC"/>
                          <a:ea typeface="PingFang SC"/>
                          <a:cs typeface="PingFang SC"/>
                        </a:rPr>
                        <a:t>6</a:t>
                      </a:r>
                    </a:p>
                  </a:txBody>
                  <a:tcPr anchor="ctr" marL="73152" marR="54864" marT="18288" marB="18288">
                    <a:solidFill>
                      <a:srgbClr val="EEF4F5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658368" y="5349240"/>
            <a:ext cx="50292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95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功效:micro-CT/肾功能主要终点,预期 d≈1.2–1.5 → n=10 达 80%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080760" y="2011680"/>
            <a:ext cx="5669280" cy="365760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E2ECE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327648" y="2103120"/>
            <a:ext cx="5212080" cy="320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3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给药与终点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27648" y="2487168"/>
            <a:ext cx="5212080" cy="11430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丙酸钠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150–200 mM 自由饮水(或灌胃 1 g/kg/d)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2-羟基苯乙酸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灌胃 10–50 mg/kg/d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N-月桂酰乙醇胺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5–20 mg/kg/d,玉米油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时程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造模前 7 d 预给药 → 持续至第 14 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27648" y="3794760"/>
            <a:ext cx="5212080" cy="182880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主要终点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肾功能(Scr/BUN/尿ACR)+ 肾组织 PAS/纤维化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次要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micro-CT 牙槽骨吸收;牙龈 IL-1β/IL-6/TNF-α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靶点验证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LC-MS 测鼠唾液/尿/血清该代谢物是否回补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机制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GPR43(FFAR2)/HDAC;Treg-Th17 平衡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050" b="1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严谨性  </a:t>
            </a:r>
            <a:r>
              <a:rPr sz="105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随机化+盲评;笼效应;溶剂对照;IACUC 批件</a:t>
            </a:r>
          </a:p>
        </p:txBody>
      </p:sp>
      <p:sp>
        <p:nvSpPr>
          <p:cNvPr id="19" name="Rectangle 18"/>
          <p:cNvSpPr/>
          <p:nvPr/>
        </p:nvSpPr>
        <p:spPr>
          <a:xfrm>
            <a:off x="411480" y="5760720"/>
            <a:ext cx="82296" cy="548640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612648" y="5760720"/>
            <a:ext cx="1106424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本小鼠实验的目的:人群数据只能证明“丙酸随肾病降低”是相关,故用 CKD 小鼠补充丙酸钠检验其是否为因果(补回能否改善肾损伤);若要进一步夯实因果,可再加【耗竭臂】(清除产丙酸菌)看表型是否加重。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146304"/>
            <a:ext cx="182880" cy="914400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274320"/>
            <a:ext cx="10515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结论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02920" y="530352"/>
            <a:ext cx="11155680" cy="8229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7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主要发现与生物学解读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338560" y="6419088"/>
            <a:ext cx="73152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r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000" b="0" i="0">
                <a:solidFill>
                  <a:srgbClr val="6B7A82"/>
                </a:solidFill>
                <a:latin typeface="PingFang SC"/>
                <a:ea typeface="PingFang SC"/>
                <a:cs typeface="PingFang SC"/>
              </a:rPr>
              <a:t>18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502920" y="1371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502920" y="1371600"/>
            <a:ext cx="5532120" cy="109728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758952" y="15727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1B998B"/>
                </a:solidFill>
                <a:latin typeface="PingFang SC"/>
                <a:ea typeface="PingFang SC"/>
                <a:cs typeface="PingFang SC"/>
              </a:rPr>
              <a:t>③ 代谢组→代谢组：最强轴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77240" y="2011680"/>
            <a:ext cx="49834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群落级一致显著(Mantel 0.29, dbRDA R²=0.18)。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RF 稳健预测大量尿液代谢物。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反映两体液共享系统循环代谢物。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371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6217920" y="1371600"/>
            <a:ext cx="5532120" cy="109728"/>
          </a:xfrm>
          <a:prstGeom prst="rect">
            <a:avLst/>
          </a:prstGeom>
          <a:solidFill>
            <a:srgbClr val="D9A44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473952" y="15727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D9A441"/>
                </a:solidFill>
                <a:latin typeface="PingFang SC"/>
                <a:ea typeface="PingFang SC"/>
                <a:cs typeface="PingFang SC"/>
              </a:rPr>
              <a:t>② 微生物→代谢：局部关联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492240" y="2011680"/>
            <a:ext cx="49834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显著对(7237)远多于物种–物种层。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口腔菌影响远端代谢 &gt; 影响远端菌群。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印证“组成不必然决定功能”。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502920" y="3657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502920" y="3657600"/>
            <a:ext cx="5532120" cy="109728"/>
          </a:xfrm>
          <a:prstGeom prst="rect">
            <a:avLst/>
          </a:prstGeom>
          <a:solidFill>
            <a:srgbClr val="2E6F9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758952" y="38587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2E6F95"/>
                </a:solidFill>
                <a:latin typeface="PingFang SC"/>
                <a:ea typeface="PingFang SC"/>
                <a:cs typeface="PingFang SC"/>
              </a:rPr>
              <a:t>① 微生物→微生物：最弱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77240" y="4297680"/>
            <a:ext cx="49834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整体群落几乎不一致(Mantel≈0)。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口腔 vs 泌尿道 = 独立微生态系统。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仅个别物种弱关联。</a:t>
            </a:r>
          </a:p>
        </p:txBody>
      </p:sp>
      <p:sp>
        <p:nvSpPr>
          <p:cNvPr id="20" name="Rounded Rectangle 19"/>
          <p:cNvSpPr/>
          <p:nvPr/>
        </p:nvSpPr>
        <p:spPr>
          <a:xfrm>
            <a:off x="6217920" y="3657600"/>
            <a:ext cx="5532120" cy="2148840"/>
          </a:xfrm>
          <a:prstGeom prst="roundRect">
            <a:avLst/>
          </a:prstGeom>
          <a:solidFill>
            <a:srgbClr val="EEF4F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6217920" y="3657600"/>
            <a:ext cx="5532120" cy="109728"/>
          </a:xfrm>
          <a:prstGeom prst="rect">
            <a:avLst/>
          </a:prstGeom>
          <a:solidFill>
            <a:srgbClr val="C0392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473952" y="3858768"/>
            <a:ext cx="50292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400" b="1" i="0">
                <a:solidFill>
                  <a:srgbClr val="C0392B"/>
                </a:solidFill>
                <a:latin typeface="PingFang SC"/>
                <a:ea typeface="PingFang SC"/>
                <a:cs typeface="PingFang SC"/>
              </a:rPr>
              <a:t>④ 中介链：不显著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6492240" y="4297680"/>
            <a:ext cx="4983480" cy="1417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120 条候选,FDR 校正后均不显著。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菌群耦合弱 → 无连贯中介通路。</a:t>
            </a:r>
          </a:p>
          <a:p>
            <a:pPr algn="l">
              <a:lnSpc>
                <a:spcPct val="11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• 与论文紧密口腔–肠道轴形成对照。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02920" y="5943600"/>
            <a:ext cx="82296" cy="548640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704088" y="5943600"/>
            <a:ext cx="10972800" cy="548640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0B3B47"/>
                </a:solidFill>
                <a:latin typeface="PingFang SC"/>
                <a:ea typeface="PingFang SC"/>
                <a:cs typeface="PingFang SC"/>
              </a:rPr>
              <a:t>结论  </a:t>
            </a:r>
            <a:r>
              <a:rPr sz="1300" b="0" i="0">
                <a:solidFill>
                  <a:srgbClr val="202A30"/>
                </a:solidFill>
                <a:latin typeface="PingFang SC"/>
                <a:ea typeface="PingFang SC"/>
                <a:cs typeface="PingFang SC"/>
              </a:rPr>
              <a:t>唾液–尿液轴：微生物组弱耦合、代谢组强耦合 — 符合两体液经血液循环过滤连接(而非消化道连续)的生理学。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B3B4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1B998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640080" y="411480"/>
            <a:ext cx="10058400" cy="64008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2600" b="1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>方法与参考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40080" y="1325880"/>
            <a:ext cx="557784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方法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微生物组：物种水平;流行度+丰度联合过滤(≥5%样本&amp;RA&gt;0.01%);Bray-Curtis(一致性)、CLR(相关/RF)。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代谢组：正+负离子合并，log2(x+1);z-score 欧氏距离;相关/RF 取方差前400。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一致性：Mantel(Spearman)+Procrustes/protest(999置换)。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方差解释：唾液端主坐标轴约束的 dbRDA(vegan::dbrda)。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相关网络：Spearman |r|≥0.3 且 P&lt;0.05(并报 BH-FDR);igraph/ggraph。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预测：RandomForest 5折交叉验证逐特征 R²。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• 中介：mediation::mediate，校正年龄/性别/疾病组，FDR 控制。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0" y="1325880"/>
            <a:ext cx="5394960" cy="42062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500" b="1" i="0">
                <a:solidFill>
                  <a:srgbClr val="7FE3D6"/>
                </a:solidFill>
                <a:latin typeface="PingFang SC"/>
                <a:ea typeface="PingFang SC"/>
                <a:cs typeface="PingFang SC"/>
              </a:rPr>
              <a:t>参考与产出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0" i="0">
                <a:solidFill>
                  <a:srgbClr val="DFEAEC"/>
                </a:solidFill>
                <a:latin typeface="PingFang SC"/>
                <a:ea typeface="PingFang SC"/>
                <a:cs typeface="PingFang SC"/>
              </a:rPr>
              <a:t>Zhang J, et al. Cross-body site microbial interactions influence the human plasma metabolome. Microbiome. 2026;14:147.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600" b="0" i="0">
                <a:solidFill>
                  <a:srgbClr val="FFFFFF"/>
                </a:solidFill>
                <a:latin typeface="PingFang SC"/>
                <a:ea typeface="PingFang SC"/>
                <a:cs typeface="PingFang SC"/>
              </a:rPr>
              <a:t/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200" b="1" i="0">
                <a:solidFill>
                  <a:srgbClr val="8FC1DF"/>
                </a:solidFill>
                <a:latin typeface="PingFang SC"/>
                <a:ea typeface="PingFang SC"/>
                <a:cs typeface="PingFang SC"/>
              </a:rPr>
              <a:t>报告：HROM_noPD_cross_site_multiomics.html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脚本：crossomics_helpers.R / GTDB_cross_site_multiomics.Rmd（参数化 db=HROM，drop_groups=PD）</a:t>
            </a:r>
          </a:p>
          <a:p>
            <a:pPr algn="l">
              <a:lnSpc>
                <a:spcPct val="130000"/>
              </a:lnSpc>
              <a:spcBef>
                <a:spcPts val="0"/>
              </a:spcBef>
              <a:spcAft>
                <a:spcPts val="200"/>
              </a:spcAft>
            </a:pPr>
            <a:r>
              <a:rPr sz="1150" b="0" i="0">
                <a:solidFill>
                  <a:srgbClr val="CFE3E6"/>
                </a:solidFill>
                <a:latin typeface="PingFang SC"/>
                <a:ea typeface="PingFang SC"/>
                <a:cs typeface="PingFang SC"/>
              </a:rPr>
              <a:t>结果表：crossomics/tables/*.csv  图：crossomics/figures/*.png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5989320"/>
            <a:ext cx="10972800" cy="36576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  <a:spcAft>
                <a:spcPts val="200"/>
              </a:spcAft>
            </a:pPr>
            <a:r>
              <a:rPr sz="1100" b="0" i="0">
                <a:solidFill>
                  <a:srgbClr val="9FBABE"/>
                </a:solidFill>
                <a:latin typeface="PingFang SC"/>
                <a:ea typeface="PingFang SC"/>
                <a:cs typeface="PingFang SC"/>
              </a:rPr>
              <a:t>局限：横断面、相对丰度、PD 组 n=6;中介为关联性解释,非因果。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