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73"/>
  </p:normalViewPr>
  <p:slideViewPr>
    <p:cSldViewPr snapToGrid="0" snapToObjects="1">
      <p:cViewPr varScale="1">
        <p:scale>
          <a:sx n="111" d="100"/>
          <a:sy n="111" d="100"/>
        </p:scale>
        <p:origin x="560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7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FD0C4"/>
                </a:solidFill>
                <a:latin typeface="PingFang SC"/>
                <a:ea typeface="PingFang SC"/>
                <a:cs typeface="PingFang SC"/>
              </a:rPr>
              <a:t>微生物组数据库对比  ·  Database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6984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唾液与尿液微生物组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8FC1DF"/>
                </a:solidFill>
                <a:latin typeface="PingFang SC"/>
                <a:ea typeface="PingFang SC"/>
                <a:cs typeface="PingFang SC"/>
              </a:rPr>
              <a:t>GTDB </a:t>
            </a:r>
            <a:r>
              <a:rPr sz="40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vs </a:t>
            </a:r>
            <a:r>
              <a:rPr sz="4000" b="1" i="0">
                <a:solidFill>
                  <a:srgbClr val="7FE3D6"/>
                </a:solidFill>
                <a:latin typeface="PingFang SC"/>
                <a:ea typeface="PingFang SC"/>
                <a:cs typeface="PingFang SC"/>
              </a:rPr>
              <a:t>HROM </a:t>
            </a:r>
            <a:r>
              <a:rPr sz="40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注释结果对比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977639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CFE3E6"/>
                </a:solidFill>
                <a:latin typeface="PingFang SC"/>
                <a:ea typeface="PingFang SC"/>
                <a:cs typeface="PingFang SC"/>
              </a:rPr>
              <a:t>牙周炎–糖尿病–肾病共病队列  ·  同一分析流程  ·  两套参考数据库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4800600"/>
            <a:ext cx="3383280" cy="1005840"/>
          </a:xfrm>
          <a:prstGeom prst="roundRect">
            <a:avLst/>
          </a:prstGeom>
          <a:solidFill>
            <a:srgbClr val="10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7" y="4946904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101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5" y="54406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C6DBDE"/>
                </a:solidFill>
                <a:latin typeface="PingFang SC"/>
                <a:ea typeface="PingFang SC"/>
                <a:cs typeface="PingFang SC"/>
              </a:rPr>
              <a:t>受试者 × 唾液+尿液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4800600"/>
            <a:ext cx="3383280" cy="1005840"/>
          </a:xfrm>
          <a:prstGeom prst="roundRect">
            <a:avLst/>
          </a:prstGeom>
          <a:solidFill>
            <a:srgbClr val="10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4946904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5,186 / 2,931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54406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C6DBDE"/>
                </a:solidFill>
                <a:latin typeface="PingFang SC"/>
                <a:ea typeface="PingFang SC"/>
                <a:cs typeface="PingFang SC"/>
              </a:rPr>
              <a:t>GTDB / HROM 物种(全表)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4800600"/>
            <a:ext cx="3383280" cy="1005840"/>
          </a:xfrm>
          <a:prstGeom prst="roundRect">
            <a:avLst/>
          </a:prstGeom>
          <a:solidFill>
            <a:srgbClr val="10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02168" y="4946904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0456" y="54406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C6DBDE"/>
                </a:solidFill>
                <a:latin typeface="PingFang SC"/>
                <a:ea typeface="PingFang SC"/>
                <a:cs typeface="PingFang SC"/>
              </a:rPr>
              <a:t>数据库 · 同一流程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37376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ABE"/>
                </a:solidFill>
                <a:latin typeface="PingFang SC"/>
                <a:ea typeface="PingFang SC"/>
                <a:cs typeface="PingFang SC"/>
              </a:rPr>
              <a:t>同一批样本、同一统计流程，仅更换参考数据库  ·  2026-06-05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为什么做两库对比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研究设计与目的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5760720" cy="448056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55448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目的</a:t>
            </a:r>
          </a:p>
        </p:txBody>
      </p:sp>
      <p:sp>
        <p:nvSpPr>
          <p:cNvPr id="10" name="Oval 9"/>
          <p:cNvSpPr/>
          <p:nvPr/>
        </p:nvSpPr>
        <p:spPr>
          <a:xfrm>
            <a:off x="795528" y="2112264"/>
            <a:ext cx="109728" cy="109728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2020824"/>
            <a:ext cx="4892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同一批样本、同一套统计流程，仅更换参考数据库 — 分离“数据库效应”。</a:t>
            </a:r>
          </a:p>
        </p:txBody>
      </p:sp>
      <p:sp>
        <p:nvSpPr>
          <p:cNvPr id="12" name="Oval 11"/>
          <p:cNvSpPr/>
          <p:nvPr/>
        </p:nvSpPr>
        <p:spPr>
          <a:xfrm>
            <a:off x="795528" y="2825496"/>
            <a:ext cx="109728" cy="109728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2734056"/>
            <a:ext cx="4892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α/β 多样性 · DS-FDR 两两比较 · Maaslin2 · ANCOM-BC · LEfSe，流程完全一致。</a:t>
            </a:r>
          </a:p>
        </p:txBody>
      </p:sp>
      <p:sp>
        <p:nvSpPr>
          <p:cNvPr id="14" name="Oval 13"/>
          <p:cNvSpPr/>
          <p:nvPr/>
        </p:nvSpPr>
        <p:spPr>
          <a:xfrm>
            <a:off x="795528" y="3538728"/>
            <a:ext cx="109728" cy="109728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3447288"/>
            <a:ext cx="4892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比较两库各自的优缺点与可得结论。</a:t>
            </a:r>
          </a:p>
        </p:txBody>
      </p:sp>
      <p:sp>
        <p:nvSpPr>
          <p:cNvPr id="16" name="Oval 15"/>
          <p:cNvSpPr/>
          <p:nvPr/>
        </p:nvSpPr>
        <p:spPr>
          <a:xfrm>
            <a:off x="795528" y="4251960"/>
            <a:ext cx="109728" cy="109728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1560" y="4160520"/>
            <a:ext cx="4892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重点:两库识别的差异 marker 及其生物学含义(文献支撑)。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1325880"/>
            <a:ext cx="516636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12280" y="1536192"/>
            <a:ext cx="4617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分组 · 疾病负担梯度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30568" y="2057400"/>
            <a:ext cx="841248" cy="841248"/>
          </a:xfrm>
          <a:prstGeom prst="round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30568" y="2185416"/>
            <a:ext cx="8412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0568" y="2514600"/>
            <a:ext cx="8412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n=34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4848" y="2926080"/>
            <a:ext cx="9326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正常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90688" y="2057400"/>
            <a:ext cx="841248" cy="841248"/>
          </a:xfrm>
          <a:prstGeom prst="round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90688" y="2185416"/>
            <a:ext cx="8412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90688" y="2514600"/>
            <a:ext cx="8412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n=12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44968" y="2926080"/>
            <a:ext cx="9326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单纯牙周炎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50808" y="2057400"/>
            <a:ext cx="841248" cy="84124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750808" y="2185416"/>
            <a:ext cx="8412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50808" y="2514600"/>
            <a:ext cx="8412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n=6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05088" y="2926080"/>
            <a:ext cx="9326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+糖尿病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10928" y="2057400"/>
            <a:ext cx="841248" cy="841248"/>
          </a:xfrm>
          <a:prstGeom prst="round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710928" y="2185416"/>
            <a:ext cx="8412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10928" y="2514600"/>
            <a:ext cx="8412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n=25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65208" y="2926080"/>
            <a:ext cx="9326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+肾病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671048" y="2057400"/>
            <a:ext cx="841248" cy="841248"/>
          </a:xfrm>
          <a:prstGeom prst="roundRect">
            <a:avLst/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671048" y="2185416"/>
            <a:ext cx="8412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PCD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71048" y="2514600"/>
            <a:ext cx="8412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n=24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25328" y="2926080"/>
            <a:ext cx="9326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+糖尿病肾病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80" y="3474720"/>
            <a:ext cx="46177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负担梯度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N(0) → P(1) → PD/PC(2) → PCD(3)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位点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唾液 S 与尿液 U 各 101 样本(配对)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派生指示变量  </a:t>
            </a:r>
            <a:r>
              <a:rPr sz="12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Periodontitis / Diabetes / KidneyDisease (0/1)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数据性质  </a:t>
            </a:r>
            <a:r>
              <a:rPr sz="12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两库均为相对丰度(列和=1)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5989320"/>
            <a:ext cx="82296" cy="54864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04088" y="598932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唯一变量是参考数据库 → 两库结果的异同可直接归因于注释库本身。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GTDB vs HROM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两个数据库的本质区别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201400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26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维度</a:t>
                      </a:r>
                    </a:p>
                  </a:txBody>
                  <a:tcPr marL="73152" marR="54864" marT="18288" marB="18288" anchor="ctr">
                    <a:solidFill>
                      <a:srgbClr val="0B3B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GTDB</a:t>
                      </a:r>
                    </a:p>
                  </a:txBody>
                  <a:tcPr marL="73152" marR="54864" marT="18288" marB="18288" anchor="ctr">
                    <a:solidFill>
                      <a:srgbClr val="0B3B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HROM</a:t>
                      </a:r>
                    </a:p>
                  </a:txBody>
                  <a:tcPr marL="73152" marR="54864" marT="18288" marB="18288" anchor="ctr">
                    <a:solidFill>
                      <a:srgbClr val="0B3B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构建依据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E6F9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全基因组系统发育、rank 标准化
(Parks 2018/2022)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B998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人类相关 / 口腔参考基因组目录
(curated)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覆盖范围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E6F9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全细菌 / 古菌域,通用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B998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人体 / 口腔为主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命名特点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E6F9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规范种名 + 大量 spXXXXXX
占位 / 未培养基因组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B998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命名种 s__ + 大量基因组 bins
g__…_HROM_Genome_####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物种数(全表)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E6F9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5,186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B998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2,931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优势场景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E6F9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跨研究可比、对接机制文献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B998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口腔样本敏感、低丰度口腔致病菌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02920" y="5989320"/>
            <a:ext cx="82296" cy="54864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598932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GTDB = 通用·标准化·规范命名;HROM = 口腔优化·敏感但多为基因组 bins。二者互补。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Venn · 同一位点检出物种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物种检出与跨库重叠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pic>
        <p:nvPicPr>
          <p:cNvPr id="8" name="Picture 7" descr="venn_sali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3840480" cy="3200400"/>
          </a:xfrm>
          <a:prstGeom prst="rect">
            <a:avLst/>
          </a:prstGeom>
        </p:spPr>
      </p:pic>
      <p:pic>
        <p:nvPicPr>
          <p:cNvPr id="9" name="Picture 8" descr="venn_ur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371600"/>
            <a:ext cx="3840480" cy="3200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4526280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唾液 Saliva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4526280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尿液 Urine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72600" y="1371600"/>
            <a:ext cx="2377440" cy="342900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555480" y="1517904"/>
            <a:ext cx="201168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唾液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共有 </a:t>
            </a:r>
            <a:r>
              <a:rPr sz="16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795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GTDB 特有 </a:t>
            </a:r>
            <a:r>
              <a:rPr sz="13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2,662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HROM 特有 </a:t>
            </a:r>
            <a:r>
              <a:rPr sz="13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2,121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endParaRPr sz="1300" b="1" i="0">
              <a:solidFill>
                <a:srgbClr val="1B998B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尿液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共有 </a:t>
            </a:r>
            <a:r>
              <a:rPr sz="16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265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GTDB 特有 </a:t>
            </a:r>
            <a:r>
              <a:rPr sz="13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2,398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HROM 特有 </a:t>
            </a:r>
            <a:r>
              <a:rPr sz="13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159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074920"/>
            <a:ext cx="82296" cy="91440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4088" y="507492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跨库物种名重叠低,主因命名体系不同(GTDB sp-accession vs HROM s__/genome bins),并非生物学不一致 → 比较应落到属 / 功能层面交叉印证。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每样本检出物种数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物种丰富度:位点依赖的“此消彼长”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pic>
        <p:nvPicPr>
          <p:cNvPr id="8" name="Picture 7" descr="richness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6400799" cy="41148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772400" y="1371600"/>
            <a:ext cx="3977639" cy="402336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01000" y="1554480"/>
            <a:ext cx="35204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中位检出物种 / 样本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973568" y="2057400"/>
          <a:ext cx="3547872" cy="12984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8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位点</a:t>
                      </a:r>
                    </a:p>
                  </a:txBody>
                  <a:tcPr marL="73152" marR="54864" marT="18288" marB="18288" anchor="ctr">
                    <a:solidFill>
                      <a:srgbClr val="0B3B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HROM</a:t>
                      </a:r>
                    </a:p>
                  </a:txBody>
                  <a:tcPr marL="73152" marR="54864" marT="18288" marB="18288" anchor="ctr">
                    <a:solidFill>
                      <a:srgbClr val="0B3B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GTDB</a:t>
                      </a:r>
                    </a:p>
                  </a:txBody>
                  <a:tcPr marL="73152" marR="54864" marT="18288" marB="18288" anchor="ctr">
                    <a:solidFill>
                      <a:srgbClr val="0B3B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唾液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B998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1,195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E6F9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816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尿液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B998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28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E6F9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8001000" y="3657600"/>
            <a:ext cx="3520439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唾液  </a:t>
            </a:r>
            <a:r>
              <a:rPr sz="130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HROM ≫ GTDB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尿液  </a:t>
            </a:r>
            <a:r>
              <a:rPr sz="130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GTDB ≫ HROM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配对 Wilcoxon </a:t>
            </a:r>
            <a:r>
              <a:rPr sz="125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p &lt; 1e-17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669280"/>
            <a:ext cx="82296" cy="86868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4088" y="5669280"/>
            <a:ext cx="109728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HROM 口腔优化 → 唾液检出更全;GTDB 通用(含环境/皮肤)→ 尿液(低生物量)检出更全。库的“主场”决定丰富度。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Beta 多样性 · PERMANOVA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群落结构:两库结论一致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557784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109728" cy="114300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527048"/>
            <a:ext cx="516635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位点是最大变异来源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984248"/>
            <a:ext cx="51206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合并样品 PERMANOVA — Position R²:  HROM 0.49 (Bray) / 0.74 (rPCA)；GTDB 0.44 / 0.77。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724912"/>
            <a:ext cx="557784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2724912"/>
            <a:ext cx="109728" cy="11430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2834640"/>
            <a:ext cx="516635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牙周炎:群落效应小但方向一致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3291840"/>
            <a:ext cx="51206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唾液 Periodontitis 边际 R² ≈ 0.015 (Bray, p≈0.06–0.08),HROM 与 GTDB 几乎一致。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069080"/>
            <a:ext cx="5577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12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两库在排序(PCoA/rPCA)上呈现相同的“位点两大云团”结构。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12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疾病在群落整体水平信号弱 → marker 需靠 per-taxon 差异分析(见后)。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371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HROM — 合并 PCoA (Bray | rPCA)</a:t>
            </a:r>
          </a:p>
        </p:txBody>
      </p:sp>
      <p:pic>
        <p:nvPicPr>
          <p:cNvPr id="18" name="Picture 17" descr="combined_pco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91640"/>
            <a:ext cx="4279392" cy="1783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09360" y="361188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GTDB — 合并 PCoA (Bray | rPCA)</a:t>
            </a:r>
          </a:p>
        </p:txBody>
      </p:sp>
      <p:pic>
        <p:nvPicPr>
          <p:cNvPr id="20" name="Picture 19" descr="combined_pco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3931920"/>
            <a:ext cx="4279392" cy="178308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502920" y="5760720"/>
            <a:ext cx="82296" cy="77724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4088" y="576072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无论用哪个库,采样位点主导、牙周炎群落效应小而一致 → 群落层面结论稳健、不依赖数据库。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N vs P · 唾液 · DS-FDR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 dirty="0" err="1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牙周炎</a:t>
            </a:r>
            <a:r>
              <a:rPr sz="2700" b="1" i="0" dirty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 signature</a:t>
            </a:r>
            <a:r>
              <a:rPr lang="en-US" sz="2700" b="1" dirty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 (N </a:t>
            </a:r>
            <a:r>
              <a:rPr lang="en-US" sz="2700" b="1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VS P)</a:t>
            </a: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:</a:t>
            </a:r>
            <a:r>
              <a:rPr sz="2700" b="1" i="0" dirty="0" err="1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两库</a:t>
            </a:r>
            <a:r>
              <a:rPr sz="2700" b="1" i="0" dirty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 marker </a:t>
            </a:r>
            <a:r>
              <a:rPr sz="2700" b="1" i="0" dirty="0" err="1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对比</a:t>
            </a:r>
            <a:endParaRPr sz="2700" b="1" i="0" dirty="0">
              <a:solidFill>
                <a:srgbClr val="0B3B47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5394960" cy="86868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26517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HROM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132</a:t>
            </a:r>
            <a:r>
              <a:rPr sz="12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  显著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417320"/>
            <a:ext cx="2468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GTDB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79</a:t>
            </a:r>
            <a:r>
              <a:rPr sz="12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  显著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12848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显著差异物种数 (q&lt;0.05;q&lt;0.10:161 / 94)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32588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HROM Top markers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132588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GTDB Top markers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737360"/>
            <a:ext cx="2788920" cy="384048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63640" y="1746504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g__Treponema_B (genome bins)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737360"/>
            <a:ext cx="2651760" cy="384048"/>
          </a:xfrm>
          <a:prstGeom prst="roundRect">
            <a:avLst/>
          </a:prstGeom>
          <a:solidFill>
            <a:srgbClr val="E2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35440" y="1746504"/>
            <a:ext cx="24231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Treponema_D parvum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2212848"/>
            <a:ext cx="2788920" cy="384048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63640" y="2221992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Treponema_D parvum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2212848"/>
            <a:ext cx="2651760" cy="384048"/>
          </a:xfrm>
          <a:prstGeom prst="roundRect">
            <a:avLst/>
          </a:prstGeom>
          <a:solidFill>
            <a:srgbClr val="E2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35440" y="2221992"/>
            <a:ext cx="24231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Porphyromonas gingivalis  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2688336"/>
            <a:ext cx="2788920" cy="384048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63640" y="2697480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Porphyromonas gulae  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98280" y="2688336"/>
            <a:ext cx="2651760" cy="384048"/>
          </a:xfrm>
          <a:prstGeom prst="roundRect">
            <a:avLst/>
          </a:prstGeom>
          <a:solidFill>
            <a:srgbClr val="E2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35440" y="2697480"/>
            <a:ext cx="24231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Treponema_B denticola (红复合体)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3163824"/>
            <a:ext cx="2788920" cy="384048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63640" y="3172968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Porphyromonas gingivalis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98280" y="3163824"/>
            <a:ext cx="2651760" cy="384048"/>
          </a:xfrm>
          <a:prstGeom prst="roundRect">
            <a:avLst/>
          </a:prstGeom>
          <a:solidFill>
            <a:srgbClr val="E2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235440" y="3172968"/>
            <a:ext cx="24231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Filifactor alocis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0" y="3639312"/>
            <a:ext cx="2788920" cy="384048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63640" y="3648456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Treponema_B putidum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98280" y="3639312"/>
            <a:ext cx="2651760" cy="384048"/>
          </a:xfrm>
          <a:prstGeom prst="roundRect">
            <a:avLst/>
          </a:prstGeom>
          <a:solidFill>
            <a:srgbClr val="E2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35440" y="3648456"/>
            <a:ext cx="24231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Prevotella koreensis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80" y="4114800"/>
            <a:ext cx="2788920" cy="384048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63640" y="4123944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CAJPNN01 sp905372035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98280" y="4114800"/>
            <a:ext cx="2651760" cy="384048"/>
          </a:xfrm>
          <a:prstGeom prst="roundRect">
            <a:avLst/>
          </a:prstGeom>
          <a:solidFill>
            <a:srgbClr val="E2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235440" y="4123944"/>
            <a:ext cx="24231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Treponema sp905373565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2788920"/>
            <a:ext cx="539496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两库共同指向 </a:t>
            </a:r>
            <a:r>
              <a:rPr sz="13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红 / 橙复合体牙周致病菌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endParaRPr sz="1300" b="1" i="0">
              <a:solidFill>
                <a:srgbClr val="C0392B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Treponema(密螺旋体)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Porphyromonas(卟啉单胞菌)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Filifactor alocis / Prevotella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endParaRPr sz="1250" b="0" i="0">
              <a:solidFill>
                <a:srgbClr val="202A30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★ = 各库居首的 Porphyromonas 命中,命名不同(见下页)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5852160"/>
            <a:ext cx="82296" cy="64008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04088" y="58521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两库高度一致地识别经典牙周致病菌;HROM 在唾液检出更多(口腔优化),GTDB 给出更规范的种名。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marker 解读的关键差异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同一信号,不同命名分辨率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5532120" cy="30175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6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572768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GTDB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48840"/>
            <a:ext cx="507492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规范、可培养种名 → 直接对接文献与机制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Porphyromonas gingivalis(角石病原)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Treponema denticola(红复合体)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Filifactor alocis(新兴致病菌)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代价:大量 spXXXX 占位、属被拆成 _A/_B 后缀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71600"/>
            <a:ext cx="5532120" cy="30175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B9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0" y="1572768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HROM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48840"/>
            <a:ext cx="507492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口腔特异,但多为基因组 bins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g__Treponema_B_HROM_Genome_####(无培养种名)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• 居首的 Porphyromonas = P. gulae(P. gingivalis 紧随)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  (与 P. gingivalis 高度同源、毒力相似;动物相关/人兽共患)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优点:捕获更多低丰度口腔类群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617720"/>
            <a:ext cx="11247120" cy="960120"/>
          </a:xfrm>
          <a:prstGeom prst="roundRect">
            <a:avLst/>
          </a:prstGeom>
          <a:solidFill>
            <a:srgbClr val="0B3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4736592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关键  </a:t>
            </a:r>
            <a:r>
              <a:rPr sz="1300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同一生物学信号、不同命名 —— 居首的 </a:t>
            </a:r>
            <a:r>
              <a:rPr sz="130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Porphyromonas</a:t>
            </a:r>
            <a:r>
              <a:rPr sz="1300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:HROM = </a:t>
            </a:r>
            <a:r>
              <a:rPr sz="1300" b="1" i="0">
                <a:solidFill>
                  <a:srgbClr val="7FE3D6"/>
                </a:solidFill>
                <a:latin typeface="PingFang SC"/>
                <a:ea typeface="PingFang SC"/>
                <a:cs typeface="PingFang SC"/>
              </a:rPr>
              <a:t>P. gulae</a:t>
            </a:r>
            <a:r>
              <a:rPr sz="1300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,GTDB = </a:t>
            </a:r>
            <a:r>
              <a:rPr sz="1300" b="1" i="0">
                <a:solidFill>
                  <a:srgbClr val="8FC1DF"/>
                </a:solidFill>
                <a:latin typeface="PingFang SC"/>
                <a:ea typeface="PingFang SC"/>
                <a:cs typeface="PingFang SC"/>
              </a:rPr>
              <a:t>P. gingivalis</a:t>
            </a:r>
            <a:r>
              <a:rPr sz="1200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(gulae 在 GTDB 跌至 #58)。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CFE3E6"/>
                </a:solidFill>
                <a:latin typeface="PingFang SC"/>
                <a:ea typeface="PingFang SC"/>
                <a:cs typeface="PingFang SC"/>
              </a:rPr>
              <a:t>报告 marker 时须标注跨库对应关系,避免把“命名差异”误读为“生物学差异”。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806440"/>
            <a:ext cx="82296" cy="64008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4088" y="58064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GTDB 利于机制与跨研究对接;HROM 利于口腔敏感发现 —— 两者交叉验证最稳妥。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为什么这些菌重要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Marker 的生物学含义与文献支撑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25880"/>
          <a:ext cx="11201399" cy="4297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74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Marker</a:t>
                      </a:r>
                    </a:p>
                  </a:txBody>
                  <a:tcPr marL="73152" marR="54864" marT="18288" marB="18288" anchor="ctr">
                    <a:solidFill>
                      <a:srgbClr val="0B3B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角色 / 机制</a:t>
                      </a:r>
                    </a:p>
                  </a:txBody>
                  <a:tcPr marL="73152" marR="54864" marT="18288" marB="18288" anchor="ctr">
                    <a:solidFill>
                      <a:srgbClr val="0B3B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共病关联</a:t>
                      </a:r>
                    </a:p>
                  </a:txBody>
                  <a:tcPr marL="73152" marR="54864" marT="18288" marB="18288" anchor="ctr">
                    <a:solidFill>
                      <a:srgbClr val="0B3B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文献</a:t>
                      </a:r>
                    </a:p>
                  </a:txBody>
                  <a:tcPr marL="73152" marR="54864" marT="18288" marB="18288" anchor="ctr">
                    <a:solidFill>
                      <a:srgbClr val="0B3B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C0392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P. gingivalis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牙周“角石病原”(keystone),红复合体;
操纵宿主免疫致 dysbiosis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入血激活补体;经 NF-κB/
NLRP3-铁死亡促 CKD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Socransky 1998;
Hajishengallis 2012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C0392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T. denticola /
T. forsythia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红复合体,与牙周袋深度强相关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CKD 患者富集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Socransky 1998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C0392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Filifactor alocis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新兴牙周致病菌,P. gingivalis 协同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糖尿病者牙周炎严重度↑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Microbes Infect 2015;
Front Dent Med 2024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C0392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P. gulae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动物相关 Porphyromonas,
毒力/免疫特征似 P. gingivalis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人兽共患潜力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Lenzo 2016;
Front Microbiol 2023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C0392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Prevotella 属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橙复合体,牙周炎相关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Socransky 1998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02920" y="6080760"/>
            <a:ext cx="82296" cy="548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6080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两库的牙周 marker 均为文献明确的致病菌,且与糖尿病、慢性肾病(CKD)存在机制联系 → 结果生物学可信。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Maaslin2 · 唾液 · 控制 Age+Sex 及彼此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多变量校正 marker(adjusted effect)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模型  </a:t>
            </a: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microbe ~ Periodontitis + Diabetes + KidneyDisease + Age + Sex  </a:t>
            </a:r>
            <a:r>
              <a:rPr sz="11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(显著:q&lt;0.25)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874519"/>
          <a:ext cx="6766560" cy="2057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疾病因子</a:t>
                      </a:r>
                    </a:p>
                  </a:txBody>
                  <a:tcPr marL="73152" marR="54864" marT="18288" marB="18288" anchor="ctr">
                    <a:solidFill>
                      <a:srgbClr val="0B3B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HROM 显著菌数</a:t>
                      </a:r>
                    </a:p>
                  </a:txBody>
                  <a:tcPr marL="73152" marR="54864" marT="18288" marB="18288" anchor="ctr">
                    <a:solidFill>
                      <a:srgbClr val="0B3B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GTDB 显著菌数</a:t>
                      </a:r>
                    </a:p>
                  </a:txBody>
                  <a:tcPr marL="73152" marR="54864" marT="18288" marB="18288" anchor="ctr">
                    <a:solidFill>
                      <a:srgbClr val="0B3B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Periodontitis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B998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94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E6F9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59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Diabetes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B998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42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E6F9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38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KidneyDisease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B998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113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E6F9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70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498079" y="1874519"/>
            <a:ext cx="4206240" cy="269748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26679" y="2057400"/>
            <a:ext cx="379476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解读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控制混杂后,两库均检出牙周/肾病独立关联菌。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HROM 在唾液检出更多(口腔敏感)。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KidneyDisease 关联菌最多 → </a:t>
            </a:r>
            <a:r>
              <a:rPr sz="12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口腔–系统(肾)轴</a:t>
            </a: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线索。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983480"/>
            <a:ext cx="82296" cy="86868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4088" y="4983480"/>
            <a:ext cx="109728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唾液中“肾病相关”口腔菌数量可观,呼应红复合体在 CKD 富集的文献 → 支持口腔–肾轴假说,值得后续验证。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如何取舍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两库优缺点汇总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5532120" cy="4389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6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572768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GTDB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194560"/>
            <a:ext cx="5029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优点</a:t>
            </a:r>
          </a:p>
        </p:txBody>
      </p:sp>
      <p:sp>
        <p:nvSpPr>
          <p:cNvPr id="11" name="Oval 10"/>
          <p:cNvSpPr/>
          <p:nvPr/>
        </p:nvSpPr>
        <p:spPr>
          <a:xfrm>
            <a:off x="795528" y="2606039"/>
            <a:ext cx="91440" cy="91440"/>
          </a:xfrm>
          <a:prstGeom prst="ellipse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51460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8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标准化·基因组系统发育·通用</a:t>
            </a:r>
          </a:p>
        </p:txBody>
      </p:sp>
      <p:sp>
        <p:nvSpPr>
          <p:cNvPr id="13" name="Oval 12"/>
          <p:cNvSpPr/>
          <p:nvPr/>
        </p:nvSpPr>
        <p:spPr>
          <a:xfrm>
            <a:off x="795528" y="3063239"/>
            <a:ext cx="91440" cy="91440"/>
          </a:xfrm>
          <a:prstGeom prst="ellipse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297180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8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规范种名 → 跨研究可比、对接机制</a:t>
            </a:r>
          </a:p>
        </p:txBody>
      </p:sp>
      <p:sp>
        <p:nvSpPr>
          <p:cNvPr id="15" name="Oval 14"/>
          <p:cNvSpPr/>
          <p:nvPr/>
        </p:nvSpPr>
        <p:spPr>
          <a:xfrm>
            <a:off x="795528" y="3520439"/>
            <a:ext cx="91440" cy="91440"/>
          </a:xfrm>
          <a:prstGeom prst="ellipse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342900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8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尿液/低生物量类群覆盖更全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3959351"/>
            <a:ext cx="5029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缺点</a:t>
            </a:r>
          </a:p>
        </p:txBody>
      </p:sp>
      <p:sp>
        <p:nvSpPr>
          <p:cNvPr id="18" name="Oval 17"/>
          <p:cNvSpPr/>
          <p:nvPr/>
        </p:nvSpPr>
        <p:spPr>
          <a:xfrm>
            <a:off x="795528" y="4343400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4251959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8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大量未培养占位名(spXXXX/属代码)难解读</a:t>
            </a:r>
          </a:p>
        </p:txBody>
      </p:sp>
      <p:sp>
        <p:nvSpPr>
          <p:cNvPr id="20" name="Oval 19"/>
          <p:cNvSpPr/>
          <p:nvPr/>
        </p:nvSpPr>
        <p:spPr>
          <a:xfrm>
            <a:off x="795528" y="4800600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4709159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8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非口腔优化 → 唾液口腔菌可能低估</a:t>
            </a:r>
          </a:p>
        </p:txBody>
      </p:sp>
      <p:sp>
        <p:nvSpPr>
          <p:cNvPr id="22" name="Oval 21"/>
          <p:cNvSpPr/>
          <p:nvPr/>
        </p:nvSpPr>
        <p:spPr>
          <a:xfrm>
            <a:off x="795528" y="5257800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5166359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8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种被拆成 _A/_B 后缀,增加解读成本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1371600"/>
            <a:ext cx="5532120" cy="4389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B9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400800" y="1572768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HROM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8232" y="2194560"/>
            <a:ext cx="5029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优点</a:t>
            </a:r>
          </a:p>
        </p:txBody>
      </p:sp>
      <p:sp>
        <p:nvSpPr>
          <p:cNvPr id="27" name="Oval 26"/>
          <p:cNvSpPr/>
          <p:nvPr/>
        </p:nvSpPr>
        <p:spPr>
          <a:xfrm>
            <a:off x="6464808" y="2606039"/>
            <a:ext cx="91440" cy="91440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75120" y="251460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8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口腔/人体优化 → 唾液敏感</a:t>
            </a:r>
          </a:p>
        </p:txBody>
      </p:sp>
      <p:sp>
        <p:nvSpPr>
          <p:cNvPr id="29" name="Oval 28"/>
          <p:cNvSpPr/>
          <p:nvPr/>
        </p:nvSpPr>
        <p:spPr>
          <a:xfrm>
            <a:off x="6464808" y="3063239"/>
            <a:ext cx="91440" cy="91440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75120" y="297180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8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检出更多低丰度口腔致病菌</a:t>
            </a:r>
          </a:p>
        </p:txBody>
      </p:sp>
      <p:sp>
        <p:nvSpPr>
          <p:cNvPr id="31" name="Oval 30"/>
          <p:cNvSpPr/>
          <p:nvPr/>
        </p:nvSpPr>
        <p:spPr>
          <a:xfrm>
            <a:off x="6464808" y="3520439"/>
            <a:ext cx="91440" cy="91440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75120" y="342900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8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含口腔特异基因组(MAG/bins)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8232" y="3959351"/>
            <a:ext cx="5029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缺点</a:t>
            </a:r>
          </a:p>
        </p:txBody>
      </p:sp>
      <p:sp>
        <p:nvSpPr>
          <p:cNvPr id="34" name="Oval 33"/>
          <p:cNvSpPr/>
          <p:nvPr/>
        </p:nvSpPr>
        <p:spPr>
          <a:xfrm>
            <a:off x="6464808" y="4343400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75120" y="4251959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8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大量基因组 bins 无培养种名</a:t>
            </a:r>
          </a:p>
        </p:txBody>
      </p:sp>
      <p:sp>
        <p:nvSpPr>
          <p:cNvPr id="36" name="Oval 35"/>
          <p:cNvSpPr/>
          <p:nvPr/>
        </p:nvSpPr>
        <p:spPr>
          <a:xfrm>
            <a:off x="6464808" y="4800600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675120" y="4709159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8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尿液/非口腔覆盖差(尿液丰富度低)</a:t>
            </a:r>
          </a:p>
        </p:txBody>
      </p:sp>
      <p:sp>
        <p:nvSpPr>
          <p:cNvPr id="38" name="Oval 37"/>
          <p:cNvSpPr/>
          <p:nvPr/>
        </p:nvSpPr>
        <p:spPr>
          <a:xfrm>
            <a:off x="6464808" y="5257800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75120" y="5166359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8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跨库/跨研究可比性差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5897880"/>
            <a:ext cx="82296" cy="59436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04088" y="5897880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没有“更好的库”,只有“更合适的库”:唾液选 HROM(敏感),尿液选 GTDB(覆盖),命名靠 GTDB。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共同 · 独到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各数据库能得到的结论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11247120" cy="2240280"/>
          </a:xfrm>
          <a:prstGeom prst="roundRect">
            <a:avLst/>
          </a:prstGeom>
          <a:solidFill>
            <a:srgbClr val="0B3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11247120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1591056"/>
            <a:ext cx="10744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共同结论(两库一致 → 可靠,交叉验证)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2140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1200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采样位点(唾液 vs 尿液)是群落变异的最大来源。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63347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1200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牙周炎 signature = 红/橙复合体(P. gingivalis · T. denticola · Treponema · Prevotella · F. alocis)。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45536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1200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尿液信号弱而稀疏;PD(n=6)及双重共病的附加效应弱、需谨慎。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703320"/>
            <a:ext cx="5532120" cy="214884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3703320"/>
            <a:ext cx="5532120" cy="109728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8952" y="3922776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GTDB 独到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416552"/>
            <a:ext cx="4983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以规范种名直接命名 red-complex 与 F. alocis。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892040"/>
            <a:ext cx="4983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便于机制解读与跨研究/跨库对接。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367527"/>
            <a:ext cx="4983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尿液类群覆盖更全。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703320"/>
            <a:ext cx="5532120" cy="214884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3703320"/>
            <a:ext cx="5532120" cy="109728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73952" y="3922776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HROM 独到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416552"/>
            <a:ext cx="4983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更高灵敏度:唾液检出更多牙周致病菌。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892040"/>
            <a:ext cx="4983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捕获口腔特异基因组(含 P. gulae 等 bins)。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5367527"/>
            <a:ext cx="4983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更适合口腔疾病 marker 发现。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落地策略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建议:如何用好两个库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11247120" cy="1024128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463040"/>
            <a:ext cx="109728" cy="1024128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77240" y="1700784"/>
            <a:ext cx="548640" cy="548640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73736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1609344"/>
            <a:ext cx="24688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唾液(口腔)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1609344"/>
            <a:ext cx="7498079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HROM 做敏感发现 + GTDB 做规范命名/可比,互补使用。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606040"/>
            <a:ext cx="11247120" cy="1024128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2606040"/>
            <a:ext cx="109728" cy="1024128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77240" y="2843784"/>
            <a:ext cx="548640" cy="548640"/>
          </a:xfrm>
          <a:prstGeom prst="ellipse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288036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2752344"/>
            <a:ext cx="24688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尿液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2752344"/>
            <a:ext cx="7498079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以 GTDB 为主(覆盖更全、低生物量更稳)。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749039"/>
            <a:ext cx="11247120" cy="1024128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3749039"/>
            <a:ext cx="109728" cy="10241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77240" y="3986783"/>
            <a:ext cx="548640" cy="5486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4023359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3895344"/>
            <a:ext cx="24688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marker 报告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3895344"/>
            <a:ext cx="7498079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标注跨库命名对应(P. gulae ↔ P. gingivalis;Treponema_B/_D ↔ T. denticola 等)。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892040"/>
            <a:ext cx="11247120" cy="1024128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02920" y="4892040"/>
            <a:ext cx="109728" cy="10241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77240" y="5129783"/>
            <a:ext cx="548640" cy="548640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" y="5166359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5038344"/>
            <a:ext cx="24688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下游分析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23360" y="5038344"/>
            <a:ext cx="7498079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两库交叉验证一致的 marker 优先纳入预测模型 / 机制研究。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可重复性 · 审稿要点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方法与局限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5532120" cy="411480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5029200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方法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相对丰度;≥10% 流行率过滤。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α 多样性(vegan):Observed/Shannon/Simpson/Pielou。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β:Bray-Curtis 与 robust Aitchison(rPCA);PERMANOVA。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差异丰度:两两 Mann-Whitney + DS-FDR(Jiang 2017)。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多变量:Maaslin2 + ANCOM-BC(BH);LEfSe(LDA&gt;2)。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• 两库流程完全一致,仅注释库不同。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532120" cy="41148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572768"/>
            <a:ext cx="5029200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局限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跨库物种名仅按字符串匹配 → 低估真实重叠(应在属/功能层面比较)。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数据为相对丰度,非原始计数。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PD 组 n=6,为最大统计瓶颈。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仅 Age/Sex 可校正(无 BMI/吸烟/eGFR/HbA1c)。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除 P 外各组伴其他慢病(Ch)→ 反映“共病状态”,非纯净单病效应。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715000"/>
            <a:ext cx="82296" cy="8686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4088" y="5715000"/>
            <a:ext cx="109728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结论应表述为 disease-associated comorbidity states;marker 的跨库一致性比单库显著性更可信。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参考文献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7FE3D6"/>
                </a:solidFill>
                <a:latin typeface="PingFang SC"/>
                <a:ea typeface="PingFang SC"/>
                <a:cs typeface="PingFang SC"/>
              </a:rPr>
              <a:t>1. </a:t>
            </a:r>
            <a:r>
              <a:rPr sz="1200" b="0" i="0">
                <a:solidFill>
                  <a:srgbClr val="DFEAEC"/>
                </a:solidFill>
                <a:latin typeface="PingFang SC"/>
                <a:ea typeface="PingFang SC"/>
                <a:cs typeface="PingFang SC"/>
              </a:rPr>
              <a:t>Socransky SS, et al. Microbial complexes in subgingival plaque. J Clin Periodontol. 1998;25(2):134–144.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01952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7FE3D6"/>
                </a:solidFill>
                <a:latin typeface="PingFang SC"/>
                <a:ea typeface="PingFang SC"/>
                <a:cs typeface="PingFang SC"/>
              </a:rPr>
              <a:t>2. </a:t>
            </a:r>
            <a:r>
              <a:rPr sz="1200" b="0" i="0">
                <a:solidFill>
                  <a:srgbClr val="DFEAEC"/>
                </a:solidFill>
                <a:latin typeface="PingFang SC"/>
                <a:ea typeface="PingFang SC"/>
                <a:cs typeface="PingFang SC"/>
              </a:rPr>
              <a:t>Hajishengallis G, Darveau RP, Curtis MA. The keystone-pathogen hypothesis. Nat Rev Microbiol. 2012;10(10):717–725.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32304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7FE3D6"/>
                </a:solidFill>
                <a:latin typeface="PingFang SC"/>
                <a:ea typeface="PingFang SC"/>
                <a:cs typeface="PingFang SC"/>
              </a:rPr>
              <a:t>3. </a:t>
            </a:r>
            <a:r>
              <a:rPr sz="1200" b="0" i="0">
                <a:solidFill>
                  <a:srgbClr val="DFEAEC"/>
                </a:solidFill>
                <a:latin typeface="PingFang SC"/>
                <a:ea typeface="PingFang SC"/>
                <a:cs typeface="PingFang SC"/>
              </a:rPr>
              <a:t>Filifactor alocis – a new emerging periodontal pathogen. Microbes Infect. 2015;17(7):517–530.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62656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7FE3D6"/>
                </a:solidFill>
                <a:latin typeface="PingFang SC"/>
                <a:ea typeface="PingFang SC"/>
                <a:cs typeface="PingFang SC"/>
              </a:rPr>
              <a:t>4. </a:t>
            </a:r>
            <a:r>
              <a:rPr sz="1200" b="0" i="0">
                <a:solidFill>
                  <a:srgbClr val="DFEAEC"/>
                </a:solidFill>
                <a:latin typeface="PingFang SC"/>
                <a:ea typeface="PingFang SC"/>
                <a:cs typeface="PingFang SC"/>
              </a:rPr>
              <a:t>Filifactor alocis &amp; periodontitis severity in diabetic/non-diabetic patients (narrative review). Front Dent Med. 2024.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9300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7FE3D6"/>
                </a:solidFill>
                <a:latin typeface="PingFang SC"/>
                <a:ea typeface="PingFang SC"/>
                <a:cs typeface="PingFang SC"/>
              </a:rPr>
              <a:t>5. </a:t>
            </a:r>
            <a:r>
              <a:rPr sz="1200" b="0" i="0">
                <a:solidFill>
                  <a:srgbClr val="DFEAEC"/>
                </a:solidFill>
                <a:latin typeface="PingFang SC"/>
                <a:ea typeface="PingFang SC"/>
                <a:cs typeface="PingFang SC"/>
              </a:rPr>
              <a:t>Lenzo JC, et al. Porphyromonas gulae has virulence/immunological characteristics similar to P. gingivalis. Infect Immun. 2016;84(9):2575–2585.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233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7FE3D6"/>
                </a:solidFill>
                <a:latin typeface="PingFang SC"/>
                <a:ea typeface="PingFang SC"/>
                <a:cs typeface="PingFang SC"/>
              </a:rPr>
              <a:t>6. </a:t>
            </a:r>
            <a:r>
              <a:rPr sz="1200" b="0" i="0">
                <a:solidFill>
                  <a:srgbClr val="DFEAEC"/>
                </a:solidFill>
                <a:latin typeface="PingFang SC"/>
                <a:ea typeface="PingFang SC"/>
                <a:cs typeface="PingFang SC"/>
              </a:rPr>
              <a:t>Parks DH, et al. A standardized bacterial taxonomy based on genome phylogeny. Nat Biotechnol. 2018;36:996–1004.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553712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7FE3D6"/>
                </a:solidFill>
                <a:latin typeface="PingFang SC"/>
                <a:ea typeface="PingFang SC"/>
                <a:cs typeface="PingFang SC"/>
              </a:rPr>
              <a:t>7. </a:t>
            </a:r>
            <a:r>
              <a:rPr sz="1200" b="0" i="0">
                <a:solidFill>
                  <a:srgbClr val="DFEAEC"/>
                </a:solidFill>
                <a:latin typeface="PingFang SC"/>
                <a:ea typeface="PingFang SC"/>
                <a:cs typeface="PingFang SC"/>
              </a:rPr>
              <a:t>Parks DH, et al. GTDB: an ongoing census of bacterial and archaeal diversity. Nucleic Acids Res. 2022;50:D785–D794.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084064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7FE3D6"/>
                </a:solidFill>
                <a:latin typeface="PingFang SC"/>
                <a:ea typeface="PingFang SC"/>
                <a:cs typeface="PingFang SC"/>
              </a:rPr>
              <a:t>8. </a:t>
            </a:r>
            <a:r>
              <a:rPr sz="1200" b="0" i="0">
                <a:solidFill>
                  <a:srgbClr val="DFEAEC"/>
                </a:solidFill>
                <a:latin typeface="PingFang SC"/>
                <a:ea typeface="PingFang SC"/>
                <a:cs typeface="PingFang SC"/>
              </a:rPr>
              <a:t>Jiang L, et al. Discrete false-discovery rate improves identification of differentially abundant microbes. mSystems. 2017;2(6):e00092-17.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614416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7FE3D6"/>
                </a:solidFill>
                <a:latin typeface="PingFang SC"/>
                <a:ea typeface="PingFang SC"/>
                <a:cs typeface="PingFang SC"/>
              </a:rPr>
              <a:t>9. </a:t>
            </a:r>
            <a:r>
              <a:rPr sz="1200" b="0" i="0">
                <a:solidFill>
                  <a:srgbClr val="DFEAEC"/>
                </a:solidFill>
                <a:latin typeface="PingFang SC"/>
                <a:ea typeface="PingFang SC"/>
                <a:cs typeface="PingFang SC"/>
              </a:rPr>
              <a:t>Periodontitis &amp; chronic kidney disease: epidemiology and biological mechanisms (reviews). Front Microbiol. 2021; J Clin Med. 2023.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9FBABE"/>
                </a:solidFill>
                <a:latin typeface="PingFang SC"/>
                <a:ea typeface="PingFang SC"/>
                <a:cs typeface="PingFang SC"/>
              </a:rPr>
              <a:t>数据库:GTDB(genome-based, universal) · HROM(human/oral curated)  |  报告:hrom_group_comparison.html · GTDB_group_comparison.html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1570</Words>
  <Application>Microsoft Macintosh PowerPoint</Application>
  <PresentationFormat>Widescreen</PresentationFormat>
  <Paragraphs>283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PingFang SC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ZHANG Yufeng</cp:lastModifiedBy>
  <cp:revision>2</cp:revision>
  <dcterms:created xsi:type="dcterms:W3CDTF">2013-01-27T09:14:16Z</dcterms:created>
  <dcterms:modified xsi:type="dcterms:W3CDTF">2026-06-05T12:06:50Z</dcterms:modified>
  <cp:category/>
</cp:coreProperties>
</file>