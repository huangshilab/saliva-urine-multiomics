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跨体液多组学整合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 → 尿液 跨位点关联分析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微生物组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</a:t>
            </a:r>
            <a:r>
              <a:rPr sz="3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代谢组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的跨体液互作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方法参照 Zhang et al., Microbiome 2026 (口腔–肠道–代谢物轴)  ·  GTDB 物种注释  ·  95 例(已排除 PD 组)四层配对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4 数据层 (排除PD)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跨层关系  +  1 中介链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代谢→代谢 dbRDA R² (最强轴)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同一批受试者,唾液(口腔)→尿液(系统)方向的多组学跨层关联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Zhang et al., Microbiome 2026 · 跨体位微生物–代谢组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方法学来源：我们借鉴的原始研究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23560" cy="4160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研究做了什么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57400"/>
            <a:ext cx="50383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对象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个独立队列 n=435;4 个体位菌群(肠 / 口腔 / 皮肤 / 鼻)+ 血浆代谢组(814 代谢物)。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问题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多体位菌群如何共同塑造血浆代谢组?体位之间有没有互作?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 方差解释 · GBDT 机器学习预测(R²) · Spearman 相关网络 · 双向中介分析 · 体位交互项模型。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3492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179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13" name="Oval 12"/>
          <p:cNvSpPr/>
          <p:nvPr/>
        </p:nvSpPr>
        <p:spPr>
          <a:xfrm>
            <a:off x="6647688" y="2093976"/>
            <a:ext cx="109728" cy="10972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02536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各体位菌群共解释血浆代谢 30.1%;肠 18.4% &gt; 口腔 14.7% &gt; 皮肤 11.5% &gt; 鼻 5.9%。</a:t>
            </a:r>
          </a:p>
        </p:txBody>
      </p:sp>
      <p:sp>
        <p:nvSpPr>
          <p:cNvPr id="15" name="Oval 14"/>
          <p:cNvSpPr/>
          <p:nvPr/>
        </p:nvSpPr>
        <p:spPr>
          <a:xfrm>
            <a:off x="6647688" y="2766060"/>
            <a:ext cx="109728" cy="109728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674620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组成 ≠ 功能:口腔与肠道菌群组成迥异,却与代谢物关联相似。</a:t>
            </a:r>
          </a:p>
        </p:txBody>
      </p:sp>
      <p:sp>
        <p:nvSpPr>
          <p:cNvPr id="17" name="Oval 16"/>
          <p:cNvSpPr/>
          <p:nvPr/>
        </p:nvSpPr>
        <p:spPr>
          <a:xfrm>
            <a:off x="6647688" y="34381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46704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口腔–肠道轴:广泛的协同 / 增效互作;过半代谢物受多体位共同影响。</a:t>
            </a:r>
          </a:p>
        </p:txBody>
      </p:sp>
      <p:sp>
        <p:nvSpPr>
          <p:cNvPr id="19" name="Oval 18"/>
          <p:cNvSpPr/>
          <p:nvPr/>
        </p:nvSpPr>
        <p:spPr>
          <a:xfrm>
            <a:off x="6647688" y="41102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018787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中介:口腔→肠道→代谢物 的方向性中介(调控吲哚类、羧酸类等)。</a:t>
            </a:r>
          </a:p>
        </p:txBody>
      </p:sp>
      <p:sp>
        <p:nvSpPr>
          <p:cNvPr id="21" name="Oval 20"/>
          <p:cNvSpPr/>
          <p:nvPr/>
        </p:nvSpPr>
        <p:spPr>
          <a:xfrm>
            <a:off x="6647688" y="4782312"/>
            <a:ext cx="109728" cy="109728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690872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胰岛素抵抗(IR)人群该轴更活跃 → 把微生物协同与代谢失调联系起来。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50992"/>
            <a:ext cx="11247120" cy="676656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33288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我们的迁移 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论文「口腔→肠道→血浆代谢物」 ⇒ 本研究「唾液(口腔,近端)→尿液(系统,远端)」,同测微生物组+代谢组,沿用其方差解释 / 网络 / 中介框架。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思路（迁移自论文）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67127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论文研究 口腔→肠道→血浆代谢物 的跨体位微生物–代谢互作。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本队列迁移为 唾液(口腔,近端) → 尿液(系统,远端) 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微生物组(GTDB)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743200"/>
                <a:gridCol w="15087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物种→尿物种→尿代谢物 (中介)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47548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一致性 · dbRDA 方差解释 · Spearman 相关网络(|r|≥0.3,P&lt;0.05) · RandomForest 预测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Mantel · Procrustes · PERMANOVA · dbRDA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四种评价方法：特点与正确解读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4712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920240"/>
                <a:gridCol w="2194560"/>
                <a:gridCol w="53035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 / 方向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关键输出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解读要点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test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矩阵相关 · 对称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r&gt;0 且 P&lt;0.05 = 整体协同变异;r 绝对值天然偏小(勿套 Pearson 经验),功效低、易低估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Procrustes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构型叠合 · 对称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r, m², 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 Mantel 更稳、功效更高;可逐样本看残差(叠合图);依赖保留排序维度数 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PERMANOVA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方差分解 · Y~X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pseudo-F, R²,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R² = Y 被 X 解释的方差比例;对组内离散度(dispersion)敏感;R² 随预测变量数虚高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约束排序 · Y~X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 R², F, P, 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PERMANOVA 同一模型,另给可视化约束轴;支持偏分析控制协变量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247120" cy="128016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75504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关键  </a:t>
            </a: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四法 = 两类问题 × 各两种实现：</a:t>
            </a:r>
            <a:r>
              <a:rPr sz="125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对称一致性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[Mantel↔Procrustes]  vs  </a:t>
            </a:r>
            <a:r>
              <a:rPr sz="12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非对称方差解释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[PERMANOVA↔dbRDA]。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PERMANOVA 与 dbRDA 是同一模型(R²/F/P 必然基本一致),不算两份独立佐证;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若仅非对称法显著、对称法不显著 → 少数强相关特征驱动了可解释方差,但整体构型并不一致。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一图看全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结果速览：三类跨层关系的耦合强度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54480"/>
          <a:ext cx="507492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731520"/>
                <a:gridCol w="777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RF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微生物→微生物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0.016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0.089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1439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-0.065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微生物→代谢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-0.045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3278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-0.082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代谢→代谢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0.294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48144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8463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耦合强度排序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代谢组→代谢组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≫  </a:t>
            </a: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微生物→代谢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&gt;  </a:t>
            </a: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微生物→微生物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跨体液信号主要存在于 代谢层面，而非微生物组成层面。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唾液与尿液的代谢组高度耦合;微生物组跨体液耦合弱 → 两体液是相对独立的微生态。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物种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分析一：唾液微生物组 → 尿液微生物组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0.016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(P=0.380)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0.206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(P=0.190)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0.089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(P=0.320)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0.089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(P=0.320)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四法一致:对称的 Mantel/Procrustes 不显著、非对称的 PERMANOVA≈dbRDA(R²=0.089)亦不显著;仅 1439 对物种弱关联、RF R²&lt;0 → 口腔与泌尿道是独立生态系统。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代谢物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分析二：唾液微生物组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-0.045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(P=0.820)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0.156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(P=0.720)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(P=0.059)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(P=0.059)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对称法不显著、但 PERMANOVA≈dbRDA R²=0.104(P=0.059)→ 少数强相关特征驱动了可解释方差;显著对(3278)远多于物种→物种,印证“组成≠功能”。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最强的跨体液轴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分析三：唾液代谢组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0.294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0.353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四法全部显著(Mantel/Procrustes 一致 + PERMANOVA≈dbRDA R²=0.176);RF 可预测 53% 尿液代谢物 → 两体液共享系统循环代谢物。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mediation (校正年龄/性别/疾病组)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分析四：三层中介  唾液物种 → 尿液物种 → 尿液代谢物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中介链路设计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唾液物种
(暴露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尿液物种
(中介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尿液代谢物
(结局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扫描结果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候选中介三元组 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120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名义显著 (P&lt;0.05) 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FDR&lt;0.10  </a:t>
            </a: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中介效应最强的链路（前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554480"/>
                <a:gridCol w="109728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尿代谢物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ACME 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Bacteroides_D_sp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Bacteroides_un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P_(13E)-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0.127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Bacteroides_D_sp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Bacteroides_un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P_Moroxy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0.147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Bacteroides_D_sp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Alistipes_onde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P_Moroxy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0.180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Prevotella_illus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Nesterenkonia_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P_3-Amin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0.240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Bacteroides_D_sp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Bacteroides_un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N_Dehydr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0.267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Gemella_sp927911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Ralstonia_mann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P_Schini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0.353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经 FDR 校正后无显著中介(120 条候选,FDR&gt;0.10) → 唾液菌–尿液菌耦合弱，难成连贯中介链;跨体液信号集中于代谢层。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adonis2 · 单特征解释尿液端方差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逐特征 PERMANOVA：每个显著特征的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8" name="Picture 7" descr="perfeature_permanov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480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463040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91440" cy="13258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1" y="15727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唾液物种→尿液微生物组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19659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26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960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0.031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44368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944368"/>
            <a:ext cx="91440" cy="1325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1" y="305409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唾液物种→尿液代谢组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1" y="344728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49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960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0.028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425696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425696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45354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唾液代谢物→尿液代谢组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1" y="4928616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343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884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0.028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绝大多数显著特征单特征 R² 都很小(多 2–5%) → 跨体液信号由大量小贡献特征共同构成,而非少数主导者;代谢物层显著数更多、R² 更高。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对应 Zhang et al. Fig 2a · 联合 PERMANOVA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论文式累计方差解释 + 95% 置信区间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8" name="Picture 7" descr="permanova_cumulativ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27797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17320"/>
            <a:ext cx="41605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554480"/>
            <a:ext cx="3703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三步法(适配小样本)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① 逐特征 adonis2 海选显著(P&lt;0.05)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显著特征→前10主成分→一个联合 adonis2 求累计 R²(共享方差只计一次,有界)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③ 无放回再抽样得 95% CI(避免有放回 bootstrap 的零距离虚高)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03320"/>
            <a:ext cx="41605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3840480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与论文最直接可比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唾液菌群 → 尿液代谢组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累计 R² = </a:t>
            </a: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26.2%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95% CI </a:t>
            </a: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21.0% – 31.2%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P=0.001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≈ 论文 口腔 14.7% / 肠道 18.4% 同类指标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去共线后的真实联合解释度约 20–25%(P&lt;0.01,有界);而单变量 R² 朴素累加会溢出&gt;100%,只反映特征冗余、不可作总解释度。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面向动物实验验证的选靶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候选代谢物：健康/疾病有差异 且 两部位共享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8" name="Picture 7" descr="shared_dis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943600" cy="42454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5029200" cy="1170432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6304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筛选漏斗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两部位共享 522 → 两部位均 P&lt;0.05 且同向 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(健康 N=34  vs  疾病 P/PD/PC/PCD n=67;Wilcoxon + BH-FDR)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788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✅ 优先候选(内源性·可购·疾病中均↓)</a:t>
            </a:r>
          </a:p>
        </p:txBody>
      </p:sp>
      <p:sp>
        <p:nvSpPr>
          <p:cNvPr id="13" name="Oval 12"/>
          <p:cNvSpPr/>
          <p:nvPr/>
        </p:nvSpPr>
        <p:spPr>
          <a:xfrm>
            <a:off x="7013448" y="3273552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31821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Propionic acid 丙酸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短链脂肪酸·微生物来源·抗炎</a:t>
            </a:r>
          </a:p>
        </p:txBody>
      </p:sp>
      <p:sp>
        <p:nvSpPr>
          <p:cNvPr id="15" name="Oval 14"/>
          <p:cNvSpPr/>
          <p:nvPr/>
        </p:nvSpPr>
        <p:spPr>
          <a:xfrm>
            <a:off x="7013448" y="3703320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611879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2-Hydroxyphenylacetic acid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微生物芳香族代谢物</a:t>
            </a:r>
          </a:p>
        </p:txBody>
      </p:sp>
      <p:sp>
        <p:nvSpPr>
          <p:cNvPr id="17" name="Oval 16"/>
          <p:cNvSpPr/>
          <p:nvPr/>
        </p:nvSpPr>
        <p:spPr>
          <a:xfrm>
            <a:off x="7013448" y="4133087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4041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N-lauroylethanolamine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N-酰基乙醇胺类脂质介质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709160"/>
            <a:ext cx="502920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4791456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排除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Tri-isobutylphosphate = 工业增塑剂,非内源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待确证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个长 IUPAC 名结构需标准品 MS/MS 比对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三个优先候选在疾病组均↓ → 假说:疾病伴随保护性微生物/脂质代谢物耗竭 → 可直接设计“补充干预”动物实验验证。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按优先级从左到右排列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候选代谢物分布形态与判读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8" name="Picture 7" descr="shared_diseas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45998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1325880"/>
            <a:ext cx="3154680" cy="1737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41732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[OK] 优先(1–3)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746504"/>
            <a:ext cx="2734056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Propionic acid、N-lauroylethanol、2-Hydroxyphenyla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箱体紧凑、无零值堆积;健康→疾病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位移小但两体液同向稳定下降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→ 可信,优先选靶(丙酸居首)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20040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329184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[?] 待确证(4–8)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3621024"/>
            <a:ext cx="273405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零值伪影/膳食或表面活性剂污染嫌疑,须标准品+MS/MS: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(E)-1-(4-methylquinazolin-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2-(methyl(2H-pyrazolo[3,4-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N-(4-((6aR,8aS)-4-hydroxy-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N,N-Dimethyltetradecylamin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Harman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5458968"/>
            <a:ext cx="31546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5550407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[X] 排除(9)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5879592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Tri-isobutylphosph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分布干净、统计最强,但为工业增塑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剂等外源污染物 → 不作靶点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623560"/>
            <a:ext cx="82296" cy="566928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623560"/>
            <a:ext cx="77266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统计最强的两个恰恰最不该买 → 候选必须按“内源性/可购/已确证”分层,不能只按 p 值取前 N 个。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 / PD / PC / PCD 各自 vs 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疾病亚组特异性：候选是“肾病相关”而非牙周炎本身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pic>
        <p:nvPicPr>
          <p:cNvPr id="8" name="Picture 7" descr="candidate_subgroup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24716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71600"/>
            <a:ext cx="4023360" cy="19659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4630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★ 关键发现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三个优先候选的显著效应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全部只出现在 PC 与 PCD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——正是两个含【肾病】的组;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P(单纯牙周炎)、PD 均无。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74720"/>
            <a:ext cx="402336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6616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不是样本量假象 — 看效应量(丙酸 log2FC)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55279" y="3931920"/>
          <a:ext cx="371246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658368"/>
                <a:gridCol w="658368"/>
                <a:gridCol w="658368"/>
                <a:gridCol w="8229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-0.71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955279" y="51389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 组效应量≈0(非“测不出”);PD n=6 居中但把握度不足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82296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1064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直接含义:动物主模型应以【慢性肾病 CKD】为核心(腺嘌呤/5，6 肾切除),牙周炎作为叠加因素——与最初“以牙周炎为主”的设想相反。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无 eGFR → 改用有序梯度 + 牙周炎人群内 + 多变量校正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肾病梯度趋势与独立性：夯实“肾病相关”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8" name="Picture 7" descr="kidne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838121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71600"/>
            <a:ext cx="4251960" cy="137160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⚠️ 数据可得性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本队列无 eGFR/肌酐/BUN,仅有肾病 0/1 标记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→ 不做“假 eGFR 分级”,改用三项更严格检验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0360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935224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有序梯度趋势 (Jonckheere–Terpstra)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0 无肾病 → 1 肾病 → 2 糖尿病肾病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93591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648456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② 仅牙周炎人群内比较 (n=18 vs 49)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所有人都有牙周炎 → 排除牙周炎驱动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306824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361688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③ 多变量校正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~ 肾病+牙周炎+糖尿病+年龄+性别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074920"/>
            <a:ext cx="42519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5148072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丙酸唾液: </a:t>
            </a: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P=3e-09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ρ=-0.59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校正后独立: β=-1.00, P=0.0001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丙酸是唯一三项全部通过的候选;2-羟基苯乙酸唾液无趋势(JT P=0.11)、校正后 ns → 应降级。梯度分析同时夯实结论并在候选间做出判别。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跨体液 · 跨亚组 · 剂量方案 — 一页立项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丙酸 (Propionic acid)：首选靶点证据汇总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唾液+尿液均显著且同向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-0.59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肾病梯度 ρ (唾液,单调下降)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P=0.0001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校正牙周炎/糖尿病后仍独立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跨体液(共享)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−0.77, FDR 1.7e-05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−0.37, P 8.6e-03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两体液同向下降,属 522 个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共享代谢物之一 → 系统性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而非单一体液局部现象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跨亚组 · 肾病梯度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 log2FC ≈ </a:t>
            </a: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PC/PCD(含肾病) </a:t>
            </a: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−0.85/−0.71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单调趋势 P=3e-09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牙周炎人群内仍显著 P=7e-05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→ 效应源自肾病,非牙周炎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331720"/>
            <a:ext cx="3749039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剂量与验证方案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816352"/>
            <a:ext cx="3255263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丙酸钠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(或灌胃 1 g/kg/d)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模型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 CKD ± 结扎牙周炎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7d 预给药 → 14d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货源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Sigma P1880 丙酸钠 ≥99%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38928"/>
            <a:ext cx="11338560" cy="74980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109728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为什么是丙酸(而非另两个候选)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三项肾病检验(梯度趋势 / 牙周炎人群内 / 多变量校正)中,</a:t>
            </a:r>
            <a:r>
              <a:rPr sz="11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只有丙酸全部通过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;N-月桂酰乙醇胺尿液不稳,2-羟基苯乙酸唾液无趋势。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053328"/>
            <a:ext cx="82296" cy="5669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053328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立项一句话:丙酸在唾液与尿液同步耗竭、随肾病严重度单调下降、且独立于牙周炎与糖尿病 → 以 CKD 小鼠补充丙酸钠验证其保护作用。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补充干预 · 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小鼠验证实验设计（依亚组结果调整为 CKD 为核心）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11338560" cy="56692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第 0 步(买了先做这个)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当前注释为谱库匹配(~Level 2) → 标准品先做保留时间+二级谱确证,再进动物实验;标准品一物两用。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5486400" cy="36576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模型与分组(C57BL/6)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阶段一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腺嘌呤饮食 CKD ± 补充干预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阶段二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CKD + 结扎牙周炎(共病模型)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3401568"/>
          <a:ext cx="397764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651760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Sham + 溶剂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溶剂(疾病对照)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低剂量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高剂量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丙酸钠单独(毒性对照)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功效:micro-CT/肾功能主要终点,预期 d≈1.2–1.5 → n=10 达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011680"/>
            <a:ext cx="56692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03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给药与终点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87168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丙酸钠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自由饮水(或灌胃 1 g/kg/d)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2-羟基苯乙酸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灌胃 10–50 mg/kg/d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N-月桂酰乙醇胺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5–20 mg/kg/d,玉米油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 d 预给药 → 持续至第 14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79476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主要终点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肾功能(Scr/BUN/尿ACR)+ 肾组织 PAS/纤维化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次要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micro-CT 牙槽骨吸收;牙龈 IL-1β/IL-6/TNF-α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测鼠唾液/尿/血清该代谢物是否回补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机制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GPR43(FFAR2)/HDAC;Treg-Th17 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严谨性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随机化+盲评;笼效应;溶剂对照;IACUC 批件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607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76072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本小鼠实验的目的:人群数据只能证明“丙酸随肾病降低”是相关,故用 CKD 小鼠补充丙酸钠检验其是否为因果(补回能否改善肾损伤);若要进一步夯实因果,可再加【耗竭臂】(清除产丙酸菌)看表型是否加重。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主要发现与生物学解读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代谢组→代谢组：最强轴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群落级一致显著(Mantel 0.29, dbRDA R²=0.18)。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RF 稳健预测大量尿液代谢物。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反映两体液共享系统循环代谢物。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微生物→代谢：局部关联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显著对(3278)远多于物种–物种层。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口腔菌影响远端代谢 &gt; 影响远端菌群。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印证“组成不必然决定功能”。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微生物→微生物：最弱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整体群落几乎不一致(Mantel≈0)。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 vs 泌尿道 = 独立微生态系统。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仅个别物种弱关联。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④ 中介链：不显著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120 条候选,FDR 校正后均不显著。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菌群耦合弱 → 无连贯中介通路。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与论文紧密口腔–肠道轴形成对照。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唾液–尿液轴：微生物组弱耦合、代谢组强耦合 — 符合两体液经血液循环过滤连接(而非消化道连续)的生理学。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方法与参考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微生物组：物种水平;流行度+丰度联合过滤(≥5%样本&amp;RA&gt;0.01%);Bray-Curtis(一致性)、CLR(相关/RF)。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代谢组：正+负离子合并，log2(x+1);z-score 欧氏距离;相关/RF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一致性：Mantel(Spearman)+Procrustes/protest(999置换)。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方差解释：唾液端主坐标轴约束的 dbRDA(vegan::dbrda)。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相关网络：Spearman |r|≥0.3 且 P&lt;0.05(并报 BH-FDR);igraph/ggraph。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预测：RandomForest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中介：mediation::mediate，校正年龄/性别/疾病组，FDR 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参考与产出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报告：GTDB_noPD_cross_site_multiomics.html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脚本：crossomics_helpers.R / GTDB_cross_site_multiomics.Rmd（参数化 db=GTDB，drop_groups=PD）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结果表：crossomics/tables/*.csv  图：crossomics/figures/*.png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局限：横断面、相对丰度、PD 组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